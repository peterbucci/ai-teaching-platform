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70" r:id="rId10"/>
    <p:sldId id="272" r:id="rId11"/>
    <p:sldId id="265" r:id="rId12"/>
    <p:sldId id="266" r:id="rId13"/>
    <p:sldId id="267" r:id="rId14"/>
    <p:sldId id="268" r:id="rId15"/>
    <p:sldId id="269" r:id="rId16"/>
  </p:sldIdLst>
  <p:sldSz cx="12192000" cy="6858000"/>
  <p:notesSz cx="6858000" cy="12192000"/>
  <p:embeddedFontLst>
    <p:embeddedFont>
      <p:font typeface="DM Sans" pitchFamily="2" charset="0"/>
      <p:regular r:id="rId18"/>
      <p:bold r:id="rId19"/>
    </p:embeddedFont>
    <p:embeddedFont>
      <p:font typeface="Newsreader" panose="020B0604020202020204" charset="0"/>
      <p:regular r:id="rId20"/>
      <p:bold r:id="rId21"/>
      <p:italic r:id="rId22"/>
      <p:boldItalic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9" d="100"/>
          <a:sy n="159" d="100"/>
        </p:scale>
        <p:origin x="336" y="13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02729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 20 seconds] Good afternoon. We’re Team 3: Peter, Ashriya, Anya, Drashti, Haniya and Swikritee, students here at UMass Boston. Our project is Learning Pulse. Our tagline is “a little insight, a better next step.” Learning Pulse connects AI-assisted student learning with the evidence teachers need to make better instructional decisions.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[0:20–1:00 · 40 seconds] Picture Sam, a student in an intro networking course. In lecture, Sam knows the vocabulary and feels confident. At home, Sam quietly mixes up two ideas, transmission delay and propagation delay, without noticing. The confusion only shows up on the exam, and by then the professor sees just a wrong answer and a grade. That grade doesn’t say what Sam misunderstood, whether Sam got help, or whether half the class had the same problem. Students need help when confusion happens. Teachers need to see it before it becomes a grade. (Note, not spoken: Sam is an illustrative student, not a real user.)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[1:00–1:30 · 30 seconds] Good tools already exist. Directly, Khanmigo offers AI tutoring and teacher support, and Wayground and Kahoot offer practice with reporting. Indirectly, Canvas, Blackboard and Google Classroom run the course, and students can always ask a general chatbot. We’re not claiming these tools lack AI or analytics. Our focus is narrower: one course-specific loop, from a student’s reasoning, to evidence, to the teacher’s review, to an approved follow-up, and back to new work.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[1:30–1:55 · 25 seconds] Our primary users are university instructors who want to catch misunderstandings early. Students like Sam get guided help outside class, and departments and teaching centers could adopt it more broadly. We’re starting with concept-heavy intro courses, beginning with a networking lesson here at UMass Boston. For scale, about 16.2 million undergraduates enrolled in the U.S. last fall. That’s context, not a market claim.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[1:55–2:25 · 30 seconds] Here’s the whole idea on one slide. First, the teacher prepares a lesson. AI can propose material, but the teacher approves it. Second, the student works through it with an AI tutor, and the system records what the student actually wrote and what help they actually saw. Third, the teacher investigates that evidence and approves a targeted follow-up, which becomes new student work. Then the loop continues. Let’s follow Sam through each step.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[2:25–2:50 · 25 seconds] Step one is the teacher. An instructor brings in course material; for our demo, an openly licensed networking textbook section. Learning Pulse organizes it into source passages, and AI can propose objectives and questions. The teacher edits them and publishes a fixed lesson version. AI proposes; the teacher approves. And as you see on the right, every answer stays tied to that exact version and passage.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[2:50–3:30 · 40 seconds] Step two: Sam opens the assignment. If a cable becomes twice as long, what happens to transmission and propagation delay? Sam can answer or ask for help in the same box. The system tells a help request from an answer, and if it’s unclear, it asks before grading. Here, Sam asks for help. Instead of giving the answer away, the tutor separates the two ideas and points Sam back to the assigned reading. Learning Pulse records what Sam wrote and what help was actually shown. These screens are from our test environment.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[3:30–4:15 · 45 seconds] For the technical judges, here’s the agentic part in plain terms. When Sam sends a message, the AI doesn’t act on its own. It proposes an instructional action, like retrieving a passage or evaluating an answer. Our server checks that proposal: is this student allowed, is this the right lesson version, is the source approved? Only then does an authorized tool run. The result is recorded as evidence, and the tutor observes it to choose the next step. So it’s one tutor with a bounded set of tools, not a team of autonomous agents, with structured outputs and Zod schemas validating each step.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[4:15–4:55 · 40 seconds] Step three: the professor. Instead of one percentage, the class grid shows every student’s attempts on each idea, and flags answers given after help. Here, one fictional student has a long run of mixed attempts on transmission delay, the kind of pattern Sam would leave. Select a cell to read the student’s original words and the accepted evaluation. Uncertain evidence isn’t treated as wrong, and a possible misconception isn’t presented as fact. From any response, the professor can prepare a follow-up, and as these steps show, nothing reaches students until the professor approves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the video to start. It runs 3:27 with no sound, so narrate over it.] [0:00] Teachers can see that a student got an answer wrong. What they rarely see is why. A score doesn’t show the reasoning. A generic chatbot just hands over the answer and leaves no evidence behind. Teachers need AI that helps students think, stays inside their lesson, and keeps the teacher in control. [0:09] That’s what gave us the idea for Learning Pulse. The teacher builds a lesson from their own reading and approves it. An AI tutor proposes a teaching action, and the server checks that action before anything runs. And everything the student wrote, and every bit of help they were shown, goes back to the teacher as evidence. [0:17] Here’s the teacher’s workspace. The overview shows where students are struggling. Insights group possible reasoning concerns, with supporting and contrary evidence, so one wrong answer is never treated as a diagnosis. [0:33] To make a lesson, the teacher starts from their own reading and writes learning objectives tied to exact passages. The AI then drafts questions, and a second, independent AI pass reviews them. But the teacher reviews every question before anything is approved. [0:57] The teacher also reviews what the tutor is allowed to do. Then they publish an immutable lesson version and activate it for the class. [1:17] Now on the student’s side, students use one conversation box. They can ask for help or submit an answer. Help is never graded, and if the tutor can’t tell which one a student means, it asks first. These next scenes are real sessions from earlier today, using live model calls. [1:23] This is Alex. He’s working on how packet size and cable length affect delay. He asks for help, and the AI proposes an explanation. The server validates that action, and the help is recorded as assistance. Then Alex answers, and his answer contains a misconception: he thinks a longer cable increases transmission delay. [1:57] Because Alex’s answer showed a misconception, the AI generated a new diagnostic question, grounded in the teacher’s reading. Alex answers it correctly. Since he had already been shown help, the record marks that as help-assisted, not independent. [2:17] Here’s what the model actually decided. A help question led to an explanation. A wrong answer led to a new diagnostic question. A correct answer led to moving on. The AI proposes, and the application validates and executes. [2:28] Jordan answered the first question correctly on his own, and no extra help is needed. Different student, different decision. [2:40] Back to the teacher. The roster shows Alex’s path next to Jordan’s, with help shown and independent work marked separately. Opening Alex, the teacher sees his original answers, the evaluations, the help he was shown, and the uncertainty. [3:11] From this evidence, the teacher can prepare a follow-up activity. (The video shows the empty Draft with AI screen, so don’t say a draft was generated.) [3:17] A score tells a teacher what happened. It doesn’t tell them why. Learning Pulse helps close that gap. It shows how students are thinking, where they’re struggling, and what support they’ve received. Because the goal isn’t to replace teachers with AI. It’s to give teachers the insight they need to help every student learn.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[4:55–5:25 · 30 seconds] So what sets Learning Pulse apart? First, we capture reasoning, not just correctness: answers, help received and evaluations stay together. Second, learning stays grounded in instructor-approved material, and old work keeps its original source. Third, AI helps close the loop, but people decide: instructors approve every official action. These describe our focus, not claims that other tools can’t do any of this.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[5:25–6:05 · 40 seconds] Because this is an agentic AI project, responsibility matters. Every AI action passes server checks before it runs. Teachers approve interventions before students see them, and uncertain evidence is never scored as wrong. We’ve tested this with unit tests, signed-in browser workflows using fictional students, and database and recovery checks. But those are engineering checks. We haven’t measured learning outcomes, this isn’t a production deployment, and accessibility and device testing are still in progress. Our principle: AI supports instructional decisions; it doesn’t replace educator judgment.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[6:05–6:30 · 25 seconds] Near term, we want to prove this in real classrooms: finish cross-role testing, validate the tutor with real models, and pilot with instructors and students. Then we’ll broaden to more subjects and connect with Canvas. Long term, Learning Pulse could become a learning intelligence layer for a whole course. Licensing is a possible model, but it isn’t validated yet.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[6:30–6:45 · 15 seconds] So the next time Sam mixes up two ideas, the professor can see it and help before it becomes a grade. Learning Pulse turns student reasoning into better-informed teaching decisions. Thank you. We’d love to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slide for reference during Q&amp;A; not presented in the 7-minute talk.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2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26120"/>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1B2420"/>
                </a:solidFill>
                <a:latin typeface="Newsreader" pitchFamily="34" charset="0"/>
                <a:ea typeface="Newsreader" pitchFamily="34" charset="-122"/>
                <a:cs typeface="Newsreader"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777901"/>
            <a:ext cx="10566400" cy="4267299"/>
          </a:xfrm>
          <a:prstGeom prst="rect">
            <a:avLst/>
          </a:prstGeom>
          <a:noFill/>
          <a:ln/>
        </p:spPr>
        <p:txBody>
          <a:bodyPr wrap="square" lIns="0" tIns="0" rIns="0" bIns="0" rtlCol="0" anchor="t"/>
          <a:lstStyle>
            <a:lvl1pPr marL="0" indent="0" algn="l">
              <a:lnSpc>
                <a:spcPct val="140000"/>
              </a:lnSpc>
              <a:buNone/>
              <a:defRPr lang="en-US" sz="1600" dirty="0">
                <a:solidFill>
                  <a:srgbClr val="1B2420"/>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26120"/>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1B2420"/>
                </a:solidFill>
                <a:latin typeface="Newsreader" pitchFamily="34" charset="0"/>
                <a:ea typeface="Newsreader" pitchFamily="34" charset="-122"/>
                <a:cs typeface="Newsreader"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777901"/>
            <a:ext cx="10566400" cy="4267299"/>
          </a:xfrm>
          <a:prstGeom prst="rect">
            <a:avLst/>
          </a:prstGeom>
          <a:noFill/>
          <a:ln/>
        </p:spPr>
        <p:txBody>
          <a:bodyPr wrap="square" lIns="0" tIns="0" rIns="0" bIns="0" rtlCol="0" anchor="t"/>
          <a:lstStyle>
            <a:lvl1pPr marL="0" indent="0" algn="l">
              <a:lnSpc>
                <a:spcPct val="140000"/>
              </a:lnSpc>
              <a:buNone/>
              <a:defRPr lang="en-US" sz="1600" dirty="0">
                <a:solidFill>
                  <a:srgbClr val="1B2420"/>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 Id="rId9" Type="http://schemas.openxmlformats.org/officeDocument/2006/relationships/image" Target="../media/image7.jpe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3.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hyperlink" Target="https://github.com/SystemsApproach/book" TargetMode="External"/><Relationship Id="rId3" Type="http://schemas.openxmlformats.org/officeDocument/2006/relationships/hyperlink" Target="https://github.com/peterbucci/ai-teaching-platform" TargetMode="External"/><Relationship Id="rId7" Type="http://schemas.openxmlformats.org/officeDocument/2006/relationships/hyperlink" Target="https://help.wayground.com/support/solutions/articles/158000404058-reports-on-wayground"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hyperlink" Target="https://www.khanmigo.ai/" TargetMode="External"/><Relationship Id="rId5" Type="http://schemas.openxmlformats.org/officeDocument/2006/relationships/hyperlink" Target="https://www.instructure.com/canvas" TargetMode="External"/><Relationship Id="rId4" Type="http://schemas.openxmlformats.org/officeDocument/2006/relationships/hyperlink" Target="https://nscresearchcenter.org/final-fall-enrollment-trends/" TargetMode="External"/><Relationship Id="rId9" Type="http://schemas.openxmlformats.org/officeDocument/2006/relationships/hyperlink" Target="https://creativecommons.org/licenses/by/4.0/"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B31"/>
        </a:solidFill>
        <a:effectLst/>
      </p:bgPr>
    </p:bg>
    <p:spTree>
      <p:nvGrpSpPr>
        <p:cNvPr id="1" name=""/>
        <p:cNvGrpSpPr/>
        <p:nvPr/>
      </p:nvGrpSpPr>
      <p:grpSpPr>
        <a:xfrm>
          <a:off x="0" y="0"/>
          <a:ext cx="0" cy="0"/>
          <a:chOff x="0" y="0"/>
          <a:chExt cx="0" cy="0"/>
        </a:xfrm>
      </p:grpSpPr>
      <p:pic>
        <p:nvPicPr>
          <p:cNvPr id="2" name="Image 0" descr="Learning Pulse logo"/>
          <p:cNvPicPr>
            <a:picLocks noChangeAspect="1"/>
          </p:cNvPicPr>
          <p:nvPr/>
        </p:nvPicPr>
        <p:blipFill>
          <a:blip r:embed="rId3"/>
          <a:srcRect/>
          <a:stretch/>
        </p:blipFill>
        <p:spPr>
          <a:xfrm>
            <a:off x="812800" y="711200"/>
            <a:ext cx="406400" cy="406400"/>
          </a:xfrm>
          <a:prstGeom prst="rect">
            <a:avLst/>
          </a:prstGeom>
        </p:spPr>
      </p:pic>
      <p:sp>
        <p:nvSpPr>
          <p:cNvPr id="3" name="Text 0"/>
          <p:cNvSpPr/>
          <p:nvPr/>
        </p:nvSpPr>
        <p:spPr>
          <a:xfrm>
            <a:off x="1371600" y="807740"/>
            <a:ext cx="650343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ED8BF"/>
                </a:solidFill>
                <a:latin typeface="DM Sans" pitchFamily="34" charset="0"/>
                <a:ea typeface="DM Sans" pitchFamily="34" charset="-122"/>
                <a:cs typeface="DM Sans" pitchFamily="34" charset="-120"/>
              </a:rPr>
              <a:t>2026 PEAAII AI APPLICATIONS HACKATHON · UMASS BOSTON</a:t>
            </a:r>
            <a:endParaRPr lang="en-US" sz="1200" dirty="0"/>
          </a:p>
        </p:txBody>
      </p:sp>
      <p:sp>
        <p:nvSpPr>
          <p:cNvPr id="4" name="Text 1"/>
          <p:cNvSpPr>
            <a:spLocks noGrp="1"/>
          </p:cNvSpPr>
          <p:nvPr>
            <p:ph type="title"/>
          </p:nvPr>
        </p:nvSpPr>
        <p:spPr>
          <a:xfrm>
            <a:off x="812800" y="2160687"/>
            <a:ext cx="10883392" cy="958056"/>
          </a:xfrm>
          <a:prstGeom prst="rect">
            <a:avLst/>
          </a:prstGeom>
          <a:noFill/>
          <a:ln/>
        </p:spPr>
        <p:txBody>
          <a:bodyPr wrap="square" lIns="0" tIns="0" rIns="0" bIns="0" rtlCol="0" anchor="t">
            <a:normAutofit fontScale="90000"/>
          </a:bodyPr>
          <a:lstStyle/>
          <a:p>
            <a:pPr marL="0" indent="0" algn="l">
              <a:lnSpc>
                <a:spcPts val="7344"/>
              </a:lnSpc>
              <a:buNone/>
            </a:pPr>
            <a:r>
              <a:rPr lang="en-US" sz="7200" b="0" i="0" kern="0" spc="-100" dirty="0">
                <a:solidFill>
                  <a:srgbClr val="F5F2EA"/>
                </a:solidFill>
                <a:latin typeface="Newsreader" pitchFamily="18" charset="0"/>
                <a:ea typeface="Newsreader" pitchFamily="18" charset="-122"/>
                <a:cs typeface="Newsreader" pitchFamily="18" charset="-120"/>
              </a:rPr>
              <a:t>Learning Pulse</a:t>
            </a:r>
            <a:endParaRPr lang="en-US" sz="7200" dirty="0"/>
          </a:p>
        </p:txBody>
      </p:sp>
      <p:sp>
        <p:nvSpPr>
          <p:cNvPr id="5" name="Text 2"/>
          <p:cNvSpPr/>
          <p:nvPr/>
        </p:nvSpPr>
        <p:spPr>
          <a:xfrm>
            <a:off x="812800" y="3271143"/>
            <a:ext cx="10883392" cy="330200"/>
          </a:xfrm>
          <a:prstGeom prst="rect">
            <a:avLst/>
          </a:prstGeom>
          <a:noFill/>
          <a:ln/>
        </p:spPr>
        <p:txBody>
          <a:bodyPr wrap="square" lIns="0" tIns="0" rIns="0" bIns="0" rtlCol="0" anchor="t">
            <a:normAutofit/>
          </a:bodyPr>
          <a:lstStyle/>
          <a:p>
            <a:pPr marL="0" indent="0" algn="l">
              <a:lnSpc>
                <a:spcPts val="2400"/>
              </a:lnSpc>
              <a:buNone/>
            </a:pPr>
            <a:r>
              <a:rPr lang="en-US" sz="2000" i="1" dirty="0">
                <a:solidFill>
                  <a:srgbClr val="9ED8BF"/>
                </a:solidFill>
                <a:latin typeface="Newsreader" pitchFamily="18" charset="0"/>
                <a:ea typeface="Newsreader" pitchFamily="18" charset="-122"/>
                <a:cs typeface="Newsreader" pitchFamily="18" charset="-120"/>
              </a:rPr>
              <a:t>A little insight. A better next step.</a:t>
            </a:r>
            <a:endParaRPr lang="en-US" sz="2000" dirty="0"/>
          </a:p>
        </p:txBody>
      </p:sp>
      <p:sp>
        <p:nvSpPr>
          <p:cNvPr id="6" name="Text 3"/>
          <p:cNvSpPr/>
          <p:nvPr/>
        </p:nvSpPr>
        <p:spPr>
          <a:xfrm>
            <a:off x="812800" y="3753743"/>
            <a:ext cx="7063740"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BCD3C9"/>
                </a:solidFill>
                <a:latin typeface="DM Sans" pitchFamily="34" charset="0"/>
                <a:ea typeface="DM Sans" pitchFamily="34" charset="-122"/>
                <a:cs typeface="DM Sans" pitchFamily="34" charset="-120"/>
              </a:rPr>
              <a:t>Connecting AI-assisted student learning with the evidence teachers need to make better instructional decisions.</a:t>
            </a:r>
            <a:endParaRPr lang="en-US" sz="1500" dirty="0"/>
          </a:p>
        </p:txBody>
      </p:sp>
      <p:sp>
        <p:nvSpPr>
          <p:cNvPr id="7" name="Text 4"/>
          <p:cNvSpPr/>
          <p:nvPr/>
        </p:nvSpPr>
        <p:spPr>
          <a:xfrm>
            <a:off x="812800" y="5349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ED8BF"/>
                </a:solidFill>
                <a:latin typeface="DM Sans" pitchFamily="34" charset="0"/>
                <a:ea typeface="DM Sans" pitchFamily="34" charset="-122"/>
                <a:cs typeface="DM Sans" pitchFamily="34" charset="-120"/>
              </a:rPr>
              <a:t>TEAM 3</a:t>
            </a:r>
            <a:endParaRPr lang="en-US" sz="1200" dirty="0"/>
          </a:p>
        </p:txBody>
      </p:sp>
      <p:pic>
        <p:nvPicPr>
          <p:cNvPr id="8" name="Image 1" descr="Peter Bucci"/>
          <p:cNvPicPr>
            <a:picLocks noChangeAspect="1"/>
          </p:cNvPicPr>
          <p:nvPr/>
        </p:nvPicPr>
        <p:blipFill>
          <a:blip r:embed="rId4"/>
          <a:srcRect/>
          <a:stretch/>
        </p:blipFill>
        <p:spPr>
          <a:xfrm>
            <a:off x="812800" y="5689600"/>
            <a:ext cx="508000" cy="508000"/>
          </a:xfrm>
          <a:prstGeom prst="ellipse">
            <a:avLst/>
          </a:prstGeom>
        </p:spPr>
      </p:pic>
      <p:sp>
        <p:nvSpPr>
          <p:cNvPr id="9" name="Text 5"/>
          <p:cNvSpPr/>
          <p:nvPr/>
        </p:nvSpPr>
        <p:spPr>
          <a:xfrm>
            <a:off x="1422400" y="5745559"/>
            <a:ext cx="458788"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chemeClr val="bg1"/>
                </a:solidFill>
                <a:latin typeface="DM Sans" pitchFamily="34" charset="0"/>
                <a:ea typeface="DM Sans" pitchFamily="34" charset="-122"/>
                <a:cs typeface="DM Sans" pitchFamily="34" charset="-120"/>
              </a:rPr>
              <a:t>Peter</a:t>
            </a:r>
            <a:endParaRPr lang="en-US" sz="1200" dirty="0">
              <a:solidFill>
                <a:schemeClr val="bg1"/>
              </a:solidFill>
            </a:endParaRPr>
          </a:p>
          <a:p>
            <a:pPr marL="0" indent="0" algn="l">
              <a:lnSpc>
                <a:spcPts val="1560"/>
              </a:lnSpc>
              <a:buNone/>
            </a:pPr>
            <a:r>
              <a:rPr lang="en-US" sz="1200" b="1" dirty="0">
                <a:solidFill>
                  <a:schemeClr val="bg1"/>
                </a:solidFill>
                <a:latin typeface="DM Sans" pitchFamily="34" charset="0"/>
                <a:ea typeface="DM Sans" pitchFamily="34" charset="-122"/>
                <a:cs typeface="DM Sans" pitchFamily="34" charset="-120"/>
              </a:rPr>
              <a:t>Bucci</a:t>
            </a:r>
            <a:endParaRPr lang="en-US" sz="1200" dirty="0">
              <a:solidFill>
                <a:schemeClr val="bg1"/>
              </a:solidFill>
            </a:endParaRPr>
          </a:p>
        </p:txBody>
      </p:sp>
      <p:pic>
        <p:nvPicPr>
          <p:cNvPr id="10" name="Image 2" descr="Ashriya Tuladhar"/>
          <p:cNvPicPr>
            <a:picLocks noChangeAspect="1"/>
          </p:cNvPicPr>
          <p:nvPr/>
        </p:nvPicPr>
        <p:blipFill>
          <a:blip r:embed="rId5"/>
          <a:srcRect/>
          <a:stretch/>
        </p:blipFill>
        <p:spPr>
          <a:xfrm>
            <a:off x="2599234" y="5689600"/>
            <a:ext cx="508000" cy="508000"/>
          </a:xfrm>
          <a:prstGeom prst="ellipse">
            <a:avLst/>
          </a:prstGeom>
        </p:spPr>
      </p:pic>
      <p:sp>
        <p:nvSpPr>
          <p:cNvPr id="11" name="Text 6"/>
          <p:cNvSpPr/>
          <p:nvPr/>
        </p:nvSpPr>
        <p:spPr>
          <a:xfrm>
            <a:off x="3208834" y="5745559"/>
            <a:ext cx="686197"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5F2EA"/>
                </a:solidFill>
                <a:latin typeface="DM Sans" pitchFamily="34" charset="0"/>
                <a:ea typeface="DM Sans" pitchFamily="34" charset="-122"/>
                <a:cs typeface="DM Sans" pitchFamily="34" charset="-120"/>
              </a:rPr>
              <a:t>Ashriya</a:t>
            </a:r>
            <a:endParaRPr lang="en-US" sz="1200" dirty="0"/>
          </a:p>
          <a:p>
            <a:pPr marL="0" indent="0" algn="l">
              <a:lnSpc>
                <a:spcPts val="1560"/>
              </a:lnSpc>
              <a:buNone/>
            </a:pPr>
            <a:r>
              <a:rPr lang="en-US" sz="1200" b="1" dirty="0">
                <a:solidFill>
                  <a:schemeClr val="bg1"/>
                </a:solidFill>
                <a:latin typeface="DM Sans" pitchFamily="34" charset="0"/>
                <a:ea typeface="DM Sans" pitchFamily="34" charset="-122"/>
                <a:cs typeface="DM Sans" pitchFamily="34" charset="-120"/>
              </a:rPr>
              <a:t>Tuladhar</a:t>
            </a:r>
            <a:endParaRPr lang="en-US" sz="1200" dirty="0">
              <a:solidFill>
                <a:schemeClr val="bg1"/>
              </a:solidFill>
            </a:endParaRPr>
          </a:p>
        </p:txBody>
      </p:sp>
      <p:pic>
        <p:nvPicPr>
          <p:cNvPr id="12" name="Image 3" descr="Anya Tongprasith"/>
          <p:cNvPicPr>
            <a:picLocks noChangeAspect="1"/>
          </p:cNvPicPr>
          <p:nvPr/>
        </p:nvPicPr>
        <p:blipFill>
          <a:blip r:embed="rId6"/>
          <a:srcRect/>
          <a:stretch/>
        </p:blipFill>
        <p:spPr>
          <a:xfrm>
            <a:off x="4385766" y="5689600"/>
            <a:ext cx="508000" cy="508000"/>
          </a:xfrm>
          <a:prstGeom prst="ellipse">
            <a:avLst/>
          </a:prstGeom>
        </p:spPr>
      </p:pic>
      <p:sp>
        <p:nvSpPr>
          <p:cNvPr id="13" name="Text 7"/>
          <p:cNvSpPr/>
          <p:nvPr/>
        </p:nvSpPr>
        <p:spPr>
          <a:xfrm>
            <a:off x="4995366" y="5745559"/>
            <a:ext cx="917873"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5F2EA"/>
                </a:solidFill>
                <a:latin typeface="DM Sans" pitchFamily="34" charset="0"/>
                <a:ea typeface="DM Sans" pitchFamily="34" charset="-122"/>
                <a:cs typeface="DM Sans" pitchFamily="34" charset="-120"/>
              </a:rPr>
              <a:t>Anya</a:t>
            </a:r>
            <a:endParaRPr lang="en-US" sz="1200" dirty="0"/>
          </a:p>
          <a:p>
            <a:pPr marL="0" indent="0" algn="l">
              <a:lnSpc>
                <a:spcPts val="1560"/>
              </a:lnSpc>
              <a:buNone/>
            </a:pPr>
            <a:r>
              <a:rPr lang="en-US" sz="1200" b="1" dirty="0">
                <a:solidFill>
                  <a:schemeClr val="bg1"/>
                </a:solidFill>
                <a:latin typeface="DM Sans" pitchFamily="34" charset="0"/>
                <a:ea typeface="DM Sans" pitchFamily="34" charset="-122"/>
                <a:cs typeface="DM Sans" pitchFamily="34" charset="-120"/>
              </a:rPr>
              <a:t>Tongprasith</a:t>
            </a:r>
            <a:endParaRPr lang="en-US" sz="1200" dirty="0">
              <a:solidFill>
                <a:schemeClr val="bg1"/>
              </a:solidFill>
            </a:endParaRPr>
          </a:p>
        </p:txBody>
      </p:sp>
      <p:pic>
        <p:nvPicPr>
          <p:cNvPr id="14" name="Image 4" descr="Drashti Patel"/>
          <p:cNvPicPr>
            <a:picLocks noChangeAspect="1"/>
          </p:cNvPicPr>
          <p:nvPr/>
        </p:nvPicPr>
        <p:blipFill>
          <a:blip r:embed="rId7"/>
          <a:srcRect/>
          <a:stretch/>
        </p:blipFill>
        <p:spPr>
          <a:xfrm>
            <a:off x="6172200" y="5689600"/>
            <a:ext cx="508000" cy="508000"/>
          </a:xfrm>
          <a:prstGeom prst="ellipse">
            <a:avLst/>
          </a:prstGeom>
        </p:spPr>
      </p:pic>
      <p:sp>
        <p:nvSpPr>
          <p:cNvPr id="15" name="Text 8"/>
          <p:cNvSpPr/>
          <p:nvPr/>
        </p:nvSpPr>
        <p:spPr>
          <a:xfrm>
            <a:off x="6781800" y="5745559"/>
            <a:ext cx="579239"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5F2EA"/>
                </a:solidFill>
                <a:latin typeface="DM Sans" pitchFamily="34" charset="0"/>
                <a:ea typeface="DM Sans" pitchFamily="34" charset="-122"/>
                <a:cs typeface="DM Sans" pitchFamily="34" charset="-120"/>
              </a:rPr>
              <a:t>Drashti</a:t>
            </a:r>
            <a:endParaRPr lang="en-US" sz="1200" dirty="0"/>
          </a:p>
          <a:p>
            <a:pPr marL="0" indent="0" algn="l">
              <a:lnSpc>
                <a:spcPts val="1560"/>
              </a:lnSpc>
              <a:buNone/>
            </a:pPr>
            <a:r>
              <a:rPr lang="en-US" sz="1200" b="1" dirty="0">
                <a:solidFill>
                  <a:schemeClr val="bg1"/>
                </a:solidFill>
                <a:latin typeface="DM Sans" pitchFamily="34" charset="0"/>
                <a:ea typeface="DM Sans" pitchFamily="34" charset="-122"/>
                <a:cs typeface="DM Sans" pitchFamily="34" charset="-120"/>
              </a:rPr>
              <a:t>Patel</a:t>
            </a:r>
            <a:endParaRPr lang="en-US" sz="1200" dirty="0">
              <a:solidFill>
                <a:schemeClr val="bg1"/>
              </a:solidFill>
            </a:endParaRPr>
          </a:p>
        </p:txBody>
      </p:sp>
      <p:pic>
        <p:nvPicPr>
          <p:cNvPr id="16" name="Image 5" descr="Haniya Adil"/>
          <p:cNvPicPr>
            <a:picLocks noChangeAspect="1"/>
          </p:cNvPicPr>
          <p:nvPr/>
        </p:nvPicPr>
        <p:blipFill>
          <a:blip r:embed="rId8"/>
          <a:srcRect/>
          <a:stretch/>
        </p:blipFill>
        <p:spPr>
          <a:xfrm>
            <a:off x="7958733" y="5689600"/>
            <a:ext cx="508000" cy="508000"/>
          </a:xfrm>
          <a:prstGeom prst="ellipse">
            <a:avLst/>
          </a:prstGeom>
        </p:spPr>
      </p:pic>
      <p:sp>
        <p:nvSpPr>
          <p:cNvPr id="17" name="Text 9"/>
          <p:cNvSpPr/>
          <p:nvPr/>
        </p:nvSpPr>
        <p:spPr>
          <a:xfrm>
            <a:off x="8568333" y="5745559"/>
            <a:ext cx="547390"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chemeClr val="bg1"/>
                </a:solidFill>
                <a:latin typeface="DM Sans" pitchFamily="34" charset="0"/>
                <a:ea typeface="DM Sans" pitchFamily="34" charset="-122"/>
                <a:cs typeface="DM Sans" pitchFamily="34" charset="-120"/>
              </a:rPr>
              <a:t>Haniya</a:t>
            </a:r>
            <a:endParaRPr lang="en-US" sz="1200" dirty="0">
              <a:solidFill>
                <a:schemeClr val="bg1"/>
              </a:solidFill>
            </a:endParaRPr>
          </a:p>
          <a:p>
            <a:pPr marL="0" indent="0" algn="l">
              <a:lnSpc>
                <a:spcPts val="1560"/>
              </a:lnSpc>
              <a:buNone/>
            </a:pPr>
            <a:r>
              <a:rPr lang="en-US" sz="1200" b="1" dirty="0">
                <a:solidFill>
                  <a:schemeClr val="bg1"/>
                </a:solidFill>
                <a:latin typeface="DM Sans" pitchFamily="34" charset="0"/>
                <a:ea typeface="DM Sans" pitchFamily="34" charset="-122"/>
                <a:cs typeface="DM Sans" pitchFamily="34" charset="-120"/>
              </a:rPr>
              <a:t>Adil</a:t>
            </a:r>
            <a:endParaRPr lang="en-US" sz="1200" dirty="0">
              <a:solidFill>
                <a:schemeClr val="bg1"/>
              </a:solidFill>
            </a:endParaRPr>
          </a:p>
        </p:txBody>
      </p:sp>
      <p:pic>
        <p:nvPicPr>
          <p:cNvPr id="18" name="Image 6" descr="Swikritee Chuke"/>
          <p:cNvPicPr>
            <a:picLocks noChangeAspect="1"/>
          </p:cNvPicPr>
          <p:nvPr/>
        </p:nvPicPr>
        <p:blipFill>
          <a:blip r:embed="rId9"/>
          <a:srcRect/>
          <a:stretch/>
        </p:blipFill>
        <p:spPr>
          <a:xfrm>
            <a:off x="9745166" y="5689600"/>
            <a:ext cx="508000" cy="508000"/>
          </a:xfrm>
          <a:prstGeom prst="ellipse">
            <a:avLst/>
          </a:prstGeom>
        </p:spPr>
      </p:pic>
      <p:sp>
        <p:nvSpPr>
          <p:cNvPr id="19" name="Text 10"/>
          <p:cNvSpPr/>
          <p:nvPr/>
        </p:nvSpPr>
        <p:spPr>
          <a:xfrm>
            <a:off x="10354766" y="5745559"/>
            <a:ext cx="728365"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chemeClr val="bg1"/>
                </a:solidFill>
                <a:latin typeface="DM Sans" pitchFamily="34" charset="0"/>
                <a:ea typeface="DM Sans" pitchFamily="34" charset="-122"/>
                <a:cs typeface="DM Sans" pitchFamily="34" charset="-120"/>
              </a:rPr>
              <a:t>Swikritee</a:t>
            </a:r>
            <a:endParaRPr lang="en-US" sz="1200" dirty="0">
              <a:solidFill>
                <a:schemeClr val="bg1"/>
              </a:solidFill>
            </a:endParaRPr>
          </a:p>
          <a:p>
            <a:pPr marL="0" indent="0" algn="l">
              <a:lnSpc>
                <a:spcPts val="1560"/>
              </a:lnSpc>
              <a:buNone/>
            </a:pPr>
            <a:r>
              <a:rPr lang="en-US" sz="1200" b="1" dirty="0">
                <a:solidFill>
                  <a:schemeClr val="bg1"/>
                </a:solidFill>
                <a:latin typeface="DM Sans" pitchFamily="34" charset="0"/>
                <a:ea typeface="DM Sans" pitchFamily="34" charset="-122"/>
                <a:cs typeface="DM Sans" pitchFamily="34" charset="-120"/>
              </a:rPr>
              <a:t>Chuke</a:t>
            </a:r>
            <a:endParaRPr lang="en-US" sz="12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3705C"/>
                </a:solidFill>
                <a:latin typeface="DM Sans" pitchFamily="34" charset="0"/>
                <a:ea typeface="DM Sans" pitchFamily="34" charset="-122"/>
                <a:cs typeface="DM Sans" pitchFamily="34" charset="-120"/>
              </a:rPr>
              <a:t>THE PROBLEM</a:t>
            </a:r>
            <a:endParaRPr lang="en-US" sz="1200" dirty="0"/>
          </a:p>
        </p:txBody>
      </p:sp>
      <p:sp>
        <p:nvSpPr>
          <p:cNvPr id="3" name="Text 1"/>
          <p:cNvSpPr>
            <a:spLocks noGrp="1"/>
          </p:cNvSpPr>
          <p:nvPr>
            <p:ph type="title"/>
          </p:nvPr>
        </p:nvSpPr>
        <p:spPr>
          <a:xfrm>
            <a:off x="812800" y="10261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0" i="0" kern="0" spc="-25" dirty="0">
                <a:solidFill>
                  <a:srgbClr val="1B2420"/>
                </a:solidFill>
                <a:latin typeface="Newsreader" pitchFamily="18" charset="0"/>
                <a:ea typeface="Newsreader" pitchFamily="18" charset="-122"/>
                <a:cs typeface="Newsreader" pitchFamily="18" charset="-120"/>
              </a:rPr>
              <a:t>Sam’s confusion stays hidden until the exam</a:t>
            </a:r>
            <a:endParaRPr lang="en-US" sz="3200" dirty="0"/>
          </a:p>
        </p:txBody>
      </p:sp>
      <p:sp>
        <p:nvSpPr>
          <p:cNvPr id="4" name="Shape 2"/>
          <p:cNvSpPr/>
          <p:nvPr/>
        </p:nvSpPr>
        <p:spPr>
          <a:xfrm>
            <a:off x="812800" y="2166640"/>
            <a:ext cx="3166467" cy="2321520"/>
          </a:xfrm>
          <a:prstGeom prst="roundRect">
            <a:avLst>
              <a:gd name="adj" fmla="val 6565"/>
            </a:avLst>
          </a:prstGeom>
          <a:solidFill>
            <a:srgbClr val="FCFBF7"/>
          </a:solidFill>
          <a:ln/>
        </p:spPr>
        <p:txBody>
          <a:bodyPr/>
          <a:lstStyle/>
          <a:p>
            <a:endParaRPr lang="en-US"/>
          </a:p>
        </p:txBody>
      </p:sp>
      <p:sp>
        <p:nvSpPr>
          <p:cNvPr id="5" name="Text 3"/>
          <p:cNvSpPr/>
          <p:nvPr/>
        </p:nvSpPr>
        <p:spPr>
          <a:xfrm>
            <a:off x="1092200" y="2446040"/>
            <a:ext cx="2685897"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3705C"/>
                </a:solidFill>
                <a:latin typeface="DM Sans" pitchFamily="34" charset="0"/>
                <a:ea typeface="DM Sans" pitchFamily="34" charset="-122"/>
                <a:cs typeface="DM Sans" pitchFamily="34" charset="-120"/>
              </a:rPr>
              <a:t>IN LECTURE</a:t>
            </a:r>
            <a:endParaRPr lang="en-US" sz="1200" dirty="0"/>
          </a:p>
        </p:txBody>
      </p:sp>
      <p:sp>
        <p:nvSpPr>
          <p:cNvPr id="6" name="Text 4"/>
          <p:cNvSpPr/>
          <p:nvPr/>
        </p:nvSpPr>
        <p:spPr>
          <a:xfrm>
            <a:off x="1092200" y="2748260"/>
            <a:ext cx="2685897" cy="3302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1B2420"/>
                </a:solidFill>
                <a:latin typeface="Newsreader" pitchFamily="18" charset="0"/>
                <a:ea typeface="Newsreader" pitchFamily="18" charset="-122"/>
                <a:cs typeface="Newsreader" pitchFamily="18" charset="-120"/>
              </a:rPr>
              <a:t>Knows the vocabulary</a:t>
            </a:r>
            <a:endParaRPr lang="en-US" sz="2000" dirty="0"/>
          </a:p>
        </p:txBody>
      </p:sp>
      <p:sp>
        <p:nvSpPr>
          <p:cNvPr id="7" name="Text 5"/>
          <p:cNvSpPr/>
          <p:nvPr/>
        </p:nvSpPr>
        <p:spPr>
          <a:xfrm>
            <a:off x="1092200" y="3141960"/>
            <a:ext cx="2685897"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B5853"/>
                </a:solidFill>
                <a:latin typeface="DM Sans" pitchFamily="34" charset="0"/>
                <a:ea typeface="DM Sans" pitchFamily="34" charset="-122"/>
                <a:cs typeface="DM Sans" pitchFamily="34" charset="-120"/>
              </a:rPr>
              <a:t>Sam follows along and feels confident.</a:t>
            </a:r>
            <a:endParaRPr lang="en-US" sz="1500" dirty="0"/>
          </a:p>
        </p:txBody>
      </p:sp>
      <p:pic>
        <p:nvPicPr>
          <p:cNvPr id="8" name="Image 0" descr="arrow-right"/>
          <p:cNvPicPr>
            <a:picLocks noChangeAspect="1"/>
          </p:cNvPicPr>
          <p:nvPr/>
        </p:nvPicPr>
        <p:blipFill>
          <a:blip r:embed="rId3"/>
          <a:srcRect/>
          <a:stretch/>
        </p:blipFill>
        <p:spPr>
          <a:xfrm>
            <a:off x="4106267" y="3257550"/>
            <a:ext cx="279400" cy="139700"/>
          </a:xfrm>
          <a:prstGeom prst="rect">
            <a:avLst/>
          </a:prstGeom>
        </p:spPr>
      </p:pic>
      <p:sp>
        <p:nvSpPr>
          <p:cNvPr id="9" name="Shape 6"/>
          <p:cNvSpPr/>
          <p:nvPr/>
        </p:nvSpPr>
        <p:spPr>
          <a:xfrm>
            <a:off x="4512667" y="2166640"/>
            <a:ext cx="3166566" cy="2321520"/>
          </a:xfrm>
          <a:prstGeom prst="roundRect">
            <a:avLst>
              <a:gd name="adj" fmla="val 6565"/>
            </a:avLst>
          </a:prstGeom>
          <a:solidFill>
            <a:srgbClr val="FCFBF7"/>
          </a:solidFill>
          <a:ln/>
        </p:spPr>
        <p:txBody>
          <a:bodyPr/>
          <a:lstStyle/>
          <a:p>
            <a:endParaRPr lang="en-US"/>
          </a:p>
        </p:txBody>
      </p:sp>
      <p:sp>
        <p:nvSpPr>
          <p:cNvPr id="10" name="Text 7"/>
          <p:cNvSpPr/>
          <p:nvPr/>
        </p:nvSpPr>
        <p:spPr>
          <a:xfrm>
            <a:off x="4792067" y="2446040"/>
            <a:ext cx="2685999"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3705C"/>
                </a:solidFill>
                <a:latin typeface="DM Sans" pitchFamily="34" charset="0"/>
                <a:ea typeface="DM Sans" pitchFamily="34" charset="-122"/>
                <a:cs typeface="DM Sans" pitchFamily="34" charset="-120"/>
              </a:rPr>
              <a:t>AT HOME</a:t>
            </a:r>
            <a:endParaRPr lang="en-US" sz="1200" dirty="0"/>
          </a:p>
        </p:txBody>
      </p:sp>
      <p:sp>
        <p:nvSpPr>
          <p:cNvPr id="11" name="Text 8"/>
          <p:cNvSpPr/>
          <p:nvPr/>
        </p:nvSpPr>
        <p:spPr>
          <a:xfrm>
            <a:off x="4792067" y="2748260"/>
            <a:ext cx="2685999" cy="3302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1B2420"/>
                </a:solidFill>
                <a:latin typeface="Newsreader" pitchFamily="18" charset="0"/>
                <a:ea typeface="Newsreader" pitchFamily="18" charset="-122"/>
                <a:cs typeface="Newsreader" pitchFamily="18" charset="-120"/>
              </a:rPr>
              <a:t>Mixes up two ideas</a:t>
            </a:r>
            <a:endParaRPr lang="en-US" sz="2000" dirty="0"/>
          </a:p>
        </p:txBody>
      </p:sp>
      <p:sp>
        <p:nvSpPr>
          <p:cNvPr id="12" name="Text 9"/>
          <p:cNvSpPr/>
          <p:nvPr/>
        </p:nvSpPr>
        <p:spPr>
          <a:xfrm>
            <a:off x="4792067" y="3141960"/>
            <a:ext cx="2685999" cy="10922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B5853"/>
                </a:solidFill>
                <a:latin typeface="DM Sans" pitchFamily="34" charset="0"/>
                <a:ea typeface="DM Sans" pitchFamily="34" charset="-122"/>
                <a:cs typeface="DM Sans" pitchFamily="34" charset="-120"/>
              </a:rPr>
              <a:t>Transmission delay and propagation delay blur together, and Sam doesn’t notice.</a:t>
            </a:r>
            <a:endParaRPr lang="en-US" sz="1500" dirty="0"/>
          </a:p>
        </p:txBody>
      </p:sp>
      <p:pic>
        <p:nvPicPr>
          <p:cNvPr id="13" name="Image 1" descr="arrow-right"/>
          <p:cNvPicPr>
            <a:picLocks noChangeAspect="1"/>
          </p:cNvPicPr>
          <p:nvPr/>
        </p:nvPicPr>
        <p:blipFill>
          <a:blip r:embed="rId3"/>
          <a:srcRect/>
          <a:stretch/>
        </p:blipFill>
        <p:spPr>
          <a:xfrm>
            <a:off x="7806234" y="3257550"/>
            <a:ext cx="279400" cy="139700"/>
          </a:xfrm>
          <a:prstGeom prst="rect">
            <a:avLst/>
          </a:prstGeom>
        </p:spPr>
      </p:pic>
      <p:sp>
        <p:nvSpPr>
          <p:cNvPr id="14" name="Shape 10"/>
          <p:cNvSpPr/>
          <p:nvPr/>
        </p:nvSpPr>
        <p:spPr>
          <a:xfrm>
            <a:off x="8212634" y="2166640"/>
            <a:ext cx="3166566" cy="2321520"/>
          </a:xfrm>
          <a:prstGeom prst="roundRect">
            <a:avLst>
              <a:gd name="adj" fmla="val 6565"/>
            </a:avLst>
          </a:prstGeom>
          <a:solidFill>
            <a:srgbClr val="F3E3C3"/>
          </a:solidFill>
          <a:ln/>
        </p:spPr>
        <p:txBody>
          <a:bodyPr/>
          <a:lstStyle/>
          <a:p>
            <a:endParaRPr lang="en-US"/>
          </a:p>
        </p:txBody>
      </p:sp>
      <p:sp>
        <p:nvSpPr>
          <p:cNvPr id="15" name="Text 11"/>
          <p:cNvSpPr/>
          <p:nvPr/>
        </p:nvSpPr>
        <p:spPr>
          <a:xfrm>
            <a:off x="8492034" y="2446040"/>
            <a:ext cx="2685999"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A5A0B"/>
                </a:solidFill>
                <a:latin typeface="DM Sans" pitchFamily="34" charset="0"/>
                <a:ea typeface="DM Sans" pitchFamily="34" charset="-122"/>
                <a:cs typeface="DM Sans" pitchFamily="34" charset="-120"/>
              </a:rPr>
              <a:t>ON THE EXAM</a:t>
            </a:r>
            <a:endParaRPr lang="en-US" sz="1200" dirty="0"/>
          </a:p>
        </p:txBody>
      </p:sp>
      <p:sp>
        <p:nvSpPr>
          <p:cNvPr id="16" name="Text 12"/>
          <p:cNvSpPr/>
          <p:nvPr/>
        </p:nvSpPr>
        <p:spPr>
          <a:xfrm>
            <a:off x="8492034" y="2748260"/>
            <a:ext cx="2685999" cy="3302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1B2420"/>
                </a:solidFill>
                <a:latin typeface="Newsreader" pitchFamily="18" charset="0"/>
                <a:ea typeface="Newsreader" pitchFamily="18" charset="-122"/>
                <a:cs typeface="Newsreader" pitchFamily="18" charset="-120"/>
              </a:rPr>
              <a:t>Too late to help</a:t>
            </a:r>
            <a:endParaRPr lang="en-US" sz="2000" dirty="0"/>
          </a:p>
        </p:txBody>
      </p:sp>
      <p:sp>
        <p:nvSpPr>
          <p:cNvPr id="17" name="Text 13"/>
          <p:cNvSpPr/>
          <p:nvPr/>
        </p:nvSpPr>
        <p:spPr>
          <a:xfrm>
            <a:off x="8492034" y="3141960"/>
            <a:ext cx="2685999"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B5853"/>
                </a:solidFill>
                <a:latin typeface="DM Sans" pitchFamily="34" charset="0"/>
                <a:ea typeface="DM Sans" pitchFamily="34" charset="-122"/>
                <a:cs typeface="DM Sans" pitchFamily="34" charset="-120"/>
              </a:rPr>
              <a:t>The professor sees a wrong answer and a grade, not the reasoning behind it.</a:t>
            </a:r>
            <a:endParaRPr lang="en-US" sz="1500" dirty="0"/>
          </a:p>
        </p:txBody>
      </p:sp>
      <p:sp>
        <p:nvSpPr>
          <p:cNvPr id="18" name="Text 14"/>
          <p:cNvSpPr/>
          <p:nvPr/>
        </p:nvSpPr>
        <p:spPr>
          <a:xfrm>
            <a:off x="812800" y="5181600"/>
            <a:ext cx="9156700" cy="685800"/>
          </a:xfrm>
          <a:prstGeom prst="rect">
            <a:avLst/>
          </a:prstGeom>
          <a:noFill/>
          <a:ln/>
        </p:spPr>
        <p:txBody>
          <a:bodyPr wrap="square" lIns="0" tIns="0" rIns="0" bIns="0" rtlCol="0" anchor="t">
            <a:normAutofit/>
          </a:bodyPr>
          <a:lstStyle/>
          <a:p>
            <a:pPr marL="0" indent="0" algn="l">
              <a:lnSpc>
                <a:spcPts val="2600"/>
              </a:lnSpc>
              <a:buNone/>
            </a:pPr>
            <a:r>
              <a:rPr lang="en-US" sz="2000" i="1" dirty="0">
                <a:solidFill>
                  <a:srgbClr val="143B31"/>
                </a:solidFill>
                <a:latin typeface="Newsreader" pitchFamily="18" charset="0"/>
                <a:ea typeface="Newsreader" pitchFamily="18" charset="-122"/>
                <a:cs typeface="Newsreader" pitchFamily="18" charset="-120"/>
              </a:rPr>
              <a:t>“Students need help when confusion happens. Teachers need to see that confusion before it becomes a grade.”</a:t>
            </a:r>
            <a:endParaRPr lang="en-US" sz="2000" dirty="0"/>
          </a:p>
        </p:txBody>
      </p:sp>
      <p:sp>
        <p:nvSpPr>
          <p:cNvPr id="19" name="Text 15"/>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A65"/>
                </a:solidFill>
                <a:latin typeface="DM Sans" pitchFamily="34" charset="0"/>
                <a:ea typeface="DM Sans" pitchFamily="34" charset="-122"/>
                <a:cs typeface="DM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3705C"/>
                </a:solidFill>
                <a:latin typeface="DM Sans" pitchFamily="34" charset="0"/>
                <a:ea typeface="DM Sans" pitchFamily="34" charset="-122"/>
                <a:cs typeface="DM Sans" pitchFamily="34" charset="-120"/>
              </a:rPr>
              <a:t>THE LANDSCAPE</a:t>
            </a:r>
            <a:endParaRPr lang="en-US" sz="1200" dirty="0"/>
          </a:p>
        </p:txBody>
      </p:sp>
      <p:sp>
        <p:nvSpPr>
          <p:cNvPr id="3" name="Text 1"/>
          <p:cNvSpPr>
            <a:spLocks noGrp="1"/>
          </p:cNvSpPr>
          <p:nvPr>
            <p:ph type="title"/>
          </p:nvPr>
        </p:nvSpPr>
        <p:spPr>
          <a:xfrm>
            <a:off x="812800" y="10261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0" i="0" kern="0" spc="-25" dirty="0">
                <a:solidFill>
                  <a:srgbClr val="1B2420"/>
                </a:solidFill>
                <a:latin typeface="Newsreader" pitchFamily="18" charset="0"/>
                <a:ea typeface="Newsreader" pitchFamily="18" charset="-122"/>
                <a:cs typeface="Newsreader" pitchFamily="18" charset="-120"/>
              </a:rPr>
              <a:t>Today’s tools each see part of the picture</a:t>
            </a:r>
            <a:endParaRPr lang="en-US" sz="3200" dirty="0"/>
          </a:p>
        </p:txBody>
      </p:sp>
      <p:sp>
        <p:nvSpPr>
          <p:cNvPr id="4" name="Shape 2"/>
          <p:cNvSpPr/>
          <p:nvPr/>
        </p:nvSpPr>
        <p:spPr>
          <a:xfrm>
            <a:off x="812800" y="1927920"/>
            <a:ext cx="2527300" cy="2811661"/>
          </a:xfrm>
          <a:prstGeom prst="roundRect">
            <a:avLst>
              <a:gd name="adj" fmla="val 6030"/>
            </a:avLst>
          </a:prstGeom>
          <a:solidFill>
            <a:srgbClr val="FCFBF7"/>
          </a:solidFill>
          <a:ln/>
        </p:spPr>
        <p:txBody>
          <a:bodyPr/>
          <a:lstStyle/>
          <a:p>
            <a:endParaRPr lang="en-US"/>
          </a:p>
        </p:txBody>
      </p:sp>
      <p:sp>
        <p:nvSpPr>
          <p:cNvPr id="5" name="Text 3"/>
          <p:cNvSpPr/>
          <p:nvPr/>
        </p:nvSpPr>
        <p:spPr>
          <a:xfrm>
            <a:off x="1041400" y="2156520"/>
            <a:ext cx="213220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3705C"/>
                </a:solidFill>
                <a:latin typeface="DM Sans" pitchFamily="34" charset="0"/>
                <a:ea typeface="DM Sans" pitchFamily="34" charset="-122"/>
                <a:cs typeface="DM Sans" pitchFamily="34" charset="-120"/>
              </a:rPr>
              <a:t>DIRECT</a:t>
            </a:r>
            <a:endParaRPr lang="en-US" sz="1200" dirty="0"/>
          </a:p>
        </p:txBody>
      </p:sp>
      <p:sp>
        <p:nvSpPr>
          <p:cNvPr id="6" name="Text 4"/>
          <p:cNvSpPr/>
          <p:nvPr/>
        </p:nvSpPr>
        <p:spPr>
          <a:xfrm>
            <a:off x="1041400" y="2446040"/>
            <a:ext cx="2132203" cy="3302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1B2420"/>
                </a:solidFill>
                <a:latin typeface="Newsreader" pitchFamily="18" charset="0"/>
                <a:ea typeface="Newsreader" pitchFamily="18" charset="-122"/>
                <a:cs typeface="Newsreader" pitchFamily="18" charset="-120"/>
              </a:rPr>
              <a:t>AI tutors</a:t>
            </a:r>
            <a:endParaRPr lang="en-US" sz="2000" dirty="0"/>
          </a:p>
        </p:txBody>
      </p:sp>
      <p:sp>
        <p:nvSpPr>
          <p:cNvPr id="7" name="Text 5"/>
          <p:cNvSpPr/>
          <p:nvPr/>
        </p:nvSpPr>
        <p:spPr>
          <a:xfrm>
            <a:off x="1041400" y="2827040"/>
            <a:ext cx="213220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B5853"/>
                </a:solidFill>
                <a:latin typeface="DM Sans" pitchFamily="34" charset="0"/>
                <a:ea typeface="DM Sans" pitchFamily="34" charset="-122"/>
                <a:cs typeface="DM Sans" pitchFamily="34" charset="-120"/>
              </a:rPr>
              <a:t>Khanmigo</a:t>
            </a:r>
            <a:endParaRPr lang="en-US" sz="1200" dirty="0"/>
          </a:p>
        </p:txBody>
      </p:sp>
      <p:sp>
        <p:nvSpPr>
          <p:cNvPr id="8" name="Text 6"/>
          <p:cNvSpPr/>
          <p:nvPr/>
        </p:nvSpPr>
        <p:spPr>
          <a:xfrm>
            <a:off x="1041400" y="3710880"/>
            <a:ext cx="2132203" cy="825500"/>
          </a:xfrm>
          <a:prstGeom prst="rect">
            <a:avLst/>
          </a:prstGeom>
          <a:noFill/>
          <a:ln/>
        </p:spPr>
        <p:txBody>
          <a:bodyPr wrap="square" lIns="0" tIns="0" rIns="0" bIns="0" rtlCol="0" anchor="t">
            <a:normAutofit fontScale="92500"/>
          </a:bodyPr>
          <a:lstStyle/>
          <a:p>
            <a:pPr marL="0" indent="0" algn="l">
              <a:lnSpc>
                <a:spcPts val="2100"/>
              </a:lnSpc>
              <a:buNone/>
            </a:pPr>
            <a:r>
              <a:rPr lang="en-US" sz="1500" dirty="0">
                <a:solidFill>
                  <a:srgbClr val="1B2420"/>
                </a:solidFill>
                <a:latin typeface="DM Sans" pitchFamily="34" charset="0"/>
                <a:ea typeface="DM Sans" pitchFamily="34" charset="-122"/>
                <a:cs typeface="DM Sans" pitchFamily="34" charset="-120"/>
              </a:rPr>
              <a:t>Guided tutoring, lesson planning and summaries of student work</a:t>
            </a:r>
            <a:endParaRPr lang="en-US" sz="1500" dirty="0"/>
          </a:p>
        </p:txBody>
      </p:sp>
      <p:sp>
        <p:nvSpPr>
          <p:cNvPr id="9" name="Shape 7"/>
          <p:cNvSpPr/>
          <p:nvPr/>
        </p:nvSpPr>
        <p:spPr>
          <a:xfrm>
            <a:off x="3492500" y="1927920"/>
            <a:ext cx="2527300" cy="2811661"/>
          </a:xfrm>
          <a:prstGeom prst="roundRect">
            <a:avLst>
              <a:gd name="adj" fmla="val 6030"/>
            </a:avLst>
          </a:prstGeom>
          <a:solidFill>
            <a:srgbClr val="FCFBF7"/>
          </a:solidFill>
          <a:ln/>
        </p:spPr>
        <p:txBody>
          <a:bodyPr/>
          <a:lstStyle/>
          <a:p>
            <a:endParaRPr lang="en-US"/>
          </a:p>
        </p:txBody>
      </p:sp>
      <p:sp>
        <p:nvSpPr>
          <p:cNvPr id="10" name="Text 8"/>
          <p:cNvSpPr/>
          <p:nvPr/>
        </p:nvSpPr>
        <p:spPr>
          <a:xfrm>
            <a:off x="3721100" y="2156520"/>
            <a:ext cx="213220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3705C"/>
                </a:solidFill>
                <a:latin typeface="DM Sans" pitchFamily="34" charset="0"/>
                <a:ea typeface="DM Sans" pitchFamily="34" charset="-122"/>
                <a:cs typeface="DM Sans" pitchFamily="34" charset="-120"/>
              </a:rPr>
              <a:t>DIRECT</a:t>
            </a:r>
            <a:endParaRPr lang="en-US" sz="1200" dirty="0"/>
          </a:p>
        </p:txBody>
      </p:sp>
      <p:sp>
        <p:nvSpPr>
          <p:cNvPr id="11" name="Text 9"/>
          <p:cNvSpPr/>
          <p:nvPr/>
        </p:nvSpPr>
        <p:spPr>
          <a:xfrm>
            <a:off x="3721100" y="2446040"/>
            <a:ext cx="2132203" cy="6350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1B2420"/>
                </a:solidFill>
                <a:latin typeface="Newsreader" pitchFamily="18" charset="0"/>
                <a:ea typeface="Newsreader" pitchFamily="18" charset="-122"/>
                <a:cs typeface="Newsreader" pitchFamily="18" charset="-120"/>
              </a:rPr>
              <a:t>Practice and assessment</a:t>
            </a:r>
            <a:endParaRPr lang="en-US" sz="2000" dirty="0"/>
          </a:p>
        </p:txBody>
      </p:sp>
      <p:sp>
        <p:nvSpPr>
          <p:cNvPr id="12" name="Text 10"/>
          <p:cNvSpPr/>
          <p:nvPr/>
        </p:nvSpPr>
        <p:spPr>
          <a:xfrm>
            <a:off x="3721100" y="3131840"/>
            <a:ext cx="2132203"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B5853"/>
                </a:solidFill>
                <a:latin typeface="DM Sans" pitchFamily="34" charset="0"/>
                <a:ea typeface="DM Sans" pitchFamily="34" charset="-122"/>
                <a:cs typeface="DM Sans" pitchFamily="34" charset="-120"/>
              </a:rPr>
              <a:t>Wayground (formerly Quizizz), Kahoot</a:t>
            </a:r>
            <a:endParaRPr lang="en-US" sz="1200" dirty="0"/>
          </a:p>
        </p:txBody>
      </p:sp>
      <p:sp>
        <p:nvSpPr>
          <p:cNvPr id="13" name="Text 11"/>
          <p:cNvSpPr/>
          <p:nvPr/>
        </p:nvSpPr>
        <p:spPr>
          <a:xfrm>
            <a:off x="3721100" y="3710880"/>
            <a:ext cx="2132203"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420"/>
                </a:solidFill>
                <a:latin typeface="DM Sans" pitchFamily="34" charset="0"/>
                <a:ea typeface="DM Sans" pitchFamily="34" charset="-122"/>
                <a:cs typeface="DM Sans" pitchFamily="34" charset="-120"/>
              </a:rPr>
              <a:t>Engaging practice, quizzes and performance reports</a:t>
            </a:r>
            <a:endParaRPr lang="en-US" sz="1500" dirty="0"/>
          </a:p>
        </p:txBody>
      </p:sp>
      <p:sp>
        <p:nvSpPr>
          <p:cNvPr id="14" name="Shape 12"/>
          <p:cNvSpPr/>
          <p:nvPr/>
        </p:nvSpPr>
        <p:spPr>
          <a:xfrm>
            <a:off x="6172200" y="1927920"/>
            <a:ext cx="2527300" cy="2811661"/>
          </a:xfrm>
          <a:prstGeom prst="roundRect">
            <a:avLst>
              <a:gd name="adj" fmla="val 6030"/>
            </a:avLst>
          </a:prstGeom>
          <a:solidFill>
            <a:srgbClr val="FCFBF7"/>
          </a:solidFill>
          <a:ln/>
        </p:spPr>
        <p:txBody>
          <a:bodyPr/>
          <a:lstStyle/>
          <a:p>
            <a:endParaRPr lang="en-US"/>
          </a:p>
        </p:txBody>
      </p:sp>
      <p:sp>
        <p:nvSpPr>
          <p:cNvPr id="15" name="Text 13"/>
          <p:cNvSpPr/>
          <p:nvPr/>
        </p:nvSpPr>
        <p:spPr>
          <a:xfrm>
            <a:off x="6400800" y="2156520"/>
            <a:ext cx="213220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E6A65"/>
                </a:solidFill>
                <a:latin typeface="DM Sans" pitchFamily="34" charset="0"/>
                <a:ea typeface="DM Sans" pitchFamily="34" charset="-122"/>
                <a:cs typeface="DM Sans" pitchFamily="34" charset="-120"/>
              </a:rPr>
              <a:t>INDIRECT</a:t>
            </a:r>
            <a:endParaRPr lang="en-US" sz="1200" dirty="0"/>
          </a:p>
        </p:txBody>
      </p:sp>
      <p:sp>
        <p:nvSpPr>
          <p:cNvPr id="16" name="Text 14"/>
          <p:cNvSpPr/>
          <p:nvPr/>
        </p:nvSpPr>
        <p:spPr>
          <a:xfrm>
            <a:off x="6400800" y="2446040"/>
            <a:ext cx="2132203" cy="6350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1B2420"/>
                </a:solidFill>
                <a:latin typeface="Newsreader" pitchFamily="18" charset="0"/>
                <a:ea typeface="Newsreader" pitchFamily="18" charset="-122"/>
                <a:cs typeface="Newsreader" pitchFamily="18" charset="-120"/>
              </a:rPr>
              <a:t>Learning management</a:t>
            </a:r>
            <a:endParaRPr lang="en-US" sz="2000" dirty="0"/>
          </a:p>
        </p:txBody>
      </p:sp>
      <p:sp>
        <p:nvSpPr>
          <p:cNvPr id="17" name="Text 15"/>
          <p:cNvSpPr/>
          <p:nvPr/>
        </p:nvSpPr>
        <p:spPr>
          <a:xfrm>
            <a:off x="6400800" y="3131840"/>
            <a:ext cx="2132203"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B5853"/>
                </a:solidFill>
                <a:latin typeface="DM Sans" pitchFamily="34" charset="0"/>
                <a:ea typeface="DM Sans" pitchFamily="34" charset="-122"/>
                <a:cs typeface="DM Sans" pitchFamily="34" charset="-120"/>
              </a:rPr>
              <a:t>Canvas, Blackboard, Google Classroom</a:t>
            </a:r>
            <a:endParaRPr lang="en-US" sz="1200" dirty="0"/>
          </a:p>
        </p:txBody>
      </p:sp>
      <p:sp>
        <p:nvSpPr>
          <p:cNvPr id="18" name="Text 16"/>
          <p:cNvSpPr/>
          <p:nvPr/>
        </p:nvSpPr>
        <p:spPr>
          <a:xfrm>
            <a:off x="6400800" y="3710880"/>
            <a:ext cx="2132203"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420"/>
                </a:solidFill>
                <a:latin typeface="DM Sans" pitchFamily="34" charset="0"/>
                <a:ea typeface="DM Sans" pitchFamily="34" charset="-122"/>
                <a:cs typeface="DM Sans" pitchFamily="34" charset="-120"/>
              </a:rPr>
              <a:t>Course materials, coursework, grades and analytics</a:t>
            </a:r>
            <a:endParaRPr lang="en-US" sz="1500" dirty="0"/>
          </a:p>
        </p:txBody>
      </p:sp>
      <p:sp>
        <p:nvSpPr>
          <p:cNvPr id="19" name="Shape 17"/>
          <p:cNvSpPr/>
          <p:nvPr/>
        </p:nvSpPr>
        <p:spPr>
          <a:xfrm>
            <a:off x="8851900" y="1927920"/>
            <a:ext cx="2527300" cy="2811661"/>
          </a:xfrm>
          <a:prstGeom prst="roundRect">
            <a:avLst>
              <a:gd name="adj" fmla="val 6030"/>
            </a:avLst>
          </a:prstGeom>
          <a:solidFill>
            <a:srgbClr val="FCFBF7"/>
          </a:solidFill>
          <a:ln/>
        </p:spPr>
        <p:txBody>
          <a:bodyPr/>
          <a:lstStyle/>
          <a:p>
            <a:endParaRPr lang="en-US"/>
          </a:p>
        </p:txBody>
      </p:sp>
      <p:sp>
        <p:nvSpPr>
          <p:cNvPr id="20" name="Text 18"/>
          <p:cNvSpPr/>
          <p:nvPr/>
        </p:nvSpPr>
        <p:spPr>
          <a:xfrm>
            <a:off x="9080500" y="2156520"/>
            <a:ext cx="213220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E6A65"/>
                </a:solidFill>
                <a:latin typeface="DM Sans" pitchFamily="34" charset="0"/>
                <a:ea typeface="DM Sans" pitchFamily="34" charset="-122"/>
                <a:cs typeface="DM Sans" pitchFamily="34" charset="-120"/>
              </a:rPr>
              <a:t>INDIRECT</a:t>
            </a:r>
            <a:endParaRPr lang="en-US" sz="1200" dirty="0"/>
          </a:p>
        </p:txBody>
      </p:sp>
      <p:sp>
        <p:nvSpPr>
          <p:cNvPr id="21" name="Text 19"/>
          <p:cNvSpPr/>
          <p:nvPr/>
        </p:nvSpPr>
        <p:spPr>
          <a:xfrm>
            <a:off x="9080500" y="2446040"/>
            <a:ext cx="2132203" cy="6350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1B2420"/>
                </a:solidFill>
                <a:latin typeface="Newsreader" pitchFamily="18" charset="0"/>
                <a:ea typeface="Newsreader" pitchFamily="18" charset="-122"/>
                <a:cs typeface="Newsreader" pitchFamily="18" charset="-120"/>
              </a:rPr>
              <a:t>General AI chatbots</a:t>
            </a:r>
            <a:endParaRPr lang="en-US" sz="2000" dirty="0"/>
          </a:p>
        </p:txBody>
      </p:sp>
      <p:sp>
        <p:nvSpPr>
          <p:cNvPr id="22" name="Text 20"/>
          <p:cNvSpPr/>
          <p:nvPr/>
        </p:nvSpPr>
        <p:spPr>
          <a:xfrm>
            <a:off x="9080500" y="3131840"/>
            <a:ext cx="2132203"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B5853"/>
                </a:solidFill>
                <a:latin typeface="DM Sans" pitchFamily="34" charset="0"/>
                <a:ea typeface="DM Sans" pitchFamily="34" charset="-122"/>
                <a:cs typeface="DM Sans" pitchFamily="34" charset="-120"/>
              </a:rPr>
              <a:t>Any general-purpose assistant</a:t>
            </a:r>
            <a:endParaRPr lang="en-US" sz="1200" dirty="0"/>
          </a:p>
        </p:txBody>
      </p:sp>
      <p:sp>
        <p:nvSpPr>
          <p:cNvPr id="23" name="Text 21"/>
          <p:cNvSpPr/>
          <p:nvPr/>
        </p:nvSpPr>
        <p:spPr>
          <a:xfrm>
            <a:off x="9080500" y="3710880"/>
            <a:ext cx="2132203"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420"/>
                </a:solidFill>
                <a:latin typeface="DM Sans" pitchFamily="34" charset="0"/>
                <a:ea typeface="DM Sans" pitchFamily="34" charset="-122"/>
                <a:cs typeface="DM Sans" pitchFamily="34" charset="-120"/>
              </a:rPr>
              <a:t>Quick explanations, not tied to the course’s approved material</a:t>
            </a:r>
            <a:endParaRPr lang="en-US" sz="1500" dirty="0"/>
          </a:p>
        </p:txBody>
      </p:sp>
      <p:sp>
        <p:nvSpPr>
          <p:cNvPr id="24" name="Shape 22"/>
          <p:cNvSpPr/>
          <p:nvPr/>
        </p:nvSpPr>
        <p:spPr>
          <a:xfrm>
            <a:off x="812800" y="5194300"/>
            <a:ext cx="10566400" cy="647700"/>
          </a:xfrm>
          <a:prstGeom prst="roundRect">
            <a:avLst>
              <a:gd name="adj" fmla="val 23529"/>
            </a:avLst>
          </a:prstGeom>
          <a:solidFill>
            <a:srgbClr val="143B31"/>
          </a:solidFill>
          <a:ln/>
        </p:spPr>
        <p:txBody>
          <a:bodyPr/>
          <a:lstStyle/>
          <a:p>
            <a:endParaRPr lang="en-US"/>
          </a:p>
        </p:txBody>
      </p:sp>
      <p:sp>
        <p:nvSpPr>
          <p:cNvPr id="25" name="Text 23"/>
          <p:cNvSpPr/>
          <p:nvPr/>
        </p:nvSpPr>
        <p:spPr>
          <a:xfrm>
            <a:off x="1092200" y="5411490"/>
            <a:ext cx="1086148" cy="238720"/>
          </a:xfrm>
          <a:prstGeom prst="rect">
            <a:avLst/>
          </a:prstGeom>
          <a:noFill/>
          <a:ln/>
        </p:spPr>
        <p:txBody>
          <a:bodyPr wrap="none" lIns="0" tIns="0" rIns="0" bIns="0" rtlCol="0" anchor="t">
            <a:normAutofit/>
          </a:bodyPr>
          <a:lstStyle/>
          <a:p>
            <a:pPr marL="0" indent="0" algn="l">
              <a:lnSpc>
                <a:spcPts val="1680"/>
              </a:lnSpc>
              <a:buNone/>
            </a:pPr>
            <a:r>
              <a:rPr lang="en-US" sz="1200" b="1" kern="0" spc="150" dirty="0">
                <a:solidFill>
                  <a:srgbClr val="9ED8BF"/>
                </a:solidFill>
                <a:latin typeface="DM Sans" pitchFamily="34" charset="0"/>
                <a:ea typeface="DM Sans" pitchFamily="34" charset="-122"/>
                <a:cs typeface="DM Sans" pitchFamily="34" charset="-120"/>
              </a:rPr>
              <a:t>OUR FOCUS</a:t>
            </a:r>
            <a:endParaRPr lang="en-US" sz="1200" dirty="0"/>
          </a:p>
        </p:txBody>
      </p:sp>
      <p:sp>
        <p:nvSpPr>
          <p:cNvPr id="26" name="Text 24"/>
          <p:cNvSpPr/>
          <p:nvPr/>
        </p:nvSpPr>
        <p:spPr>
          <a:xfrm>
            <a:off x="2330748" y="5384800"/>
            <a:ext cx="8622149"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5F2EA"/>
                </a:solidFill>
                <a:latin typeface="DM Sans" pitchFamily="34" charset="0"/>
                <a:ea typeface="DM Sans" pitchFamily="34" charset="-122"/>
                <a:cs typeface="DM Sans" pitchFamily="34" charset="-120"/>
              </a:rPr>
              <a:t>Student reasoning </a:t>
            </a:r>
            <a:r>
              <a:rPr lang="en-US" sz="1500" dirty="0">
                <a:solidFill>
                  <a:srgbClr val="9ED8BF"/>
                </a:solidFill>
                <a:latin typeface="DM Sans" pitchFamily="34" charset="0"/>
                <a:ea typeface="DM Sans" pitchFamily="34" charset="-122"/>
                <a:cs typeface="DM Sans" pitchFamily="34" charset="-120"/>
              </a:rPr>
              <a:t>→</a:t>
            </a:r>
            <a:r>
              <a:rPr lang="en-US" sz="1500" dirty="0">
                <a:solidFill>
                  <a:srgbClr val="F5F2EA"/>
                </a:solidFill>
                <a:latin typeface="DM Sans" pitchFamily="34" charset="0"/>
                <a:ea typeface="DM Sans" pitchFamily="34" charset="-122"/>
                <a:cs typeface="DM Sans" pitchFamily="34" charset="-120"/>
              </a:rPr>
              <a:t> evidence </a:t>
            </a:r>
            <a:r>
              <a:rPr lang="en-US" sz="1500" dirty="0">
                <a:solidFill>
                  <a:srgbClr val="9ED8BF"/>
                </a:solidFill>
                <a:latin typeface="DM Sans" pitchFamily="34" charset="0"/>
                <a:ea typeface="DM Sans" pitchFamily="34" charset="-122"/>
                <a:cs typeface="DM Sans" pitchFamily="34" charset="-120"/>
              </a:rPr>
              <a:t>→</a:t>
            </a:r>
            <a:r>
              <a:rPr lang="en-US" sz="1500" dirty="0">
                <a:solidFill>
                  <a:srgbClr val="F5F2EA"/>
                </a:solidFill>
                <a:latin typeface="DM Sans" pitchFamily="34" charset="0"/>
                <a:ea typeface="DM Sans" pitchFamily="34" charset="-122"/>
                <a:cs typeface="DM Sans" pitchFamily="34" charset="-120"/>
              </a:rPr>
              <a:t> teacher review </a:t>
            </a:r>
            <a:r>
              <a:rPr lang="en-US" sz="1500" dirty="0">
                <a:solidFill>
                  <a:srgbClr val="9ED8BF"/>
                </a:solidFill>
                <a:latin typeface="DM Sans" pitchFamily="34" charset="0"/>
                <a:ea typeface="DM Sans" pitchFamily="34" charset="-122"/>
                <a:cs typeface="DM Sans" pitchFamily="34" charset="-120"/>
              </a:rPr>
              <a:t>→</a:t>
            </a:r>
            <a:r>
              <a:rPr lang="en-US" sz="1500" dirty="0">
                <a:solidFill>
                  <a:srgbClr val="F5F2EA"/>
                </a:solidFill>
                <a:latin typeface="DM Sans" pitchFamily="34" charset="0"/>
                <a:ea typeface="DM Sans" pitchFamily="34" charset="-122"/>
                <a:cs typeface="DM Sans" pitchFamily="34" charset="-120"/>
              </a:rPr>
              <a:t> approved follow-up </a:t>
            </a:r>
            <a:r>
              <a:rPr lang="en-US" sz="1500" dirty="0">
                <a:solidFill>
                  <a:srgbClr val="9ED8BF"/>
                </a:solidFill>
                <a:latin typeface="DM Sans" pitchFamily="34" charset="0"/>
                <a:ea typeface="DM Sans" pitchFamily="34" charset="-122"/>
                <a:cs typeface="DM Sans" pitchFamily="34" charset="-120"/>
              </a:rPr>
              <a:t>→</a:t>
            </a:r>
            <a:r>
              <a:rPr lang="en-US" sz="1500" dirty="0">
                <a:solidFill>
                  <a:srgbClr val="F5F2EA"/>
                </a:solidFill>
                <a:latin typeface="DM Sans" pitchFamily="34" charset="0"/>
                <a:ea typeface="DM Sans" pitchFamily="34" charset="-122"/>
                <a:cs typeface="DM Sans" pitchFamily="34" charset="-120"/>
              </a:rPr>
              <a:t> new work</a:t>
            </a:r>
            <a:endParaRPr lang="en-US" sz="1500" dirty="0"/>
          </a:p>
        </p:txBody>
      </p:sp>
      <p:sp>
        <p:nvSpPr>
          <p:cNvPr id="27" name="Text 25"/>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A65"/>
                </a:solidFill>
                <a:latin typeface="DM Sans" pitchFamily="34" charset="0"/>
                <a:ea typeface="DM Sans" pitchFamily="34" charset="-122"/>
                <a:cs typeface="DM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3705C"/>
                </a:solidFill>
                <a:latin typeface="DM Sans" pitchFamily="34" charset="0"/>
                <a:ea typeface="DM Sans" pitchFamily="34" charset="-122"/>
                <a:cs typeface="DM Sans" pitchFamily="34" charset="-120"/>
              </a:rPr>
              <a:t>WHO WE SERVE</a:t>
            </a:r>
            <a:endParaRPr lang="en-US" sz="1200" dirty="0"/>
          </a:p>
        </p:txBody>
      </p:sp>
      <p:sp>
        <p:nvSpPr>
          <p:cNvPr id="3" name="Text 1"/>
          <p:cNvSpPr>
            <a:spLocks noGrp="1"/>
          </p:cNvSpPr>
          <p:nvPr>
            <p:ph type="title"/>
          </p:nvPr>
        </p:nvSpPr>
        <p:spPr>
          <a:xfrm>
            <a:off x="812800" y="10261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0" i="0" kern="0" spc="-25" dirty="0">
                <a:solidFill>
                  <a:srgbClr val="1B2420"/>
                </a:solidFill>
                <a:latin typeface="Newsreader" pitchFamily="18" charset="0"/>
                <a:ea typeface="Newsreader" pitchFamily="18" charset="-122"/>
                <a:cs typeface="Newsreader" pitchFamily="18" charset="-120"/>
              </a:rPr>
              <a:t>We start where concepts are hardest</a:t>
            </a:r>
            <a:endParaRPr lang="en-US" sz="3200" dirty="0"/>
          </a:p>
        </p:txBody>
      </p:sp>
      <p:sp>
        <p:nvSpPr>
          <p:cNvPr id="4" name="Text 2"/>
          <p:cNvSpPr/>
          <p:nvPr/>
        </p:nvSpPr>
        <p:spPr>
          <a:xfrm>
            <a:off x="812800" y="1828701"/>
            <a:ext cx="65405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3705C"/>
                </a:solidFill>
                <a:latin typeface="DM Sans" pitchFamily="34" charset="0"/>
                <a:ea typeface="DM Sans" pitchFamily="34" charset="-122"/>
                <a:cs typeface="DM Sans" pitchFamily="34" charset="-120"/>
              </a:rPr>
              <a:t>PRIMARY</a:t>
            </a:r>
            <a:endParaRPr lang="en-US" sz="1200" dirty="0"/>
          </a:p>
        </p:txBody>
      </p:sp>
      <p:sp>
        <p:nvSpPr>
          <p:cNvPr id="5" name="Text 3"/>
          <p:cNvSpPr/>
          <p:nvPr/>
        </p:nvSpPr>
        <p:spPr>
          <a:xfrm>
            <a:off x="812800" y="2080121"/>
            <a:ext cx="6540500" cy="3302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1B2420"/>
                </a:solidFill>
                <a:latin typeface="Newsreader" pitchFamily="18" charset="0"/>
                <a:ea typeface="Newsreader" pitchFamily="18" charset="-122"/>
                <a:cs typeface="Newsreader" pitchFamily="18" charset="-120"/>
              </a:rPr>
              <a:t>University instructors</a:t>
            </a:r>
            <a:endParaRPr lang="en-US" sz="2000" dirty="0"/>
          </a:p>
        </p:txBody>
      </p:sp>
      <p:sp>
        <p:nvSpPr>
          <p:cNvPr id="6" name="Text 4"/>
          <p:cNvSpPr/>
          <p:nvPr/>
        </p:nvSpPr>
        <p:spPr>
          <a:xfrm>
            <a:off x="812800" y="2423021"/>
            <a:ext cx="65405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B5853"/>
                </a:solidFill>
                <a:latin typeface="DM Sans" pitchFamily="34" charset="0"/>
                <a:ea typeface="DM Sans" pitchFamily="34" charset="-122"/>
                <a:cs typeface="DM Sans" pitchFamily="34" charset="-120"/>
              </a:rPr>
              <a:t>Spot misunderstandings early and spend class time where it matters.</a:t>
            </a:r>
            <a:endParaRPr lang="en-US" sz="1500" dirty="0"/>
          </a:p>
        </p:txBody>
      </p:sp>
      <p:sp>
        <p:nvSpPr>
          <p:cNvPr id="7" name="Text 5"/>
          <p:cNvSpPr/>
          <p:nvPr/>
        </p:nvSpPr>
        <p:spPr>
          <a:xfrm>
            <a:off x="812800" y="2914154"/>
            <a:ext cx="65405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3705C"/>
                </a:solidFill>
                <a:latin typeface="DM Sans" pitchFamily="34" charset="0"/>
                <a:ea typeface="DM Sans" pitchFamily="34" charset="-122"/>
                <a:cs typeface="DM Sans" pitchFamily="34" charset="-120"/>
              </a:rPr>
              <a:t>SECONDARY</a:t>
            </a:r>
            <a:endParaRPr lang="en-US" sz="1200" dirty="0"/>
          </a:p>
        </p:txBody>
      </p:sp>
      <p:sp>
        <p:nvSpPr>
          <p:cNvPr id="8" name="Text 6"/>
          <p:cNvSpPr/>
          <p:nvPr/>
        </p:nvSpPr>
        <p:spPr>
          <a:xfrm>
            <a:off x="812800" y="3165574"/>
            <a:ext cx="6540500" cy="3302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1B2420"/>
                </a:solidFill>
                <a:latin typeface="Newsreader" pitchFamily="18" charset="0"/>
                <a:ea typeface="Newsreader" pitchFamily="18" charset="-122"/>
                <a:cs typeface="Newsreader" pitchFamily="18" charset="-120"/>
              </a:rPr>
              <a:t>Undergraduate students</a:t>
            </a:r>
            <a:endParaRPr lang="en-US" sz="2000" dirty="0"/>
          </a:p>
        </p:txBody>
      </p:sp>
      <p:sp>
        <p:nvSpPr>
          <p:cNvPr id="9" name="Text 7"/>
          <p:cNvSpPr/>
          <p:nvPr/>
        </p:nvSpPr>
        <p:spPr>
          <a:xfrm>
            <a:off x="812800" y="3508474"/>
            <a:ext cx="65405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B5853"/>
                </a:solidFill>
                <a:latin typeface="DM Sans" pitchFamily="34" charset="0"/>
                <a:ea typeface="DM Sans" pitchFamily="34" charset="-122"/>
                <a:cs typeface="DM Sans" pitchFamily="34" charset="-120"/>
              </a:rPr>
              <a:t>Guided explanations, questions and feedback outside class.</a:t>
            </a:r>
            <a:endParaRPr lang="en-US" sz="1500" dirty="0"/>
          </a:p>
        </p:txBody>
      </p:sp>
      <p:sp>
        <p:nvSpPr>
          <p:cNvPr id="10" name="Text 8"/>
          <p:cNvSpPr/>
          <p:nvPr/>
        </p:nvSpPr>
        <p:spPr>
          <a:xfrm>
            <a:off x="812800" y="3999706"/>
            <a:ext cx="65405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3705C"/>
                </a:solidFill>
                <a:latin typeface="DM Sans" pitchFamily="34" charset="0"/>
                <a:ea typeface="DM Sans" pitchFamily="34" charset="-122"/>
                <a:cs typeface="DM Sans" pitchFamily="34" charset="-120"/>
              </a:rPr>
              <a:t>POTENTIAL ADOPTERS</a:t>
            </a:r>
            <a:endParaRPr lang="en-US" sz="1200" dirty="0"/>
          </a:p>
        </p:txBody>
      </p:sp>
      <p:sp>
        <p:nvSpPr>
          <p:cNvPr id="11" name="Text 9"/>
          <p:cNvSpPr/>
          <p:nvPr/>
        </p:nvSpPr>
        <p:spPr>
          <a:xfrm>
            <a:off x="812800" y="4251127"/>
            <a:ext cx="6540500" cy="3302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1B2420"/>
                </a:solidFill>
                <a:latin typeface="Newsreader" pitchFamily="18" charset="0"/>
                <a:ea typeface="Newsreader" pitchFamily="18" charset="-122"/>
                <a:cs typeface="Newsreader" pitchFamily="18" charset="-120"/>
              </a:rPr>
              <a:t>Departments and universities</a:t>
            </a:r>
            <a:endParaRPr lang="en-US" sz="2000" dirty="0"/>
          </a:p>
        </p:txBody>
      </p:sp>
      <p:sp>
        <p:nvSpPr>
          <p:cNvPr id="12" name="Text 10"/>
          <p:cNvSpPr/>
          <p:nvPr/>
        </p:nvSpPr>
        <p:spPr>
          <a:xfrm>
            <a:off x="812800" y="4594027"/>
            <a:ext cx="65405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B5853"/>
                </a:solidFill>
                <a:latin typeface="DM Sans" pitchFamily="34" charset="0"/>
                <a:ea typeface="DM Sans" pitchFamily="34" charset="-122"/>
                <a:cs typeface="DM Sans" pitchFamily="34" charset="-120"/>
              </a:rPr>
              <a:t>Including teaching and learning centers.</a:t>
            </a:r>
            <a:endParaRPr lang="en-US" sz="1500" dirty="0"/>
          </a:p>
        </p:txBody>
      </p:sp>
      <p:sp>
        <p:nvSpPr>
          <p:cNvPr id="13" name="Text 11"/>
          <p:cNvSpPr/>
          <p:nvPr/>
        </p:nvSpPr>
        <p:spPr>
          <a:xfrm>
            <a:off x="812800" y="5085159"/>
            <a:ext cx="2266752" cy="340320"/>
          </a:xfrm>
          <a:prstGeom prst="roundRect">
            <a:avLst>
              <a:gd name="adj" fmla="val 50000"/>
            </a:avLst>
          </a:prstGeom>
          <a:solidFill>
            <a:srgbClr val="143B31"/>
          </a:solidFill>
          <a:ln/>
        </p:spPr>
        <p:txBody>
          <a:bodyPr wrap="none" lIns="0" tIns="0" rIns="0" bIns="0" rtlCol="0" anchor="ctr">
            <a:normAutofit/>
          </a:bodyPr>
          <a:lstStyle/>
          <a:p>
            <a:pPr marL="0" indent="0" algn="ctr">
              <a:lnSpc>
                <a:spcPts val="1680"/>
              </a:lnSpc>
              <a:buNone/>
            </a:pPr>
            <a:r>
              <a:rPr lang="en-US" sz="1200" b="1" dirty="0">
                <a:solidFill>
                  <a:srgbClr val="F5F2EA"/>
                </a:solidFill>
                <a:latin typeface="DM Sans" pitchFamily="34" charset="0"/>
                <a:ea typeface="DM Sans" pitchFamily="34" charset="-122"/>
                <a:cs typeface="DM Sans" pitchFamily="34" charset="-120"/>
              </a:rPr>
              <a:t>Networking: our first lesson</a:t>
            </a:r>
            <a:endParaRPr lang="en-US" sz="1200" dirty="0"/>
          </a:p>
        </p:txBody>
      </p:sp>
      <p:sp>
        <p:nvSpPr>
          <p:cNvPr id="14" name="Text 12"/>
          <p:cNvSpPr/>
          <p:nvPr/>
        </p:nvSpPr>
        <p:spPr>
          <a:xfrm>
            <a:off x="3155752" y="5085159"/>
            <a:ext cx="1635820" cy="340320"/>
          </a:xfrm>
          <a:prstGeom prst="roundRect">
            <a:avLst>
              <a:gd name="adj" fmla="val 50000"/>
            </a:avLst>
          </a:prstGeom>
          <a:solidFill>
            <a:srgbClr val="DCEDE3"/>
          </a:solidFill>
          <a:ln/>
        </p:spPr>
        <p:txBody>
          <a:bodyPr wrap="none" lIns="0" tIns="0" rIns="0" bIns="0" rtlCol="0" anchor="ctr">
            <a:normAutofit/>
          </a:bodyPr>
          <a:lstStyle/>
          <a:p>
            <a:pPr marL="0" indent="0" algn="ctr">
              <a:lnSpc>
                <a:spcPts val="1680"/>
              </a:lnSpc>
              <a:buNone/>
            </a:pPr>
            <a:r>
              <a:rPr lang="en-US" sz="1200" b="1" dirty="0">
                <a:solidFill>
                  <a:srgbClr val="143B31"/>
                </a:solidFill>
                <a:latin typeface="DM Sans" pitchFamily="34" charset="0"/>
                <a:ea typeface="DM Sans" pitchFamily="34" charset="-122"/>
                <a:cs typeface="DM Sans" pitchFamily="34" charset="-120"/>
              </a:rPr>
              <a:t>Computer science</a:t>
            </a:r>
            <a:endParaRPr lang="en-US" sz="1200" dirty="0"/>
          </a:p>
        </p:txBody>
      </p:sp>
      <p:sp>
        <p:nvSpPr>
          <p:cNvPr id="15" name="Text 13"/>
          <p:cNvSpPr/>
          <p:nvPr/>
        </p:nvSpPr>
        <p:spPr>
          <a:xfrm>
            <a:off x="4867771" y="5085159"/>
            <a:ext cx="1139726" cy="340320"/>
          </a:xfrm>
          <a:prstGeom prst="roundRect">
            <a:avLst>
              <a:gd name="adj" fmla="val 50000"/>
            </a:avLst>
          </a:prstGeom>
          <a:solidFill>
            <a:srgbClr val="DCEDE3"/>
          </a:solidFill>
          <a:ln/>
        </p:spPr>
        <p:txBody>
          <a:bodyPr wrap="none" lIns="0" tIns="0" rIns="0" bIns="0" rtlCol="0" anchor="ctr">
            <a:normAutofit/>
          </a:bodyPr>
          <a:lstStyle/>
          <a:p>
            <a:pPr marL="0" indent="0" algn="ctr">
              <a:lnSpc>
                <a:spcPts val="1680"/>
              </a:lnSpc>
              <a:buNone/>
            </a:pPr>
            <a:r>
              <a:rPr lang="en-US" sz="1200" b="1" dirty="0">
                <a:solidFill>
                  <a:srgbClr val="143B31"/>
                </a:solidFill>
                <a:latin typeface="DM Sans" pitchFamily="34" charset="0"/>
                <a:ea typeface="DM Sans" pitchFamily="34" charset="-122"/>
                <a:cs typeface="DM Sans" pitchFamily="34" charset="-120"/>
              </a:rPr>
              <a:t>Engineering</a:t>
            </a:r>
            <a:endParaRPr lang="en-US" sz="1200" dirty="0"/>
          </a:p>
        </p:txBody>
      </p:sp>
      <p:sp>
        <p:nvSpPr>
          <p:cNvPr id="16" name="Text 14"/>
          <p:cNvSpPr/>
          <p:nvPr/>
        </p:nvSpPr>
        <p:spPr>
          <a:xfrm>
            <a:off x="812800" y="5501680"/>
            <a:ext cx="1244402" cy="340320"/>
          </a:xfrm>
          <a:prstGeom prst="roundRect">
            <a:avLst>
              <a:gd name="adj" fmla="val 50000"/>
            </a:avLst>
          </a:prstGeom>
          <a:solidFill>
            <a:srgbClr val="DCEDE3"/>
          </a:solidFill>
          <a:ln/>
        </p:spPr>
        <p:txBody>
          <a:bodyPr wrap="none" lIns="0" tIns="0" rIns="0" bIns="0" rtlCol="0" anchor="ctr">
            <a:normAutofit/>
          </a:bodyPr>
          <a:lstStyle/>
          <a:p>
            <a:pPr marL="0" indent="0" algn="ctr">
              <a:lnSpc>
                <a:spcPts val="1680"/>
              </a:lnSpc>
              <a:buNone/>
            </a:pPr>
            <a:r>
              <a:rPr lang="en-US" sz="1200" b="1" dirty="0">
                <a:solidFill>
                  <a:srgbClr val="143B31"/>
                </a:solidFill>
                <a:latin typeface="DM Sans" pitchFamily="34" charset="0"/>
                <a:ea typeface="DM Sans" pitchFamily="34" charset="-122"/>
                <a:cs typeface="DM Sans" pitchFamily="34" charset="-120"/>
              </a:rPr>
              <a:t>Mathematics</a:t>
            </a:r>
            <a:endParaRPr lang="en-US" sz="1200" dirty="0"/>
          </a:p>
        </p:txBody>
      </p:sp>
      <p:sp>
        <p:nvSpPr>
          <p:cNvPr id="17" name="Text 15"/>
          <p:cNvSpPr/>
          <p:nvPr/>
        </p:nvSpPr>
        <p:spPr>
          <a:xfrm>
            <a:off x="2133402" y="5501680"/>
            <a:ext cx="835223" cy="340320"/>
          </a:xfrm>
          <a:prstGeom prst="roundRect">
            <a:avLst>
              <a:gd name="adj" fmla="val 50000"/>
            </a:avLst>
          </a:prstGeom>
          <a:solidFill>
            <a:srgbClr val="DCEDE3"/>
          </a:solidFill>
          <a:ln/>
        </p:spPr>
        <p:txBody>
          <a:bodyPr wrap="none" lIns="0" tIns="0" rIns="0" bIns="0" rtlCol="0" anchor="ctr">
            <a:normAutofit/>
          </a:bodyPr>
          <a:lstStyle/>
          <a:p>
            <a:pPr marL="0" indent="0" algn="ctr">
              <a:lnSpc>
                <a:spcPts val="1680"/>
              </a:lnSpc>
              <a:buNone/>
            </a:pPr>
            <a:r>
              <a:rPr lang="en-US" sz="1200" b="1" dirty="0">
                <a:solidFill>
                  <a:srgbClr val="143B31"/>
                </a:solidFill>
                <a:latin typeface="DM Sans" pitchFamily="34" charset="0"/>
                <a:ea typeface="DM Sans" pitchFamily="34" charset="-122"/>
                <a:cs typeface="DM Sans" pitchFamily="34" charset="-120"/>
              </a:rPr>
              <a:t>Physics</a:t>
            </a:r>
            <a:endParaRPr lang="en-US" sz="1200" dirty="0"/>
          </a:p>
        </p:txBody>
      </p:sp>
      <p:sp>
        <p:nvSpPr>
          <p:cNvPr id="18" name="Shape 16"/>
          <p:cNvSpPr/>
          <p:nvPr/>
        </p:nvSpPr>
        <p:spPr>
          <a:xfrm>
            <a:off x="7569200" y="1828701"/>
            <a:ext cx="3810000" cy="4013299"/>
          </a:xfrm>
          <a:prstGeom prst="roundRect">
            <a:avLst>
              <a:gd name="adj" fmla="val 4000"/>
            </a:avLst>
          </a:prstGeom>
          <a:solidFill>
            <a:srgbClr val="DCEDE3"/>
          </a:solidFill>
          <a:ln/>
        </p:spPr>
        <p:txBody>
          <a:bodyPr/>
          <a:lstStyle/>
          <a:p>
            <a:endParaRPr lang="en-US"/>
          </a:p>
        </p:txBody>
      </p:sp>
      <p:sp>
        <p:nvSpPr>
          <p:cNvPr id="19" name="Text 17"/>
          <p:cNvSpPr/>
          <p:nvPr/>
        </p:nvSpPr>
        <p:spPr>
          <a:xfrm>
            <a:off x="7924800" y="2184301"/>
            <a:ext cx="3191764"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3705C"/>
                </a:solidFill>
                <a:latin typeface="DM Sans" pitchFamily="34" charset="0"/>
                <a:ea typeface="DM Sans" pitchFamily="34" charset="-122"/>
                <a:cs typeface="DM Sans" pitchFamily="34" charset="-120"/>
              </a:rPr>
              <a:t>SCALE CONTEXT</a:t>
            </a:r>
            <a:endParaRPr lang="en-US" sz="1200" dirty="0"/>
          </a:p>
        </p:txBody>
      </p:sp>
      <p:sp>
        <p:nvSpPr>
          <p:cNvPr id="20" name="Text 18"/>
          <p:cNvSpPr/>
          <p:nvPr/>
        </p:nvSpPr>
        <p:spPr>
          <a:xfrm>
            <a:off x="7924800" y="2740720"/>
            <a:ext cx="3191764" cy="939800"/>
          </a:xfrm>
          <a:prstGeom prst="rect">
            <a:avLst/>
          </a:prstGeom>
          <a:noFill/>
          <a:ln/>
        </p:spPr>
        <p:txBody>
          <a:bodyPr wrap="square" lIns="0" tIns="0" rIns="0" bIns="0" rtlCol="0" anchor="t">
            <a:normAutofit fontScale="85000" lnSpcReduction="10000"/>
          </a:bodyPr>
          <a:lstStyle/>
          <a:p>
            <a:pPr marL="0" indent="0" algn="l">
              <a:lnSpc>
                <a:spcPts val="7200"/>
              </a:lnSpc>
              <a:buNone/>
            </a:pPr>
            <a:r>
              <a:rPr lang="en-US" sz="7200" kern="0" spc="-100" dirty="0">
                <a:solidFill>
                  <a:srgbClr val="143B31"/>
                </a:solidFill>
                <a:latin typeface="Newsreader" pitchFamily="18" charset="0"/>
                <a:ea typeface="Newsreader" pitchFamily="18" charset="-122"/>
                <a:cs typeface="Newsreader" pitchFamily="18" charset="-120"/>
              </a:rPr>
              <a:t>16.2M</a:t>
            </a:r>
            <a:endParaRPr lang="en-US" sz="7200" dirty="0"/>
          </a:p>
        </p:txBody>
      </p:sp>
      <p:sp>
        <p:nvSpPr>
          <p:cNvPr id="21" name="Text 19"/>
          <p:cNvSpPr/>
          <p:nvPr/>
        </p:nvSpPr>
        <p:spPr>
          <a:xfrm>
            <a:off x="7924800" y="3756720"/>
            <a:ext cx="319176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420"/>
                </a:solidFill>
                <a:latin typeface="DM Sans" pitchFamily="34" charset="0"/>
                <a:ea typeface="DM Sans" pitchFamily="34" charset="-122"/>
                <a:cs typeface="DM Sans" pitchFamily="34" charset="-120"/>
              </a:rPr>
              <a:t>U.S. undergraduate enrollments</a:t>
            </a:r>
            <a:endParaRPr lang="en-US" sz="1500" dirty="0"/>
          </a:p>
          <a:p>
            <a:pPr marL="0" indent="0" algn="l">
              <a:lnSpc>
                <a:spcPts val="2100"/>
              </a:lnSpc>
              <a:buNone/>
            </a:pPr>
            <a:r>
              <a:rPr lang="en-US" sz="1500" dirty="0">
                <a:solidFill>
                  <a:srgbClr val="1B2420"/>
                </a:solidFill>
                <a:latin typeface="DM Sans" pitchFamily="34" charset="0"/>
                <a:ea typeface="DM Sans" pitchFamily="34" charset="-122"/>
                <a:cs typeface="DM Sans" pitchFamily="34" charset="-120"/>
              </a:rPr>
              <a:t>in fall 2025</a:t>
            </a:r>
            <a:endParaRPr lang="en-US" sz="1500" dirty="0"/>
          </a:p>
        </p:txBody>
      </p:sp>
      <p:sp>
        <p:nvSpPr>
          <p:cNvPr id="22" name="Text 20"/>
          <p:cNvSpPr/>
          <p:nvPr/>
        </p:nvSpPr>
        <p:spPr>
          <a:xfrm>
            <a:off x="7924800" y="4633119"/>
            <a:ext cx="3191764"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B5853"/>
                </a:solidFill>
                <a:latin typeface="DM Sans" pitchFamily="34" charset="0"/>
                <a:ea typeface="DM Sans" pitchFamily="34" charset="-122"/>
                <a:cs typeface="DM Sans" pitchFamily="34" charset="-120"/>
              </a:rPr>
              <a:t>Source: National Student Clearinghouse Research Center, January 2026.</a:t>
            </a:r>
            <a:endParaRPr lang="en-US" sz="1200" dirty="0"/>
          </a:p>
        </p:txBody>
      </p:sp>
      <p:sp>
        <p:nvSpPr>
          <p:cNvPr id="23" name="Text 21"/>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A65"/>
                </a:solidFill>
                <a:latin typeface="DM Sans" pitchFamily="34" charset="0"/>
                <a:ea typeface="DM Sans" pitchFamily="34" charset="-122"/>
                <a:cs typeface="DM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3B31"/>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ED8BF"/>
                </a:solidFill>
                <a:latin typeface="DM Sans" pitchFamily="34" charset="0"/>
                <a:ea typeface="DM Sans" pitchFamily="34" charset="-122"/>
                <a:cs typeface="DM Sans" pitchFamily="34" charset="-120"/>
              </a:rPr>
              <a:t>HOW IT WORKS</a:t>
            </a:r>
            <a:endParaRPr lang="en-US" sz="1200" dirty="0"/>
          </a:p>
        </p:txBody>
      </p:sp>
      <p:sp>
        <p:nvSpPr>
          <p:cNvPr id="3" name="Text 1"/>
          <p:cNvSpPr>
            <a:spLocks noGrp="1"/>
          </p:cNvSpPr>
          <p:nvPr>
            <p:ph type="title"/>
          </p:nvPr>
        </p:nvSpPr>
        <p:spPr>
          <a:xfrm>
            <a:off x="812800" y="10261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0" i="0" kern="0" spc="-25" dirty="0">
                <a:solidFill>
                  <a:srgbClr val="F5F2EA"/>
                </a:solidFill>
                <a:latin typeface="Newsreader" pitchFamily="18" charset="0"/>
                <a:ea typeface="Newsreader" pitchFamily="18" charset="-122"/>
                <a:cs typeface="Newsreader" pitchFamily="18" charset="-120"/>
              </a:rPr>
              <a:t>Learning Pulse connects both sides of learning</a:t>
            </a:r>
            <a:endParaRPr lang="en-US" sz="3200" dirty="0"/>
          </a:p>
        </p:txBody>
      </p:sp>
      <p:sp>
        <p:nvSpPr>
          <p:cNvPr id="4" name="Shape 2"/>
          <p:cNvSpPr/>
          <p:nvPr/>
        </p:nvSpPr>
        <p:spPr>
          <a:xfrm>
            <a:off x="812800" y="2260501"/>
            <a:ext cx="2997200" cy="1905000"/>
          </a:xfrm>
          <a:prstGeom prst="roundRect">
            <a:avLst>
              <a:gd name="adj" fmla="val 8000"/>
            </a:avLst>
          </a:prstGeom>
          <a:solidFill>
            <a:srgbClr val="1E4A3E"/>
          </a:solidFill>
          <a:ln/>
        </p:spPr>
        <p:txBody>
          <a:bodyPr/>
          <a:lstStyle/>
          <a:p>
            <a:endParaRPr lang="en-US"/>
          </a:p>
        </p:txBody>
      </p:sp>
      <p:sp>
        <p:nvSpPr>
          <p:cNvPr id="5" name="Text 3"/>
          <p:cNvSpPr/>
          <p:nvPr/>
        </p:nvSpPr>
        <p:spPr>
          <a:xfrm>
            <a:off x="1066800" y="2514501"/>
            <a:ext cx="2563876"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ED8BF"/>
                </a:solidFill>
                <a:latin typeface="DM Sans" pitchFamily="34" charset="0"/>
                <a:ea typeface="DM Sans" pitchFamily="34" charset="-122"/>
                <a:cs typeface="DM Sans" pitchFamily="34" charset="-120"/>
              </a:rPr>
              <a:t>STEP 1 · TEACHER</a:t>
            </a:r>
            <a:endParaRPr lang="en-US" sz="1200" dirty="0"/>
          </a:p>
        </p:txBody>
      </p:sp>
      <p:sp>
        <p:nvSpPr>
          <p:cNvPr id="6" name="Text 4"/>
          <p:cNvSpPr/>
          <p:nvPr/>
        </p:nvSpPr>
        <p:spPr>
          <a:xfrm>
            <a:off x="1066800" y="2816721"/>
            <a:ext cx="2563876" cy="3302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F5F2EA"/>
                </a:solidFill>
                <a:latin typeface="Newsreader" pitchFamily="18" charset="0"/>
                <a:ea typeface="Newsreader" pitchFamily="18" charset="-122"/>
                <a:cs typeface="Newsreader" pitchFamily="18" charset="-120"/>
              </a:rPr>
              <a:t>Prepares</a:t>
            </a:r>
            <a:endParaRPr lang="en-US" sz="2000" dirty="0"/>
          </a:p>
        </p:txBody>
      </p:sp>
      <p:sp>
        <p:nvSpPr>
          <p:cNvPr id="7" name="Text 5"/>
          <p:cNvSpPr/>
          <p:nvPr/>
        </p:nvSpPr>
        <p:spPr>
          <a:xfrm>
            <a:off x="1066800" y="3210421"/>
            <a:ext cx="2563876"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CD3C9"/>
                </a:solidFill>
                <a:latin typeface="DM Sans" pitchFamily="34" charset="0"/>
                <a:ea typeface="DM Sans" pitchFamily="34" charset="-122"/>
                <a:cs typeface="DM Sans" pitchFamily="34" charset="-120"/>
              </a:rPr>
              <a:t>AI proposes material; the teacher approves it.</a:t>
            </a:r>
            <a:endParaRPr lang="en-US" sz="1500" dirty="0"/>
          </a:p>
        </p:txBody>
      </p:sp>
      <p:sp>
        <p:nvSpPr>
          <p:cNvPr id="8" name="Shape 6"/>
          <p:cNvSpPr/>
          <p:nvPr/>
        </p:nvSpPr>
        <p:spPr>
          <a:xfrm>
            <a:off x="4597400" y="2260501"/>
            <a:ext cx="2997200" cy="1905000"/>
          </a:xfrm>
          <a:prstGeom prst="roundRect">
            <a:avLst>
              <a:gd name="adj" fmla="val 8000"/>
            </a:avLst>
          </a:prstGeom>
          <a:solidFill>
            <a:srgbClr val="1E4A3E"/>
          </a:solidFill>
          <a:ln/>
        </p:spPr>
        <p:txBody>
          <a:bodyPr/>
          <a:lstStyle/>
          <a:p>
            <a:endParaRPr lang="en-US"/>
          </a:p>
        </p:txBody>
      </p:sp>
      <p:sp>
        <p:nvSpPr>
          <p:cNvPr id="9" name="Text 7"/>
          <p:cNvSpPr/>
          <p:nvPr/>
        </p:nvSpPr>
        <p:spPr>
          <a:xfrm>
            <a:off x="4851400" y="2514501"/>
            <a:ext cx="2563876"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ED8BF"/>
                </a:solidFill>
                <a:latin typeface="DM Sans" pitchFamily="34" charset="0"/>
                <a:ea typeface="DM Sans" pitchFamily="34" charset="-122"/>
                <a:cs typeface="DM Sans" pitchFamily="34" charset="-120"/>
              </a:rPr>
              <a:t>STEP 2 · STUDENT</a:t>
            </a:r>
            <a:endParaRPr lang="en-US" sz="1200" dirty="0"/>
          </a:p>
        </p:txBody>
      </p:sp>
      <p:sp>
        <p:nvSpPr>
          <p:cNvPr id="10" name="Text 8"/>
          <p:cNvSpPr/>
          <p:nvPr/>
        </p:nvSpPr>
        <p:spPr>
          <a:xfrm>
            <a:off x="4851400" y="2816721"/>
            <a:ext cx="2563876" cy="3302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F5F2EA"/>
                </a:solidFill>
                <a:latin typeface="Newsreader" pitchFamily="18" charset="0"/>
                <a:ea typeface="Newsreader" pitchFamily="18" charset="-122"/>
                <a:cs typeface="Newsreader" pitchFamily="18" charset="-120"/>
              </a:rPr>
              <a:t>Learns</a:t>
            </a:r>
            <a:endParaRPr lang="en-US" sz="2000" dirty="0"/>
          </a:p>
        </p:txBody>
      </p:sp>
      <p:sp>
        <p:nvSpPr>
          <p:cNvPr id="11" name="Text 9"/>
          <p:cNvSpPr/>
          <p:nvPr/>
        </p:nvSpPr>
        <p:spPr>
          <a:xfrm>
            <a:off x="4851400" y="3210421"/>
            <a:ext cx="2563876"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CD3C9"/>
                </a:solidFill>
                <a:latin typeface="DM Sans" pitchFamily="34" charset="0"/>
                <a:ea typeface="DM Sans" pitchFamily="34" charset="-122"/>
                <a:cs typeface="DM Sans" pitchFamily="34" charset="-120"/>
              </a:rPr>
              <a:t>Every answer and every hint shown is recorded.</a:t>
            </a:r>
            <a:endParaRPr lang="en-US" sz="1500" dirty="0"/>
          </a:p>
        </p:txBody>
      </p:sp>
      <p:sp>
        <p:nvSpPr>
          <p:cNvPr id="12" name="Shape 10"/>
          <p:cNvSpPr/>
          <p:nvPr/>
        </p:nvSpPr>
        <p:spPr>
          <a:xfrm>
            <a:off x="8382000" y="2260501"/>
            <a:ext cx="2997200" cy="1905000"/>
          </a:xfrm>
          <a:prstGeom prst="roundRect">
            <a:avLst>
              <a:gd name="adj" fmla="val 8000"/>
            </a:avLst>
          </a:prstGeom>
          <a:solidFill>
            <a:srgbClr val="1E4A3E"/>
          </a:solidFill>
          <a:ln/>
        </p:spPr>
        <p:txBody>
          <a:bodyPr/>
          <a:lstStyle/>
          <a:p>
            <a:endParaRPr lang="en-US"/>
          </a:p>
        </p:txBody>
      </p:sp>
      <p:sp>
        <p:nvSpPr>
          <p:cNvPr id="13" name="Text 11"/>
          <p:cNvSpPr/>
          <p:nvPr/>
        </p:nvSpPr>
        <p:spPr>
          <a:xfrm>
            <a:off x="8636000" y="2514501"/>
            <a:ext cx="2563876"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ED8BF"/>
                </a:solidFill>
                <a:latin typeface="DM Sans" pitchFamily="34" charset="0"/>
                <a:ea typeface="DM Sans" pitchFamily="34" charset="-122"/>
                <a:cs typeface="DM Sans" pitchFamily="34" charset="-120"/>
              </a:rPr>
              <a:t>STEP 3 · TEACHER</a:t>
            </a:r>
            <a:endParaRPr lang="en-US" sz="1200" dirty="0"/>
          </a:p>
        </p:txBody>
      </p:sp>
      <p:sp>
        <p:nvSpPr>
          <p:cNvPr id="14" name="Text 12"/>
          <p:cNvSpPr/>
          <p:nvPr/>
        </p:nvSpPr>
        <p:spPr>
          <a:xfrm>
            <a:off x="8636000" y="2816721"/>
            <a:ext cx="2563876" cy="3302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F5F2EA"/>
                </a:solidFill>
                <a:latin typeface="Newsreader" pitchFamily="18" charset="0"/>
                <a:ea typeface="Newsreader" pitchFamily="18" charset="-122"/>
                <a:cs typeface="Newsreader" pitchFamily="18" charset="-120"/>
              </a:rPr>
              <a:t>Investigates</a:t>
            </a:r>
            <a:endParaRPr lang="en-US" sz="2000" dirty="0"/>
          </a:p>
        </p:txBody>
      </p:sp>
      <p:sp>
        <p:nvSpPr>
          <p:cNvPr id="15" name="Text 13"/>
          <p:cNvSpPr/>
          <p:nvPr/>
        </p:nvSpPr>
        <p:spPr>
          <a:xfrm>
            <a:off x="8636000" y="3210421"/>
            <a:ext cx="2563876"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CD3C9"/>
                </a:solidFill>
                <a:latin typeface="DM Sans" pitchFamily="34" charset="0"/>
                <a:ea typeface="DM Sans" pitchFamily="34" charset="-122"/>
                <a:cs typeface="DM Sans" pitchFamily="34" charset="-120"/>
              </a:rPr>
              <a:t>Reviews the evidence and approves a follow-up.</a:t>
            </a:r>
            <a:endParaRPr lang="en-US" sz="1500" dirty="0"/>
          </a:p>
        </p:txBody>
      </p:sp>
      <p:pic>
        <p:nvPicPr>
          <p:cNvPr id="16" name="Image 0" descr="connector"/>
          <p:cNvPicPr>
            <a:picLocks noChangeAspect="1"/>
          </p:cNvPicPr>
          <p:nvPr/>
        </p:nvPicPr>
        <p:blipFill>
          <a:blip r:embed="rId3"/>
          <a:srcRect/>
          <a:stretch/>
        </p:blipFill>
        <p:spPr>
          <a:xfrm>
            <a:off x="3759200" y="3162201"/>
            <a:ext cx="889000" cy="101600"/>
          </a:xfrm>
          <a:prstGeom prst="rect">
            <a:avLst/>
          </a:prstGeom>
        </p:spPr>
      </p:pic>
      <p:pic>
        <p:nvPicPr>
          <p:cNvPr id="17" name="Image 1" descr="connector"/>
          <p:cNvPicPr>
            <a:picLocks noChangeAspect="1"/>
          </p:cNvPicPr>
          <p:nvPr/>
        </p:nvPicPr>
        <p:blipFill>
          <a:blip r:embed="rId3"/>
          <a:srcRect/>
          <a:stretch/>
        </p:blipFill>
        <p:spPr>
          <a:xfrm>
            <a:off x="7543800" y="3162201"/>
            <a:ext cx="889000" cy="101600"/>
          </a:xfrm>
          <a:prstGeom prst="rect">
            <a:avLst/>
          </a:prstGeom>
        </p:spPr>
      </p:pic>
      <p:pic>
        <p:nvPicPr>
          <p:cNvPr id="18" name="Image 2" descr="connector"/>
          <p:cNvPicPr>
            <a:picLocks noChangeAspect="1"/>
          </p:cNvPicPr>
          <p:nvPr/>
        </p:nvPicPr>
        <p:blipFill>
          <a:blip r:embed="rId4"/>
          <a:srcRect/>
          <a:stretch/>
        </p:blipFill>
        <p:spPr>
          <a:xfrm>
            <a:off x="9829800" y="4114701"/>
            <a:ext cx="101600" cy="685800"/>
          </a:xfrm>
          <a:prstGeom prst="rect">
            <a:avLst/>
          </a:prstGeom>
        </p:spPr>
      </p:pic>
      <p:pic>
        <p:nvPicPr>
          <p:cNvPr id="19" name="Image 3" descr="connector"/>
          <p:cNvPicPr>
            <a:picLocks noChangeAspect="1"/>
          </p:cNvPicPr>
          <p:nvPr/>
        </p:nvPicPr>
        <p:blipFill>
          <a:blip r:embed="rId5"/>
          <a:srcRect/>
          <a:stretch/>
        </p:blipFill>
        <p:spPr>
          <a:xfrm>
            <a:off x="6045200" y="4698901"/>
            <a:ext cx="3886200" cy="101600"/>
          </a:xfrm>
          <a:prstGeom prst="rect">
            <a:avLst/>
          </a:prstGeom>
        </p:spPr>
      </p:pic>
      <p:pic>
        <p:nvPicPr>
          <p:cNvPr id="20" name="Image 4" descr="connector"/>
          <p:cNvPicPr>
            <a:picLocks noChangeAspect="1"/>
          </p:cNvPicPr>
          <p:nvPr/>
        </p:nvPicPr>
        <p:blipFill>
          <a:blip r:embed="rId6"/>
          <a:srcRect/>
          <a:stretch/>
        </p:blipFill>
        <p:spPr>
          <a:xfrm>
            <a:off x="6045200" y="4114701"/>
            <a:ext cx="101600" cy="685800"/>
          </a:xfrm>
          <a:prstGeom prst="rect">
            <a:avLst/>
          </a:prstGeom>
        </p:spPr>
      </p:pic>
      <p:sp>
        <p:nvSpPr>
          <p:cNvPr id="21" name="Text 14"/>
          <p:cNvSpPr/>
          <p:nvPr/>
        </p:nvSpPr>
        <p:spPr>
          <a:xfrm>
            <a:off x="3784600" y="2895501"/>
            <a:ext cx="8382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9ED8BF"/>
                </a:solidFill>
                <a:latin typeface="DM Sans" pitchFamily="34" charset="0"/>
                <a:ea typeface="DM Sans" pitchFamily="34" charset="-122"/>
                <a:cs typeface="DM Sans" pitchFamily="34" charset="-120"/>
              </a:rPr>
              <a:t>lesson</a:t>
            </a:r>
            <a:endParaRPr lang="en-US" sz="1200" dirty="0"/>
          </a:p>
        </p:txBody>
      </p:sp>
      <p:sp>
        <p:nvSpPr>
          <p:cNvPr id="22" name="Text 15"/>
          <p:cNvSpPr/>
          <p:nvPr/>
        </p:nvSpPr>
        <p:spPr>
          <a:xfrm>
            <a:off x="7569200" y="2895501"/>
            <a:ext cx="8382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9ED8BF"/>
                </a:solidFill>
                <a:latin typeface="DM Sans" pitchFamily="34" charset="0"/>
                <a:ea typeface="DM Sans" pitchFamily="34" charset="-122"/>
                <a:cs typeface="DM Sans" pitchFamily="34" charset="-120"/>
              </a:rPr>
              <a:t>evidence</a:t>
            </a:r>
            <a:endParaRPr lang="en-US" sz="1200" dirty="0"/>
          </a:p>
        </p:txBody>
      </p:sp>
      <p:sp>
        <p:nvSpPr>
          <p:cNvPr id="23" name="Text 16"/>
          <p:cNvSpPr/>
          <p:nvPr/>
        </p:nvSpPr>
        <p:spPr>
          <a:xfrm>
            <a:off x="5045075" y="4902101"/>
            <a:ext cx="5886450" cy="292100"/>
          </a:xfrm>
          <a:prstGeom prst="rect">
            <a:avLst/>
          </a:prstGeom>
          <a:noFill/>
          <a:ln/>
        </p:spPr>
        <p:txBody>
          <a:bodyPr wrap="square" lIns="0" tIns="0" rIns="0" bIns="0" rtlCol="0" anchor="t">
            <a:normAutofit/>
          </a:bodyPr>
          <a:lstStyle/>
          <a:p>
            <a:pPr marL="0" indent="0" algn="ctr">
              <a:lnSpc>
                <a:spcPts val="2100"/>
              </a:lnSpc>
              <a:buNone/>
            </a:pPr>
            <a:r>
              <a:rPr lang="en-US" sz="1500" dirty="0">
                <a:solidFill>
                  <a:srgbClr val="F5F2EA"/>
                </a:solidFill>
                <a:latin typeface="DM Sans" pitchFamily="34" charset="0"/>
                <a:ea typeface="DM Sans" pitchFamily="34" charset="-122"/>
                <a:cs typeface="DM Sans" pitchFamily="34" charset="-120"/>
              </a:rPr>
              <a:t>The approved follow-up becomes new student work</a:t>
            </a:r>
            <a:endParaRPr lang="en-US" sz="1500" dirty="0"/>
          </a:p>
        </p:txBody>
      </p:sp>
      <p:sp>
        <p:nvSpPr>
          <p:cNvPr id="24" name="Text 17"/>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CD3C9"/>
                </a:solidFill>
                <a:latin typeface="DM Sans" pitchFamily="34" charset="0"/>
                <a:ea typeface="DM Sans" pitchFamily="34" charset="-122"/>
                <a:cs typeface="DM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711200"/>
            <a:ext cx="6749796"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3705C"/>
                </a:solidFill>
                <a:latin typeface="DM Sans" pitchFamily="34" charset="0"/>
                <a:ea typeface="DM Sans" pitchFamily="34" charset="-122"/>
                <a:cs typeface="DM Sans" pitchFamily="34" charset="-120"/>
              </a:rPr>
              <a:t>STEP 1 · TEACHER PREPARES</a:t>
            </a:r>
            <a:endParaRPr lang="en-US" sz="1200" dirty="0"/>
          </a:p>
        </p:txBody>
      </p:sp>
      <p:sp>
        <p:nvSpPr>
          <p:cNvPr id="3" name="Text 1"/>
          <p:cNvSpPr>
            <a:spLocks noGrp="1"/>
          </p:cNvSpPr>
          <p:nvPr>
            <p:ph type="title"/>
          </p:nvPr>
        </p:nvSpPr>
        <p:spPr>
          <a:xfrm>
            <a:off x="812800" y="1026120"/>
            <a:ext cx="7162800" cy="472380"/>
          </a:xfrm>
          <a:prstGeom prst="rect">
            <a:avLst/>
          </a:prstGeom>
          <a:noFill/>
          <a:ln/>
        </p:spPr>
        <p:txBody>
          <a:bodyPr wrap="square" lIns="0" tIns="0" rIns="0" bIns="0" rtlCol="0" anchor="t">
            <a:normAutofit/>
          </a:bodyPr>
          <a:lstStyle/>
          <a:p>
            <a:pPr marL="0" indent="0" algn="l">
              <a:lnSpc>
                <a:spcPts val="3520"/>
              </a:lnSpc>
              <a:buNone/>
            </a:pPr>
            <a:r>
              <a:rPr lang="en-US" sz="3200" b="0" i="0" kern="0" spc="-25" dirty="0">
                <a:solidFill>
                  <a:srgbClr val="1B2420"/>
                </a:solidFill>
                <a:latin typeface="Newsreader" pitchFamily="18" charset="0"/>
                <a:ea typeface="Newsreader" pitchFamily="18" charset="-122"/>
                <a:cs typeface="Newsreader" pitchFamily="18" charset="-120"/>
              </a:rPr>
              <a:t>The teacher sets the source of truth</a:t>
            </a:r>
            <a:endParaRPr lang="en-US" sz="3200" dirty="0"/>
          </a:p>
        </p:txBody>
      </p:sp>
      <p:sp>
        <p:nvSpPr>
          <p:cNvPr id="4" name="Text 2"/>
          <p:cNvSpPr/>
          <p:nvPr/>
        </p:nvSpPr>
        <p:spPr>
          <a:xfrm>
            <a:off x="812800" y="1777901"/>
            <a:ext cx="6749796" cy="330200"/>
          </a:xfrm>
          <a:prstGeom prst="rect">
            <a:avLst/>
          </a:prstGeom>
          <a:noFill/>
          <a:ln/>
        </p:spPr>
        <p:txBody>
          <a:bodyPr wrap="square" lIns="0" tIns="0" rIns="0" bIns="0" rtlCol="0" anchor="t">
            <a:normAutofit/>
          </a:bodyPr>
          <a:lstStyle/>
          <a:p>
            <a:pPr marL="0" indent="0" algn="l">
              <a:lnSpc>
                <a:spcPts val="2400"/>
              </a:lnSpc>
              <a:buNone/>
            </a:pPr>
            <a:r>
              <a:rPr lang="en-US" sz="2000" i="1" dirty="0">
                <a:solidFill>
                  <a:srgbClr val="23705C"/>
                </a:solidFill>
                <a:latin typeface="Newsreader" pitchFamily="18" charset="0"/>
                <a:ea typeface="Newsreader" pitchFamily="18" charset="-122"/>
                <a:cs typeface="Newsreader" pitchFamily="18" charset="-120"/>
              </a:rPr>
              <a:t>AI proposes. The teacher approves.</a:t>
            </a:r>
            <a:endParaRPr lang="en-US" sz="2000" dirty="0"/>
          </a:p>
        </p:txBody>
      </p:sp>
      <p:sp>
        <p:nvSpPr>
          <p:cNvPr id="5" name="Text 3"/>
          <p:cNvSpPr/>
          <p:nvPr/>
        </p:nvSpPr>
        <p:spPr>
          <a:xfrm>
            <a:off x="812800" y="2387501"/>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143B31"/>
          </a:solidFill>
          <a:ln/>
        </p:spPr>
        <p:txBody>
          <a:bodyPr wrap="square" lIns="0" tIns="0" rIns="0" bIns="0" rtlCol="0" anchor="t">
            <a:normAutofit/>
          </a:bodyPr>
          <a:lstStyle/>
          <a:p>
            <a:pPr marL="0" indent="0" algn="ctr">
              <a:lnSpc>
                <a:spcPts val="2796"/>
              </a:lnSpc>
              <a:buNone/>
            </a:pPr>
            <a:r>
              <a:rPr lang="en-US" sz="1200" b="1" dirty="0">
                <a:solidFill>
                  <a:srgbClr val="F5F2EA"/>
                </a:solidFill>
                <a:latin typeface="DM Sans" pitchFamily="34" charset="0"/>
                <a:ea typeface="DM Sans" pitchFamily="34" charset="-122"/>
                <a:cs typeface="DM Sans" pitchFamily="34" charset="-120"/>
              </a:rPr>
              <a:t>1</a:t>
            </a:r>
            <a:endParaRPr lang="en-US" sz="1200" dirty="0"/>
          </a:p>
        </p:txBody>
      </p:sp>
      <p:sp>
        <p:nvSpPr>
          <p:cNvPr id="6" name="Text 4"/>
          <p:cNvSpPr/>
          <p:nvPr/>
        </p:nvSpPr>
        <p:spPr>
          <a:xfrm>
            <a:off x="1320800" y="2387501"/>
            <a:ext cx="622655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B2420"/>
                </a:solidFill>
                <a:latin typeface="DM Sans" pitchFamily="34" charset="0"/>
                <a:ea typeface="DM Sans" pitchFamily="34" charset="-122"/>
                <a:cs typeface="DM Sans" pitchFamily="34" charset="-120"/>
              </a:rPr>
              <a:t>Bring in course material</a:t>
            </a:r>
            <a:endParaRPr lang="en-US" sz="1500" dirty="0"/>
          </a:p>
        </p:txBody>
      </p:sp>
      <p:sp>
        <p:nvSpPr>
          <p:cNvPr id="7" name="Text 5"/>
          <p:cNvSpPr/>
          <p:nvPr/>
        </p:nvSpPr>
        <p:spPr>
          <a:xfrm>
            <a:off x="1320800" y="2679601"/>
            <a:ext cx="622655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B5853"/>
                </a:solidFill>
                <a:latin typeface="DM Sans" pitchFamily="34" charset="0"/>
                <a:ea typeface="DM Sans" pitchFamily="34" charset="-122"/>
                <a:cs typeface="DM Sans" pitchFamily="34" charset="-120"/>
              </a:rPr>
              <a:t>Learning Pulse organizes it into citable source passages.</a:t>
            </a:r>
            <a:endParaRPr lang="en-US" sz="1500" dirty="0"/>
          </a:p>
        </p:txBody>
      </p:sp>
      <p:sp>
        <p:nvSpPr>
          <p:cNvPr id="8" name="Text 6"/>
          <p:cNvSpPr/>
          <p:nvPr/>
        </p:nvSpPr>
        <p:spPr>
          <a:xfrm>
            <a:off x="812800" y="3149501"/>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143B31"/>
          </a:solidFill>
          <a:ln/>
        </p:spPr>
        <p:txBody>
          <a:bodyPr wrap="square" lIns="0" tIns="0" rIns="0" bIns="0" rtlCol="0" anchor="t">
            <a:normAutofit/>
          </a:bodyPr>
          <a:lstStyle/>
          <a:p>
            <a:pPr marL="0" indent="0" algn="ctr">
              <a:lnSpc>
                <a:spcPts val="2796"/>
              </a:lnSpc>
              <a:buNone/>
            </a:pPr>
            <a:r>
              <a:rPr lang="en-US" sz="1200" b="1" dirty="0">
                <a:solidFill>
                  <a:srgbClr val="F5F2EA"/>
                </a:solidFill>
                <a:latin typeface="DM Sans" pitchFamily="34" charset="0"/>
                <a:ea typeface="DM Sans" pitchFamily="34" charset="-122"/>
                <a:cs typeface="DM Sans" pitchFamily="34" charset="-120"/>
              </a:rPr>
              <a:t>2</a:t>
            </a:r>
            <a:endParaRPr lang="en-US" sz="1200" dirty="0"/>
          </a:p>
        </p:txBody>
      </p:sp>
      <p:sp>
        <p:nvSpPr>
          <p:cNvPr id="9" name="Text 7"/>
          <p:cNvSpPr/>
          <p:nvPr/>
        </p:nvSpPr>
        <p:spPr>
          <a:xfrm>
            <a:off x="1320800" y="3149501"/>
            <a:ext cx="622655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B2420"/>
                </a:solidFill>
                <a:latin typeface="DM Sans" pitchFamily="34" charset="0"/>
                <a:ea typeface="DM Sans" pitchFamily="34" charset="-122"/>
                <a:cs typeface="DM Sans" pitchFamily="34" charset="-120"/>
              </a:rPr>
              <a:t>Review what AI suggests</a:t>
            </a:r>
            <a:endParaRPr lang="en-US" sz="1500" dirty="0"/>
          </a:p>
        </p:txBody>
      </p:sp>
      <p:sp>
        <p:nvSpPr>
          <p:cNvPr id="10" name="Text 8"/>
          <p:cNvSpPr/>
          <p:nvPr/>
        </p:nvSpPr>
        <p:spPr>
          <a:xfrm>
            <a:off x="1320800" y="3441601"/>
            <a:ext cx="622655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B5853"/>
                </a:solidFill>
                <a:latin typeface="DM Sans" pitchFamily="34" charset="0"/>
                <a:ea typeface="DM Sans" pitchFamily="34" charset="-122"/>
                <a:cs typeface="DM Sans" pitchFamily="34" charset="-120"/>
              </a:rPr>
              <a:t>Proposed learning objectives and questions, all editable.</a:t>
            </a:r>
            <a:endParaRPr lang="en-US" sz="1500" dirty="0"/>
          </a:p>
        </p:txBody>
      </p:sp>
      <p:sp>
        <p:nvSpPr>
          <p:cNvPr id="11" name="Text 9"/>
          <p:cNvSpPr/>
          <p:nvPr/>
        </p:nvSpPr>
        <p:spPr>
          <a:xfrm>
            <a:off x="812800" y="3911501"/>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143B31"/>
          </a:solidFill>
          <a:ln/>
        </p:spPr>
        <p:txBody>
          <a:bodyPr wrap="square" lIns="0" tIns="0" rIns="0" bIns="0" rtlCol="0" anchor="t">
            <a:normAutofit/>
          </a:bodyPr>
          <a:lstStyle/>
          <a:p>
            <a:pPr marL="0" indent="0" algn="ctr">
              <a:lnSpc>
                <a:spcPts val="2796"/>
              </a:lnSpc>
              <a:buNone/>
            </a:pPr>
            <a:r>
              <a:rPr lang="en-US" sz="1200" b="1" dirty="0">
                <a:solidFill>
                  <a:srgbClr val="F5F2EA"/>
                </a:solidFill>
                <a:latin typeface="DM Sans" pitchFamily="34" charset="0"/>
                <a:ea typeface="DM Sans" pitchFamily="34" charset="-122"/>
                <a:cs typeface="DM Sans" pitchFamily="34" charset="-120"/>
              </a:rPr>
              <a:t>3</a:t>
            </a:r>
            <a:endParaRPr lang="en-US" sz="1200" dirty="0"/>
          </a:p>
        </p:txBody>
      </p:sp>
      <p:sp>
        <p:nvSpPr>
          <p:cNvPr id="12" name="Text 10"/>
          <p:cNvSpPr/>
          <p:nvPr/>
        </p:nvSpPr>
        <p:spPr>
          <a:xfrm>
            <a:off x="1320800" y="3911501"/>
            <a:ext cx="622655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B2420"/>
                </a:solidFill>
                <a:latin typeface="DM Sans" pitchFamily="34" charset="0"/>
                <a:ea typeface="DM Sans" pitchFamily="34" charset="-122"/>
                <a:cs typeface="DM Sans" pitchFamily="34" charset="-120"/>
              </a:rPr>
              <a:t>Publish a fixed lesson version</a:t>
            </a:r>
            <a:endParaRPr lang="en-US" sz="1500" dirty="0"/>
          </a:p>
        </p:txBody>
      </p:sp>
      <p:sp>
        <p:nvSpPr>
          <p:cNvPr id="13" name="Text 11"/>
          <p:cNvSpPr/>
          <p:nvPr/>
        </p:nvSpPr>
        <p:spPr>
          <a:xfrm>
            <a:off x="1320800" y="4203601"/>
            <a:ext cx="622655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B5853"/>
                </a:solidFill>
                <a:latin typeface="DM Sans" pitchFamily="34" charset="0"/>
                <a:ea typeface="DM Sans" pitchFamily="34" charset="-122"/>
                <a:cs typeface="DM Sans" pitchFamily="34" charset="-120"/>
              </a:rPr>
              <a:t>Students get the approved lesson, and every answer stays tied to it.</a:t>
            </a:r>
            <a:endParaRPr lang="en-US" sz="1500" dirty="0"/>
          </a:p>
        </p:txBody>
      </p:sp>
      <p:sp>
        <p:nvSpPr>
          <p:cNvPr id="15" name="Shape 13"/>
          <p:cNvSpPr/>
          <p:nvPr/>
        </p:nvSpPr>
        <p:spPr>
          <a:xfrm>
            <a:off x="7975600" y="711200"/>
            <a:ext cx="3403600" cy="5130800"/>
          </a:xfrm>
          <a:prstGeom prst="roundRect">
            <a:avLst>
              <a:gd name="adj" fmla="val 4478"/>
            </a:avLst>
          </a:prstGeom>
          <a:solidFill>
            <a:srgbClr val="DCEDE3"/>
          </a:solidFill>
          <a:ln/>
        </p:spPr>
        <p:txBody>
          <a:bodyPr/>
          <a:lstStyle/>
          <a:p>
            <a:endParaRPr lang="en-US"/>
          </a:p>
        </p:txBody>
      </p:sp>
      <p:pic>
        <p:nvPicPr>
          <p:cNvPr id="16" name="Image 0" descr="Lesson editor: objectives approved, 3 of 3 objectives reviewed, each marked Reviewed and essential, ready to publish"/>
          <p:cNvPicPr>
            <a:picLocks noChangeAspect="1"/>
          </p:cNvPicPr>
          <p:nvPr/>
        </p:nvPicPr>
        <p:blipFill>
          <a:blip r:embed="rId3"/>
          <a:srcRect/>
          <a:stretch/>
        </p:blipFill>
        <p:spPr>
          <a:xfrm>
            <a:off x="8771667" y="1082675"/>
            <a:ext cx="1811466" cy="4387850"/>
          </a:xfrm>
          <a:prstGeom prst="roundRect">
            <a:avLst>
              <a:gd name="adj" fmla="val 3343"/>
            </a:avLst>
          </a:prstGeom>
          <a:effectLst>
            <a:outerShdw blurRad="203200" dist="50800" dir="5400000" algn="bl" rotWithShape="0">
              <a:srgbClr val="143B31">
                <a:alpha val="12000"/>
              </a:srgbClr>
            </a:outerShdw>
          </a:effectLst>
        </p:spPr>
      </p:pic>
      <p:sp>
        <p:nvSpPr>
          <p:cNvPr id="17" name="Text 1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A65"/>
                </a:solidFill>
                <a:latin typeface="DM Sans" pitchFamily="34" charset="0"/>
                <a:ea typeface="DM Sans" pitchFamily="34" charset="-122"/>
                <a:cs typeface="DM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3705C"/>
                </a:solidFill>
                <a:latin typeface="DM Sans" pitchFamily="34" charset="0"/>
                <a:ea typeface="DM Sans" pitchFamily="34" charset="-122"/>
                <a:cs typeface="DM Sans" pitchFamily="34" charset="-120"/>
              </a:rPr>
              <a:t>STEP 2 · STUDENT LEARNS</a:t>
            </a:r>
            <a:endParaRPr lang="en-US" sz="1200" dirty="0"/>
          </a:p>
        </p:txBody>
      </p:sp>
      <p:sp>
        <p:nvSpPr>
          <p:cNvPr id="3" name="Text 1"/>
          <p:cNvSpPr>
            <a:spLocks noGrp="1"/>
          </p:cNvSpPr>
          <p:nvPr>
            <p:ph type="title"/>
          </p:nvPr>
        </p:nvSpPr>
        <p:spPr>
          <a:xfrm>
            <a:off x="812800" y="10261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0" i="0" kern="0" spc="-25" dirty="0">
                <a:solidFill>
                  <a:srgbClr val="1B2420"/>
                </a:solidFill>
                <a:latin typeface="Newsreader" pitchFamily="18" charset="0"/>
                <a:ea typeface="Newsreader" pitchFamily="18" charset="-122"/>
                <a:cs typeface="Newsreader" pitchFamily="18" charset="-120"/>
              </a:rPr>
              <a:t>Sam works through the question with a tutor</a:t>
            </a:r>
            <a:endParaRPr lang="en-US" sz="3200" dirty="0"/>
          </a:p>
        </p:txBody>
      </p:sp>
      <p:sp>
        <p:nvSpPr>
          <p:cNvPr id="4" name="Text 2"/>
          <p:cNvSpPr/>
          <p:nvPr/>
        </p:nvSpPr>
        <p:spPr>
          <a:xfrm>
            <a:off x="812800" y="1828701"/>
            <a:ext cx="280587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B2420"/>
                </a:solidFill>
                <a:latin typeface="DM Sans" pitchFamily="34" charset="0"/>
                <a:ea typeface="DM Sans" pitchFamily="34" charset="-122"/>
                <a:cs typeface="DM Sans" pitchFamily="34" charset="-120"/>
              </a:rPr>
              <a:t>Ask or answer</a:t>
            </a:r>
            <a:endParaRPr lang="en-US" sz="1500" dirty="0"/>
          </a:p>
        </p:txBody>
      </p:sp>
      <p:sp>
        <p:nvSpPr>
          <p:cNvPr id="5" name="Text 3"/>
          <p:cNvSpPr/>
          <p:nvPr/>
        </p:nvSpPr>
        <p:spPr>
          <a:xfrm>
            <a:off x="812800" y="2120801"/>
            <a:ext cx="2805875"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B5853"/>
                </a:solidFill>
                <a:latin typeface="DM Sans" pitchFamily="34" charset="0"/>
                <a:ea typeface="DM Sans" pitchFamily="34" charset="-122"/>
                <a:cs typeface="DM Sans" pitchFamily="34" charset="-120"/>
              </a:rPr>
              <a:t>The tutor tells a help request from an answer, and asks if it’s unclear.</a:t>
            </a:r>
            <a:endParaRPr lang="en-US" sz="1500" dirty="0"/>
          </a:p>
        </p:txBody>
      </p:sp>
      <p:sp>
        <p:nvSpPr>
          <p:cNvPr id="6" name="Text 4"/>
          <p:cNvSpPr/>
          <p:nvPr/>
        </p:nvSpPr>
        <p:spPr>
          <a:xfrm>
            <a:off x="812800" y="3530600"/>
            <a:ext cx="280587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B2420"/>
                </a:solidFill>
                <a:latin typeface="DM Sans" pitchFamily="34" charset="0"/>
                <a:ea typeface="DM Sans" pitchFamily="34" charset="-122"/>
                <a:cs typeface="DM Sans" pitchFamily="34" charset="-120"/>
              </a:rPr>
              <a:t>Hints, not answers</a:t>
            </a:r>
            <a:endParaRPr lang="en-US" sz="1500" dirty="0"/>
          </a:p>
        </p:txBody>
      </p:sp>
      <p:sp>
        <p:nvSpPr>
          <p:cNvPr id="7" name="Text 5"/>
          <p:cNvSpPr/>
          <p:nvPr/>
        </p:nvSpPr>
        <p:spPr>
          <a:xfrm>
            <a:off x="812800" y="3822700"/>
            <a:ext cx="2805875"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B5853"/>
                </a:solidFill>
                <a:latin typeface="DM Sans" pitchFamily="34" charset="0"/>
                <a:ea typeface="DM Sans" pitchFamily="34" charset="-122"/>
                <a:cs typeface="DM Sans" pitchFamily="34" charset="-120"/>
              </a:rPr>
              <a:t>It separates the two ideas and points Sam back to the reading.</a:t>
            </a:r>
            <a:endParaRPr lang="en-US" sz="1500" dirty="0"/>
          </a:p>
        </p:txBody>
      </p:sp>
      <p:sp>
        <p:nvSpPr>
          <p:cNvPr id="8" name="Text 6"/>
          <p:cNvSpPr/>
          <p:nvPr/>
        </p:nvSpPr>
        <p:spPr>
          <a:xfrm>
            <a:off x="812800" y="4965700"/>
            <a:ext cx="280587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B2420"/>
                </a:solidFill>
                <a:latin typeface="DM Sans" pitchFamily="34" charset="0"/>
                <a:ea typeface="DM Sans" pitchFamily="34" charset="-122"/>
                <a:cs typeface="DM Sans" pitchFamily="34" charset="-120"/>
              </a:rPr>
              <a:t>Everything is saved</a:t>
            </a:r>
            <a:endParaRPr lang="en-US" sz="1500" dirty="0"/>
          </a:p>
        </p:txBody>
      </p:sp>
      <p:sp>
        <p:nvSpPr>
          <p:cNvPr id="9" name="Text 7"/>
          <p:cNvSpPr/>
          <p:nvPr/>
        </p:nvSpPr>
        <p:spPr>
          <a:xfrm>
            <a:off x="812800" y="5257800"/>
            <a:ext cx="2805875"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B5853"/>
                </a:solidFill>
                <a:latin typeface="DM Sans" pitchFamily="34" charset="0"/>
                <a:ea typeface="DM Sans" pitchFamily="34" charset="-122"/>
                <a:cs typeface="DM Sans" pitchFamily="34" charset="-120"/>
              </a:rPr>
              <a:t>Sam’s own words and the help actually shown.</a:t>
            </a:r>
            <a:endParaRPr lang="en-US" sz="1500" dirty="0"/>
          </a:p>
        </p:txBody>
      </p:sp>
      <p:pic>
        <p:nvPicPr>
          <p:cNvPr id="10" name="Image 0" descr="Student view: the question about a cable twice as long beside the tutor’s help, marked help shown and recorded as assistance, with a link to reading passage p001"/>
          <p:cNvPicPr>
            <a:picLocks noChangeAspect="1"/>
          </p:cNvPicPr>
          <p:nvPr/>
        </p:nvPicPr>
        <p:blipFill>
          <a:blip r:embed="rId3"/>
          <a:srcRect/>
          <a:stretch/>
        </p:blipFill>
        <p:spPr>
          <a:xfrm>
            <a:off x="3892550" y="2216511"/>
            <a:ext cx="7486650" cy="3186780"/>
          </a:xfrm>
          <a:prstGeom prst="roundRect">
            <a:avLst>
              <a:gd name="adj" fmla="val 2564"/>
            </a:avLst>
          </a:prstGeom>
          <a:effectLst>
            <a:outerShdw blurRad="203200" dist="50800" dir="5400000" algn="bl" rotWithShape="0">
              <a:srgbClr val="143B31">
                <a:alpha val="12000"/>
              </a:srgbClr>
            </a:outerShdw>
          </a:effectLst>
        </p:spPr>
      </p:pic>
      <p:sp>
        <p:nvSpPr>
          <p:cNvPr id="13" name="Text 9"/>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A65"/>
                </a:solidFill>
                <a:latin typeface="DM Sans" pitchFamily="34" charset="0"/>
                <a:ea typeface="DM Sans" pitchFamily="34" charset="-122"/>
                <a:cs typeface="DM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3705C"/>
                </a:solidFill>
                <a:latin typeface="DM Sans" pitchFamily="34" charset="0"/>
                <a:ea typeface="DM Sans" pitchFamily="34" charset="-122"/>
                <a:cs typeface="DM Sans" pitchFamily="34" charset="-120"/>
              </a:rPr>
              <a:t>UNDER THE HOOD · AGENTIC WORKFLOW</a:t>
            </a:r>
            <a:endParaRPr lang="en-US" sz="1200" dirty="0"/>
          </a:p>
        </p:txBody>
      </p:sp>
      <p:sp>
        <p:nvSpPr>
          <p:cNvPr id="3" name="Text 1"/>
          <p:cNvSpPr>
            <a:spLocks noGrp="1"/>
          </p:cNvSpPr>
          <p:nvPr>
            <p:ph type="title"/>
          </p:nvPr>
        </p:nvSpPr>
        <p:spPr>
          <a:xfrm>
            <a:off x="812800" y="10261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0" i="0" kern="0" spc="-25" dirty="0">
                <a:solidFill>
                  <a:srgbClr val="1B2420"/>
                </a:solidFill>
                <a:latin typeface="Newsreader" pitchFamily="18" charset="0"/>
                <a:ea typeface="Newsreader" pitchFamily="18" charset="-122"/>
                <a:cs typeface="Newsreader" pitchFamily="18" charset="-120"/>
              </a:rPr>
              <a:t>Inside the tutor: propose, check, act, record</a:t>
            </a:r>
            <a:endParaRPr lang="en-US" sz="3200" dirty="0"/>
          </a:p>
        </p:txBody>
      </p:sp>
      <p:sp>
        <p:nvSpPr>
          <p:cNvPr id="4" name="Shape 2"/>
          <p:cNvSpPr/>
          <p:nvPr/>
        </p:nvSpPr>
        <p:spPr>
          <a:xfrm>
            <a:off x="812800" y="1752501"/>
            <a:ext cx="1828800" cy="1841500"/>
          </a:xfrm>
          <a:prstGeom prst="roundRect">
            <a:avLst>
              <a:gd name="adj" fmla="val 6944"/>
            </a:avLst>
          </a:prstGeom>
          <a:solidFill>
            <a:srgbClr val="FCFBF7"/>
          </a:solidFill>
          <a:ln/>
        </p:spPr>
        <p:txBody>
          <a:bodyPr/>
          <a:lstStyle/>
          <a:p>
            <a:endParaRPr lang="en-US"/>
          </a:p>
        </p:txBody>
      </p:sp>
      <p:sp>
        <p:nvSpPr>
          <p:cNvPr id="5" name="Text 3"/>
          <p:cNvSpPr/>
          <p:nvPr/>
        </p:nvSpPr>
        <p:spPr>
          <a:xfrm>
            <a:off x="965200" y="1904901"/>
            <a:ext cx="1574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3705C"/>
                </a:solidFill>
                <a:latin typeface="DM Sans" pitchFamily="34" charset="0"/>
                <a:ea typeface="DM Sans" pitchFamily="34" charset="-122"/>
                <a:cs typeface="DM Sans" pitchFamily="34" charset="-120"/>
              </a:rPr>
              <a:t>01</a:t>
            </a:r>
            <a:endParaRPr lang="en-US" sz="1200" dirty="0"/>
          </a:p>
        </p:txBody>
      </p:sp>
      <p:sp>
        <p:nvSpPr>
          <p:cNvPr id="6" name="Text 4"/>
          <p:cNvSpPr/>
          <p:nvPr/>
        </p:nvSpPr>
        <p:spPr>
          <a:xfrm>
            <a:off x="965200" y="2181721"/>
            <a:ext cx="1574800"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1B2420"/>
                </a:solidFill>
                <a:latin typeface="DM Sans" pitchFamily="34" charset="0"/>
                <a:ea typeface="DM Sans" pitchFamily="34" charset="-122"/>
                <a:cs typeface="DM Sans" pitchFamily="34" charset="-120"/>
              </a:rPr>
              <a:t>Student input</a:t>
            </a:r>
            <a:endParaRPr lang="en-US" sz="1500" dirty="0"/>
          </a:p>
        </p:txBody>
      </p:sp>
      <p:sp>
        <p:nvSpPr>
          <p:cNvPr id="7" name="Text 5"/>
          <p:cNvSpPr/>
          <p:nvPr/>
        </p:nvSpPr>
        <p:spPr>
          <a:xfrm>
            <a:off x="965200" y="2492871"/>
            <a:ext cx="157480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B5853"/>
                </a:solidFill>
                <a:latin typeface="DM Sans" pitchFamily="34" charset="0"/>
                <a:ea typeface="DM Sans" pitchFamily="34" charset="-122"/>
                <a:cs typeface="DM Sans" pitchFamily="34" charset="-120"/>
              </a:rPr>
              <a:t>A question, an answer or a request for help</a:t>
            </a:r>
            <a:endParaRPr lang="en-US" sz="1200" dirty="0"/>
          </a:p>
        </p:txBody>
      </p:sp>
      <p:sp>
        <p:nvSpPr>
          <p:cNvPr id="8" name="Shape 6"/>
          <p:cNvSpPr/>
          <p:nvPr/>
        </p:nvSpPr>
        <p:spPr>
          <a:xfrm>
            <a:off x="2997200" y="1752501"/>
            <a:ext cx="1828800" cy="1841500"/>
          </a:xfrm>
          <a:prstGeom prst="roundRect">
            <a:avLst>
              <a:gd name="adj" fmla="val 6944"/>
            </a:avLst>
          </a:prstGeom>
          <a:solidFill>
            <a:srgbClr val="FCFBF7"/>
          </a:solidFill>
          <a:ln/>
        </p:spPr>
        <p:txBody>
          <a:bodyPr/>
          <a:lstStyle/>
          <a:p>
            <a:endParaRPr lang="en-US"/>
          </a:p>
        </p:txBody>
      </p:sp>
      <p:sp>
        <p:nvSpPr>
          <p:cNvPr id="9" name="Text 7"/>
          <p:cNvSpPr/>
          <p:nvPr/>
        </p:nvSpPr>
        <p:spPr>
          <a:xfrm>
            <a:off x="3149600" y="1904901"/>
            <a:ext cx="1574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3705C"/>
                </a:solidFill>
                <a:latin typeface="DM Sans" pitchFamily="34" charset="0"/>
                <a:ea typeface="DM Sans" pitchFamily="34" charset="-122"/>
                <a:cs typeface="DM Sans" pitchFamily="34" charset="-120"/>
              </a:rPr>
              <a:t>02</a:t>
            </a:r>
            <a:endParaRPr lang="en-US" sz="1200" dirty="0"/>
          </a:p>
        </p:txBody>
      </p:sp>
      <p:sp>
        <p:nvSpPr>
          <p:cNvPr id="10" name="Text 8"/>
          <p:cNvSpPr/>
          <p:nvPr/>
        </p:nvSpPr>
        <p:spPr>
          <a:xfrm>
            <a:off x="3149600" y="2181721"/>
            <a:ext cx="1574800"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1B2420"/>
                </a:solidFill>
                <a:latin typeface="DM Sans" pitchFamily="34" charset="0"/>
                <a:ea typeface="DM Sans" pitchFamily="34" charset="-122"/>
                <a:cs typeface="DM Sans" pitchFamily="34" charset="-120"/>
              </a:rPr>
              <a:t>AI proposes</a:t>
            </a:r>
            <a:endParaRPr lang="en-US" sz="1500" dirty="0"/>
          </a:p>
        </p:txBody>
      </p:sp>
      <p:sp>
        <p:nvSpPr>
          <p:cNvPr id="11" name="Text 9"/>
          <p:cNvSpPr/>
          <p:nvPr/>
        </p:nvSpPr>
        <p:spPr>
          <a:xfrm>
            <a:off x="3149600" y="2492871"/>
            <a:ext cx="15748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B5853"/>
                </a:solidFill>
                <a:latin typeface="DM Sans" pitchFamily="34" charset="0"/>
                <a:ea typeface="DM Sans" pitchFamily="34" charset="-122"/>
                <a:cs typeface="DM Sans" pitchFamily="34" charset="-120"/>
              </a:rPr>
              <a:t>The tutor picks an instructional action</a:t>
            </a:r>
            <a:endParaRPr lang="en-US" sz="1200" dirty="0"/>
          </a:p>
        </p:txBody>
      </p:sp>
      <p:sp>
        <p:nvSpPr>
          <p:cNvPr id="12" name="Shape 10"/>
          <p:cNvSpPr/>
          <p:nvPr/>
        </p:nvSpPr>
        <p:spPr>
          <a:xfrm>
            <a:off x="5181600" y="1752501"/>
            <a:ext cx="1828800" cy="1841500"/>
          </a:xfrm>
          <a:prstGeom prst="roundRect">
            <a:avLst>
              <a:gd name="adj" fmla="val 6944"/>
            </a:avLst>
          </a:prstGeom>
          <a:solidFill>
            <a:srgbClr val="143B31"/>
          </a:solidFill>
          <a:ln/>
        </p:spPr>
        <p:txBody>
          <a:bodyPr/>
          <a:lstStyle/>
          <a:p>
            <a:endParaRPr lang="en-US"/>
          </a:p>
        </p:txBody>
      </p:sp>
      <p:sp>
        <p:nvSpPr>
          <p:cNvPr id="13" name="Text 11"/>
          <p:cNvSpPr/>
          <p:nvPr/>
        </p:nvSpPr>
        <p:spPr>
          <a:xfrm>
            <a:off x="5334000" y="1904901"/>
            <a:ext cx="1574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ED8BF"/>
                </a:solidFill>
                <a:latin typeface="DM Sans" pitchFamily="34" charset="0"/>
                <a:ea typeface="DM Sans" pitchFamily="34" charset="-122"/>
                <a:cs typeface="DM Sans" pitchFamily="34" charset="-120"/>
              </a:rPr>
              <a:t>03</a:t>
            </a:r>
            <a:endParaRPr lang="en-US" sz="1200" dirty="0"/>
          </a:p>
        </p:txBody>
      </p:sp>
      <p:sp>
        <p:nvSpPr>
          <p:cNvPr id="14" name="Text 12"/>
          <p:cNvSpPr/>
          <p:nvPr/>
        </p:nvSpPr>
        <p:spPr>
          <a:xfrm>
            <a:off x="5334000" y="2181721"/>
            <a:ext cx="1574800"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F5F2EA"/>
                </a:solidFill>
                <a:latin typeface="DM Sans" pitchFamily="34" charset="0"/>
                <a:ea typeface="DM Sans" pitchFamily="34" charset="-122"/>
                <a:cs typeface="DM Sans" pitchFamily="34" charset="-120"/>
              </a:rPr>
              <a:t>Server checks</a:t>
            </a:r>
            <a:endParaRPr lang="en-US" sz="1500" dirty="0"/>
          </a:p>
        </p:txBody>
      </p:sp>
      <p:sp>
        <p:nvSpPr>
          <p:cNvPr id="15" name="Text 13"/>
          <p:cNvSpPr/>
          <p:nvPr/>
        </p:nvSpPr>
        <p:spPr>
          <a:xfrm>
            <a:off x="5334000" y="2492871"/>
            <a:ext cx="157480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CD3C9"/>
                </a:solidFill>
                <a:latin typeface="DM Sans" pitchFamily="34" charset="0"/>
                <a:ea typeface="DM Sans" pitchFamily="34" charset="-122"/>
                <a:cs typeface="DM Sans" pitchFamily="34" charset="-120"/>
              </a:rPr>
              <a:t>Access, lesson version and source are validated</a:t>
            </a:r>
            <a:endParaRPr lang="en-US" sz="1200" dirty="0"/>
          </a:p>
        </p:txBody>
      </p:sp>
      <p:sp>
        <p:nvSpPr>
          <p:cNvPr id="16" name="Shape 14"/>
          <p:cNvSpPr/>
          <p:nvPr/>
        </p:nvSpPr>
        <p:spPr>
          <a:xfrm>
            <a:off x="7366000" y="1752501"/>
            <a:ext cx="1828800" cy="1841500"/>
          </a:xfrm>
          <a:prstGeom prst="roundRect">
            <a:avLst>
              <a:gd name="adj" fmla="val 6944"/>
            </a:avLst>
          </a:prstGeom>
          <a:solidFill>
            <a:srgbClr val="FCFBF7"/>
          </a:solidFill>
          <a:ln/>
        </p:spPr>
        <p:txBody>
          <a:bodyPr/>
          <a:lstStyle/>
          <a:p>
            <a:endParaRPr lang="en-US"/>
          </a:p>
        </p:txBody>
      </p:sp>
      <p:sp>
        <p:nvSpPr>
          <p:cNvPr id="17" name="Text 15"/>
          <p:cNvSpPr/>
          <p:nvPr/>
        </p:nvSpPr>
        <p:spPr>
          <a:xfrm>
            <a:off x="7518400" y="1904901"/>
            <a:ext cx="1574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3705C"/>
                </a:solidFill>
                <a:latin typeface="DM Sans" pitchFamily="34" charset="0"/>
                <a:ea typeface="DM Sans" pitchFamily="34" charset="-122"/>
                <a:cs typeface="DM Sans" pitchFamily="34" charset="-120"/>
              </a:rPr>
              <a:t>04</a:t>
            </a:r>
            <a:endParaRPr lang="en-US" sz="1200" dirty="0"/>
          </a:p>
        </p:txBody>
      </p:sp>
      <p:sp>
        <p:nvSpPr>
          <p:cNvPr id="18" name="Text 16"/>
          <p:cNvSpPr/>
          <p:nvPr/>
        </p:nvSpPr>
        <p:spPr>
          <a:xfrm>
            <a:off x="7518400" y="2181721"/>
            <a:ext cx="1574800"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1B2420"/>
                </a:solidFill>
                <a:latin typeface="DM Sans" pitchFamily="34" charset="0"/>
                <a:ea typeface="DM Sans" pitchFamily="34" charset="-122"/>
                <a:cs typeface="DM Sans" pitchFamily="34" charset="-120"/>
              </a:rPr>
              <a:t>Tool runs</a:t>
            </a:r>
            <a:endParaRPr lang="en-US" sz="1500" dirty="0"/>
          </a:p>
        </p:txBody>
      </p:sp>
      <p:sp>
        <p:nvSpPr>
          <p:cNvPr id="19" name="Text 17"/>
          <p:cNvSpPr/>
          <p:nvPr/>
        </p:nvSpPr>
        <p:spPr>
          <a:xfrm>
            <a:off x="7518400" y="2492871"/>
            <a:ext cx="15748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B5853"/>
                </a:solidFill>
                <a:latin typeface="DM Sans" pitchFamily="34" charset="0"/>
                <a:ea typeface="DM Sans" pitchFamily="34" charset="-122"/>
                <a:cs typeface="DM Sans" pitchFamily="34" charset="-120"/>
              </a:rPr>
              <a:t>Only an authorized tool executes</a:t>
            </a:r>
            <a:endParaRPr lang="en-US" sz="1200" dirty="0"/>
          </a:p>
        </p:txBody>
      </p:sp>
      <p:sp>
        <p:nvSpPr>
          <p:cNvPr id="20" name="Shape 18"/>
          <p:cNvSpPr/>
          <p:nvPr/>
        </p:nvSpPr>
        <p:spPr>
          <a:xfrm>
            <a:off x="9550400" y="1752501"/>
            <a:ext cx="1828800" cy="1841500"/>
          </a:xfrm>
          <a:prstGeom prst="roundRect">
            <a:avLst>
              <a:gd name="adj" fmla="val 6944"/>
            </a:avLst>
          </a:prstGeom>
          <a:solidFill>
            <a:srgbClr val="FCFBF7"/>
          </a:solidFill>
          <a:ln/>
        </p:spPr>
        <p:txBody>
          <a:bodyPr/>
          <a:lstStyle/>
          <a:p>
            <a:endParaRPr lang="en-US"/>
          </a:p>
        </p:txBody>
      </p:sp>
      <p:sp>
        <p:nvSpPr>
          <p:cNvPr id="21" name="Text 19"/>
          <p:cNvSpPr/>
          <p:nvPr/>
        </p:nvSpPr>
        <p:spPr>
          <a:xfrm>
            <a:off x="9702800" y="1904901"/>
            <a:ext cx="1574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3705C"/>
                </a:solidFill>
                <a:latin typeface="DM Sans" pitchFamily="34" charset="0"/>
                <a:ea typeface="DM Sans" pitchFamily="34" charset="-122"/>
                <a:cs typeface="DM Sans" pitchFamily="34" charset="-120"/>
              </a:rPr>
              <a:t>05</a:t>
            </a:r>
            <a:endParaRPr lang="en-US" sz="1200" dirty="0"/>
          </a:p>
        </p:txBody>
      </p:sp>
      <p:sp>
        <p:nvSpPr>
          <p:cNvPr id="22" name="Text 20"/>
          <p:cNvSpPr/>
          <p:nvPr/>
        </p:nvSpPr>
        <p:spPr>
          <a:xfrm>
            <a:off x="9702800" y="2181721"/>
            <a:ext cx="1574800"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1B2420"/>
                </a:solidFill>
                <a:latin typeface="DM Sans" pitchFamily="34" charset="0"/>
                <a:ea typeface="DM Sans" pitchFamily="34" charset="-122"/>
                <a:cs typeface="DM Sans" pitchFamily="34" charset="-120"/>
              </a:rPr>
              <a:t>Result recorded</a:t>
            </a:r>
            <a:endParaRPr lang="en-US" sz="1500" dirty="0"/>
          </a:p>
        </p:txBody>
      </p:sp>
      <p:sp>
        <p:nvSpPr>
          <p:cNvPr id="23" name="Text 21"/>
          <p:cNvSpPr/>
          <p:nvPr/>
        </p:nvSpPr>
        <p:spPr>
          <a:xfrm>
            <a:off x="9702800" y="2492871"/>
            <a:ext cx="15748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B5853"/>
                </a:solidFill>
                <a:latin typeface="DM Sans" pitchFamily="34" charset="0"/>
                <a:ea typeface="DM Sans" pitchFamily="34" charset="-122"/>
                <a:cs typeface="DM Sans" pitchFamily="34" charset="-120"/>
              </a:rPr>
              <a:t>Saved as evidence with its source</a:t>
            </a:r>
            <a:endParaRPr lang="en-US" sz="1200" dirty="0"/>
          </a:p>
        </p:txBody>
      </p:sp>
      <p:pic>
        <p:nvPicPr>
          <p:cNvPr id="24" name="Image 0" descr="connector"/>
          <p:cNvPicPr>
            <a:picLocks noChangeAspect="1"/>
          </p:cNvPicPr>
          <p:nvPr/>
        </p:nvPicPr>
        <p:blipFill>
          <a:blip r:embed="rId3"/>
          <a:srcRect/>
          <a:stretch/>
        </p:blipFill>
        <p:spPr>
          <a:xfrm>
            <a:off x="2590800" y="2622451"/>
            <a:ext cx="457200" cy="101600"/>
          </a:xfrm>
          <a:prstGeom prst="rect">
            <a:avLst/>
          </a:prstGeom>
        </p:spPr>
      </p:pic>
      <p:pic>
        <p:nvPicPr>
          <p:cNvPr id="25" name="Image 1" descr="connector"/>
          <p:cNvPicPr>
            <a:picLocks noChangeAspect="1"/>
          </p:cNvPicPr>
          <p:nvPr/>
        </p:nvPicPr>
        <p:blipFill>
          <a:blip r:embed="rId3"/>
          <a:srcRect/>
          <a:stretch/>
        </p:blipFill>
        <p:spPr>
          <a:xfrm>
            <a:off x="4775200" y="2622451"/>
            <a:ext cx="457200" cy="101600"/>
          </a:xfrm>
          <a:prstGeom prst="rect">
            <a:avLst/>
          </a:prstGeom>
        </p:spPr>
      </p:pic>
      <p:pic>
        <p:nvPicPr>
          <p:cNvPr id="26" name="Image 2" descr="connector"/>
          <p:cNvPicPr>
            <a:picLocks noChangeAspect="1"/>
          </p:cNvPicPr>
          <p:nvPr/>
        </p:nvPicPr>
        <p:blipFill>
          <a:blip r:embed="rId3"/>
          <a:srcRect/>
          <a:stretch/>
        </p:blipFill>
        <p:spPr>
          <a:xfrm>
            <a:off x="6959600" y="2622451"/>
            <a:ext cx="457200" cy="101600"/>
          </a:xfrm>
          <a:prstGeom prst="rect">
            <a:avLst/>
          </a:prstGeom>
        </p:spPr>
      </p:pic>
      <p:pic>
        <p:nvPicPr>
          <p:cNvPr id="27" name="Image 3" descr="connector"/>
          <p:cNvPicPr>
            <a:picLocks noChangeAspect="1"/>
          </p:cNvPicPr>
          <p:nvPr/>
        </p:nvPicPr>
        <p:blipFill>
          <a:blip r:embed="rId3"/>
          <a:srcRect/>
          <a:stretch/>
        </p:blipFill>
        <p:spPr>
          <a:xfrm>
            <a:off x="9144000" y="2622451"/>
            <a:ext cx="457200" cy="101600"/>
          </a:xfrm>
          <a:prstGeom prst="rect">
            <a:avLst/>
          </a:prstGeom>
        </p:spPr>
      </p:pic>
      <p:pic>
        <p:nvPicPr>
          <p:cNvPr id="28" name="Image 4" descr="connector"/>
          <p:cNvPicPr>
            <a:picLocks noChangeAspect="1"/>
          </p:cNvPicPr>
          <p:nvPr/>
        </p:nvPicPr>
        <p:blipFill>
          <a:blip r:embed="rId4"/>
          <a:srcRect/>
          <a:stretch/>
        </p:blipFill>
        <p:spPr>
          <a:xfrm>
            <a:off x="10414000" y="3543201"/>
            <a:ext cx="101600" cy="520700"/>
          </a:xfrm>
          <a:prstGeom prst="rect">
            <a:avLst/>
          </a:prstGeom>
        </p:spPr>
      </p:pic>
      <p:pic>
        <p:nvPicPr>
          <p:cNvPr id="29" name="Image 5" descr="connector"/>
          <p:cNvPicPr>
            <a:picLocks noChangeAspect="1"/>
          </p:cNvPicPr>
          <p:nvPr/>
        </p:nvPicPr>
        <p:blipFill>
          <a:blip r:embed="rId5"/>
          <a:srcRect/>
          <a:stretch/>
        </p:blipFill>
        <p:spPr>
          <a:xfrm>
            <a:off x="3860800" y="3962301"/>
            <a:ext cx="6654800" cy="101600"/>
          </a:xfrm>
          <a:prstGeom prst="rect">
            <a:avLst/>
          </a:prstGeom>
        </p:spPr>
      </p:pic>
      <p:pic>
        <p:nvPicPr>
          <p:cNvPr id="30" name="Image 6" descr="connector"/>
          <p:cNvPicPr>
            <a:picLocks noChangeAspect="1"/>
          </p:cNvPicPr>
          <p:nvPr/>
        </p:nvPicPr>
        <p:blipFill>
          <a:blip r:embed="rId6"/>
          <a:srcRect/>
          <a:stretch/>
        </p:blipFill>
        <p:spPr>
          <a:xfrm>
            <a:off x="3860800" y="3543201"/>
            <a:ext cx="101600" cy="520700"/>
          </a:xfrm>
          <a:prstGeom prst="rect">
            <a:avLst/>
          </a:prstGeom>
        </p:spPr>
      </p:pic>
      <p:sp>
        <p:nvSpPr>
          <p:cNvPr id="31" name="Text 22"/>
          <p:cNvSpPr/>
          <p:nvPr/>
        </p:nvSpPr>
        <p:spPr>
          <a:xfrm>
            <a:off x="3813302" y="4140101"/>
            <a:ext cx="674979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23705C"/>
                </a:solidFill>
                <a:latin typeface="DM Sans" pitchFamily="34" charset="0"/>
                <a:ea typeface="DM Sans" pitchFamily="34" charset="-122"/>
                <a:cs typeface="DM Sans" pitchFamily="34" charset="-120"/>
              </a:rPr>
              <a:t>The tutor observes each result and chooses its next step</a:t>
            </a:r>
            <a:endParaRPr lang="en-US" sz="1200" dirty="0"/>
          </a:p>
        </p:txBody>
      </p:sp>
      <p:sp>
        <p:nvSpPr>
          <p:cNvPr id="32" name="Text 23"/>
          <p:cNvSpPr/>
          <p:nvPr/>
        </p:nvSpPr>
        <p:spPr>
          <a:xfrm>
            <a:off x="812800" y="4762401"/>
            <a:ext cx="1937246"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E6A65"/>
                </a:solidFill>
                <a:latin typeface="DM Sans" pitchFamily="34" charset="0"/>
                <a:ea typeface="DM Sans" pitchFamily="34" charset="-122"/>
                <a:cs typeface="DM Sans" pitchFamily="34" charset="-120"/>
              </a:rPr>
              <a:t>AUTHORIZED TOOLS</a:t>
            </a:r>
            <a:endParaRPr lang="en-US" sz="1200" dirty="0"/>
          </a:p>
        </p:txBody>
      </p:sp>
      <p:sp>
        <p:nvSpPr>
          <p:cNvPr id="33" name="Text 24"/>
          <p:cNvSpPr/>
          <p:nvPr/>
        </p:nvSpPr>
        <p:spPr>
          <a:xfrm>
            <a:off x="2750046" y="4698901"/>
            <a:ext cx="1519337" cy="340320"/>
          </a:xfrm>
          <a:prstGeom prst="roundRect">
            <a:avLst>
              <a:gd name="adj" fmla="val 50000"/>
            </a:avLst>
          </a:prstGeom>
          <a:solidFill>
            <a:srgbClr val="DCEDE3"/>
          </a:solidFill>
          <a:ln/>
        </p:spPr>
        <p:txBody>
          <a:bodyPr wrap="none" lIns="0" tIns="0" rIns="0" bIns="0" rtlCol="0" anchor="ctr">
            <a:normAutofit/>
          </a:bodyPr>
          <a:lstStyle/>
          <a:p>
            <a:pPr marL="0" indent="0" algn="ctr">
              <a:lnSpc>
                <a:spcPts val="1680"/>
              </a:lnSpc>
              <a:buNone/>
            </a:pPr>
            <a:r>
              <a:rPr lang="en-US" sz="1200" b="1" dirty="0">
                <a:solidFill>
                  <a:srgbClr val="143B31"/>
                </a:solidFill>
                <a:latin typeface="DM Sans" pitchFamily="34" charset="0"/>
                <a:ea typeface="DM Sans" pitchFamily="34" charset="-122"/>
                <a:cs typeface="DM Sans" pitchFamily="34" charset="-120"/>
              </a:rPr>
              <a:t>Content retrieval</a:t>
            </a:r>
            <a:endParaRPr lang="en-US" sz="1200" dirty="0"/>
          </a:p>
        </p:txBody>
      </p:sp>
      <p:sp>
        <p:nvSpPr>
          <p:cNvPr id="34" name="Text 25"/>
          <p:cNvSpPr/>
          <p:nvPr/>
        </p:nvSpPr>
        <p:spPr>
          <a:xfrm>
            <a:off x="4358283" y="4698901"/>
            <a:ext cx="885627" cy="340320"/>
          </a:xfrm>
          <a:prstGeom prst="roundRect">
            <a:avLst>
              <a:gd name="adj" fmla="val 50000"/>
            </a:avLst>
          </a:prstGeom>
          <a:solidFill>
            <a:srgbClr val="DCEDE3"/>
          </a:solidFill>
          <a:ln/>
        </p:spPr>
        <p:txBody>
          <a:bodyPr wrap="none" lIns="0" tIns="0" rIns="0" bIns="0" rtlCol="0" anchor="ctr">
            <a:normAutofit/>
          </a:bodyPr>
          <a:lstStyle/>
          <a:p>
            <a:pPr marL="0" indent="0" algn="ctr">
              <a:lnSpc>
                <a:spcPts val="1680"/>
              </a:lnSpc>
              <a:buNone/>
            </a:pPr>
            <a:r>
              <a:rPr lang="en-US" sz="1200" b="1" dirty="0">
                <a:solidFill>
                  <a:srgbClr val="143B31"/>
                </a:solidFill>
                <a:latin typeface="DM Sans" pitchFamily="34" charset="0"/>
                <a:ea typeface="DM Sans" pitchFamily="34" charset="-122"/>
                <a:cs typeface="DM Sans" pitchFamily="34" charset="-120"/>
              </a:rPr>
              <a:t>Tutoring</a:t>
            </a:r>
            <a:endParaRPr lang="en-US" sz="1200" dirty="0"/>
          </a:p>
        </p:txBody>
      </p:sp>
      <p:sp>
        <p:nvSpPr>
          <p:cNvPr id="35" name="Text 26"/>
          <p:cNvSpPr/>
          <p:nvPr/>
        </p:nvSpPr>
        <p:spPr>
          <a:xfrm>
            <a:off x="5332809" y="4698901"/>
            <a:ext cx="1035844" cy="340320"/>
          </a:xfrm>
          <a:prstGeom prst="roundRect">
            <a:avLst>
              <a:gd name="adj" fmla="val 50000"/>
            </a:avLst>
          </a:prstGeom>
          <a:solidFill>
            <a:srgbClr val="DCEDE3"/>
          </a:solidFill>
          <a:ln/>
        </p:spPr>
        <p:txBody>
          <a:bodyPr wrap="none" lIns="0" tIns="0" rIns="0" bIns="0" rtlCol="0" anchor="ctr">
            <a:normAutofit/>
          </a:bodyPr>
          <a:lstStyle/>
          <a:p>
            <a:pPr marL="0" indent="0" algn="ctr">
              <a:lnSpc>
                <a:spcPts val="1680"/>
              </a:lnSpc>
              <a:buNone/>
            </a:pPr>
            <a:r>
              <a:rPr lang="en-US" sz="1200" b="1" dirty="0">
                <a:solidFill>
                  <a:srgbClr val="143B31"/>
                </a:solidFill>
                <a:latin typeface="DM Sans" pitchFamily="34" charset="0"/>
                <a:ea typeface="DM Sans" pitchFamily="34" charset="-122"/>
                <a:cs typeface="DM Sans" pitchFamily="34" charset="-120"/>
              </a:rPr>
              <a:t>Evaluation</a:t>
            </a:r>
            <a:endParaRPr lang="en-US" sz="1200" dirty="0"/>
          </a:p>
        </p:txBody>
      </p:sp>
      <p:sp>
        <p:nvSpPr>
          <p:cNvPr id="36" name="Text 27"/>
          <p:cNvSpPr/>
          <p:nvPr/>
        </p:nvSpPr>
        <p:spPr>
          <a:xfrm>
            <a:off x="6457553" y="4698901"/>
            <a:ext cx="1696740" cy="340320"/>
          </a:xfrm>
          <a:prstGeom prst="roundRect">
            <a:avLst>
              <a:gd name="adj" fmla="val 50000"/>
            </a:avLst>
          </a:prstGeom>
          <a:solidFill>
            <a:srgbClr val="DCEDE3"/>
          </a:solidFill>
          <a:ln/>
        </p:spPr>
        <p:txBody>
          <a:bodyPr wrap="none" lIns="0" tIns="0" rIns="0" bIns="0" rtlCol="0" anchor="ctr">
            <a:normAutofit/>
          </a:bodyPr>
          <a:lstStyle/>
          <a:p>
            <a:pPr marL="0" indent="0" algn="ctr">
              <a:lnSpc>
                <a:spcPts val="1680"/>
              </a:lnSpc>
              <a:buNone/>
            </a:pPr>
            <a:r>
              <a:rPr lang="en-US" sz="1200" b="1" dirty="0">
                <a:solidFill>
                  <a:srgbClr val="143B31"/>
                </a:solidFill>
                <a:latin typeface="DM Sans" pitchFamily="34" charset="0"/>
                <a:ea typeface="DM Sans" pitchFamily="34" charset="-122"/>
                <a:cs typeface="DM Sans" pitchFamily="34" charset="-120"/>
              </a:rPr>
              <a:t>Evidence recording</a:t>
            </a:r>
            <a:endParaRPr lang="en-US" sz="1200" dirty="0"/>
          </a:p>
        </p:txBody>
      </p:sp>
      <p:sp>
        <p:nvSpPr>
          <p:cNvPr id="37" name="Text 28"/>
          <p:cNvSpPr/>
          <p:nvPr/>
        </p:nvSpPr>
        <p:spPr>
          <a:xfrm>
            <a:off x="8243193" y="4698901"/>
            <a:ext cx="1648817" cy="340320"/>
          </a:xfrm>
          <a:prstGeom prst="roundRect">
            <a:avLst>
              <a:gd name="adj" fmla="val 50000"/>
            </a:avLst>
          </a:prstGeom>
          <a:solidFill>
            <a:srgbClr val="DCEDE3"/>
          </a:solidFill>
          <a:ln/>
        </p:spPr>
        <p:txBody>
          <a:bodyPr wrap="none" lIns="0" tIns="0" rIns="0" bIns="0" rtlCol="0" anchor="ctr">
            <a:normAutofit/>
          </a:bodyPr>
          <a:lstStyle/>
          <a:p>
            <a:pPr marL="0" indent="0" algn="ctr">
              <a:lnSpc>
                <a:spcPts val="1680"/>
              </a:lnSpc>
              <a:buNone/>
            </a:pPr>
            <a:r>
              <a:rPr lang="en-US" sz="1200" b="1" dirty="0">
                <a:solidFill>
                  <a:srgbClr val="143B31"/>
                </a:solidFill>
                <a:latin typeface="DM Sans" pitchFamily="34" charset="0"/>
                <a:ea typeface="DM Sans" pitchFamily="34" charset="-122"/>
                <a:cs typeface="DM Sans" pitchFamily="34" charset="-120"/>
              </a:rPr>
              <a:t>Intervention drafts</a:t>
            </a:r>
            <a:endParaRPr lang="en-US" sz="1200" dirty="0"/>
          </a:p>
        </p:txBody>
      </p:sp>
      <p:sp>
        <p:nvSpPr>
          <p:cNvPr id="40" name="Text 31"/>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A65"/>
                </a:solidFill>
                <a:latin typeface="DM Sans" pitchFamily="34" charset="0"/>
                <a:ea typeface="DM Sans" pitchFamily="34" charset="-122"/>
                <a:cs typeface="DM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3705C"/>
                </a:solidFill>
                <a:latin typeface="DM Sans" pitchFamily="34" charset="0"/>
                <a:ea typeface="DM Sans" pitchFamily="34" charset="-122"/>
                <a:cs typeface="DM Sans" pitchFamily="34" charset="-120"/>
              </a:rPr>
              <a:t>STEP 3 · TEACHER INVESTIGATES AND RESPONDS</a:t>
            </a:r>
            <a:endParaRPr lang="en-US" sz="1200" dirty="0"/>
          </a:p>
        </p:txBody>
      </p:sp>
      <p:sp>
        <p:nvSpPr>
          <p:cNvPr id="3" name="Text 1"/>
          <p:cNvSpPr>
            <a:spLocks noGrp="1"/>
          </p:cNvSpPr>
          <p:nvPr>
            <p:ph type="title"/>
          </p:nvPr>
        </p:nvSpPr>
        <p:spPr>
          <a:xfrm>
            <a:off x="812800" y="10261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0" i="0" kern="0" spc="-25" dirty="0">
                <a:solidFill>
                  <a:srgbClr val="1B2420"/>
                </a:solidFill>
                <a:latin typeface="Newsreader" pitchFamily="18" charset="0"/>
                <a:ea typeface="Newsreader" pitchFamily="18" charset="-122"/>
                <a:cs typeface="Newsreader" pitchFamily="18" charset="-120"/>
              </a:rPr>
              <a:t>The professor sees how students reasoned</a:t>
            </a:r>
            <a:endParaRPr lang="en-US" sz="3200" dirty="0"/>
          </a:p>
        </p:txBody>
      </p:sp>
      <p:sp>
        <p:nvSpPr>
          <p:cNvPr id="4" name="Text 2"/>
          <p:cNvSpPr/>
          <p:nvPr/>
        </p:nvSpPr>
        <p:spPr>
          <a:xfrm>
            <a:off x="812800" y="1727101"/>
            <a:ext cx="3924300"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23705C"/>
                </a:solidFill>
                <a:latin typeface="DM Sans" pitchFamily="34" charset="0"/>
                <a:ea typeface="DM Sans" pitchFamily="34" charset="-122"/>
                <a:cs typeface="DM Sans" pitchFamily="34" charset="-120"/>
              </a:rPr>
              <a:t>1</a:t>
            </a:r>
            <a:r>
              <a:rPr lang="en-US" sz="1500" b="1" dirty="0">
                <a:solidFill>
                  <a:srgbClr val="1B2420"/>
                </a:solidFill>
                <a:latin typeface="DM Sans" pitchFamily="34" charset="0"/>
                <a:ea typeface="DM Sans" pitchFamily="34" charset="-122"/>
                <a:cs typeface="DM Sans" pitchFamily="34" charset="-120"/>
              </a:rPr>
              <a:t> See the class</a:t>
            </a:r>
            <a:endParaRPr lang="en-US" sz="1500" dirty="0"/>
          </a:p>
        </p:txBody>
      </p:sp>
      <p:sp>
        <p:nvSpPr>
          <p:cNvPr id="5" name="Shape 3"/>
          <p:cNvSpPr/>
          <p:nvPr/>
        </p:nvSpPr>
        <p:spPr>
          <a:xfrm>
            <a:off x="812800" y="2101751"/>
            <a:ext cx="3810000" cy="2857500"/>
          </a:xfrm>
          <a:prstGeom prst="roundRect">
            <a:avLst>
              <a:gd name="adj" fmla="val 3556"/>
            </a:avLst>
          </a:prstGeom>
          <a:solidFill>
            <a:srgbClr val="FFFFFF"/>
          </a:solidFill>
          <a:ln/>
          <a:effectLst>
            <a:outerShdw blurRad="203200" dist="50800" dir="5400000" algn="bl" rotWithShape="0">
              <a:srgbClr val="143B31">
                <a:alpha val="12000"/>
              </a:srgbClr>
            </a:outerShdw>
          </a:effectLst>
        </p:spPr>
        <p:txBody>
          <a:bodyPr/>
          <a:lstStyle/>
          <a:p>
            <a:endParaRPr lang="en-US"/>
          </a:p>
        </p:txBody>
      </p:sp>
      <p:pic>
        <p:nvPicPr>
          <p:cNvPr id="6" name="Image 0" descr="Roster: each student’s responses on transmission and propagation delay, with markers for help shown before submission"/>
          <p:cNvPicPr>
            <a:picLocks noChangeAspect="1"/>
          </p:cNvPicPr>
          <p:nvPr/>
        </p:nvPicPr>
        <p:blipFill>
          <a:blip r:embed="rId3"/>
          <a:srcRect/>
          <a:stretch/>
        </p:blipFill>
        <p:spPr>
          <a:xfrm>
            <a:off x="812800" y="2713676"/>
            <a:ext cx="3810000" cy="1633650"/>
          </a:xfrm>
          <a:prstGeom prst="rect">
            <a:avLst/>
          </a:prstGeom>
        </p:spPr>
      </p:pic>
      <p:sp>
        <p:nvSpPr>
          <p:cNvPr id="7" name="Text 4"/>
          <p:cNvSpPr/>
          <p:nvPr/>
        </p:nvSpPr>
        <p:spPr>
          <a:xfrm>
            <a:off x="812800" y="5086251"/>
            <a:ext cx="39243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B5853"/>
                </a:solidFill>
                <a:latin typeface="DM Sans" pitchFamily="34" charset="0"/>
                <a:ea typeface="DM Sans" pitchFamily="34" charset="-122"/>
                <a:cs typeface="DM Sans" pitchFamily="34" charset="-120"/>
              </a:rPr>
              <a:t>Every student’s attempts on every idea, including answers given after help.</a:t>
            </a:r>
            <a:endParaRPr lang="en-US" sz="1200" dirty="0"/>
          </a:p>
        </p:txBody>
      </p:sp>
      <p:sp>
        <p:nvSpPr>
          <p:cNvPr id="8" name="Text 5"/>
          <p:cNvSpPr/>
          <p:nvPr/>
        </p:nvSpPr>
        <p:spPr>
          <a:xfrm>
            <a:off x="4927600" y="1727101"/>
            <a:ext cx="3924300"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23705C"/>
                </a:solidFill>
                <a:latin typeface="DM Sans" pitchFamily="34" charset="0"/>
                <a:ea typeface="DM Sans" pitchFamily="34" charset="-122"/>
                <a:cs typeface="DM Sans" pitchFamily="34" charset="-120"/>
              </a:rPr>
              <a:t>2</a:t>
            </a:r>
            <a:r>
              <a:rPr lang="en-US" sz="1500" b="1" dirty="0">
                <a:solidFill>
                  <a:srgbClr val="1B2420"/>
                </a:solidFill>
                <a:latin typeface="DM Sans" pitchFamily="34" charset="0"/>
                <a:ea typeface="DM Sans" pitchFamily="34" charset="-122"/>
                <a:cs typeface="DM Sans" pitchFamily="34" charset="-120"/>
              </a:rPr>
              <a:t> Read the reasoning</a:t>
            </a:r>
            <a:endParaRPr lang="en-US" sz="1500" dirty="0"/>
          </a:p>
        </p:txBody>
      </p:sp>
      <p:sp>
        <p:nvSpPr>
          <p:cNvPr id="9" name="Shape 6"/>
          <p:cNvSpPr/>
          <p:nvPr/>
        </p:nvSpPr>
        <p:spPr>
          <a:xfrm>
            <a:off x="4927600" y="2101751"/>
            <a:ext cx="3810000" cy="2857500"/>
          </a:xfrm>
          <a:prstGeom prst="roundRect">
            <a:avLst>
              <a:gd name="adj" fmla="val 3556"/>
            </a:avLst>
          </a:prstGeom>
          <a:solidFill>
            <a:srgbClr val="FFFFFF"/>
          </a:solidFill>
          <a:ln/>
          <a:effectLst>
            <a:outerShdw blurRad="203200" dist="50800" dir="5400000" algn="bl" rotWithShape="0">
              <a:srgbClr val="143B31">
                <a:alpha val="12000"/>
              </a:srgbClr>
            </a:outerShdw>
          </a:effectLst>
        </p:spPr>
        <p:txBody>
          <a:bodyPr/>
          <a:lstStyle/>
          <a:p>
            <a:endParaRPr lang="en-US"/>
          </a:p>
        </p:txBody>
      </p:sp>
      <p:pic>
        <p:nvPicPr>
          <p:cNvPr id="10" name="Image 1" descr="Original student work for Zoe Mitchell: the question, her response preserved as submitted, the Prepare from this response button and the accepted evaluation"/>
          <p:cNvPicPr>
            <a:picLocks noChangeAspect="1"/>
          </p:cNvPicPr>
          <p:nvPr/>
        </p:nvPicPr>
        <p:blipFill>
          <a:blip r:embed="rId4"/>
          <a:srcRect/>
          <a:stretch/>
        </p:blipFill>
        <p:spPr>
          <a:xfrm>
            <a:off x="5087345" y="2101751"/>
            <a:ext cx="3490510" cy="2857500"/>
          </a:xfrm>
          <a:prstGeom prst="rect">
            <a:avLst/>
          </a:prstGeom>
        </p:spPr>
      </p:pic>
      <p:sp>
        <p:nvSpPr>
          <p:cNvPr id="11" name="Text 7"/>
          <p:cNvSpPr/>
          <p:nvPr/>
        </p:nvSpPr>
        <p:spPr>
          <a:xfrm>
            <a:off x="4927600" y="5086251"/>
            <a:ext cx="39243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B5853"/>
                </a:solidFill>
                <a:latin typeface="DM Sans" pitchFamily="34" charset="0"/>
                <a:ea typeface="DM Sans" pitchFamily="34" charset="-122"/>
                <a:cs typeface="DM Sans" pitchFamily="34" charset="-120"/>
              </a:rPr>
              <a:t>The original words, preserved as submitted, with the accepted evaluation.</a:t>
            </a:r>
            <a:endParaRPr lang="en-US" sz="1200" dirty="0"/>
          </a:p>
        </p:txBody>
      </p:sp>
      <p:sp>
        <p:nvSpPr>
          <p:cNvPr id="12" name="Text 8"/>
          <p:cNvSpPr/>
          <p:nvPr/>
        </p:nvSpPr>
        <p:spPr>
          <a:xfrm>
            <a:off x="9042400" y="1727101"/>
            <a:ext cx="2406904"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23705C"/>
                </a:solidFill>
                <a:latin typeface="DM Sans" pitchFamily="34" charset="0"/>
                <a:ea typeface="DM Sans" pitchFamily="34" charset="-122"/>
                <a:cs typeface="DM Sans" pitchFamily="34" charset="-120"/>
              </a:rPr>
              <a:t>3</a:t>
            </a:r>
            <a:r>
              <a:rPr lang="en-US" sz="1500" b="1" dirty="0">
                <a:solidFill>
                  <a:srgbClr val="1B2420"/>
                </a:solidFill>
                <a:latin typeface="DM Sans" pitchFamily="34" charset="0"/>
                <a:ea typeface="DM Sans" pitchFamily="34" charset="-122"/>
                <a:cs typeface="DM Sans" pitchFamily="34" charset="-120"/>
              </a:rPr>
              <a:t> Prepare a follow-up</a:t>
            </a:r>
            <a:endParaRPr lang="en-US" sz="1500" dirty="0"/>
          </a:p>
        </p:txBody>
      </p:sp>
      <p:sp>
        <p:nvSpPr>
          <p:cNvPr id="13" name="Shape 9"/>
          <p:cNvSpPr/>
          <p:nvPr/>
        </p:nvSpPr>
        <p:spPr>
          <a:xfrm>
            <a:off x="9042400" y="2101751"/>
            <a:ext cx="2336800" cy="2857500"/>
          </a:xfrm>
          <a:prstGeom prst="roundRect">
            <a:avLst>
              <a:gd name="adj" fmla="val 4348"/>
            </a:avLst>
          </a:prstGeom>
          <a:solidFill>
            <a:srgbClr val="F5F8F6"/>
          </a:solidFill>
          <a:ln/>
          <a:effectLst>
            <a:outerShdw blurRad="203200" dist="50800" dir="5400000" algn="bl" rotWithShape="0">
              <a:srgbClr val="143B31">
                <a:alpha val="12000"/>
              </a:srgbClr>
            </a:outerShdw>
          </a:effectLst>
        </p:spPr>
        <p:txBody>
          <a:bodyPr/>
          <a:lstStyle/>
          <a:p>
            <a:endParaRPr lang="en-US"/>
          </a:p>
        </p:txBody>
      </p:sp>
      <p:pic>
        <p:nvPicPr>
          <p:cNvPr id="14" name="Image 2" descr="Intervention steps: choose the answers, save a private draft, choose students, teacher approves the revision, deliver with separate approval, read follow-up answers"/>
          <p:cNvPicPr>
            <a:picLocks noChangeAspect="1"/>
          </p:cNvPicPr>
          <p:nvPr/>
        </p:nvPicPr>
        <p:blipFill>
          <a:blip r:embed="rId5"/>
          <a:srcRect/>
          <a:stretch/>
        </p:blipFill>
        <p:spPr>
          <a:xfrm>
            <a:off x="9074150" y="2222401"/>
            <a:ext cx="2273300" cy="2616200"/>
          </a:xfrm>
          <a:prstGeom prst="rect">
            <a:avLst/>
          </a:prstGeom>
        </p:spPr>
      </p:pic>
      <p:sp>
        <p:nvSpPr>
          <p:cNvPr id="15" name="Text 10"/>
          <p:cNvSpPr/>
          <p:nvPr/>
        </p:nvSpPr>
        <p:spPr>
          <a:xfrm>
            <a:off x="9042400" y="5086251"/>
            <a:ext cx="2406904"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B5853"/>
                </a:solidFill>
                <a:latin typeface="DM Sans" pitchFamily="34" charset="0"/>
                <a:ea typeface="DM Sans" pitchFamily="34" charset="-122"/>
                <a:cs typeface="DM Sans" pitchFamily="34" charset="-120"/>
              </a:rPr>
              <a:t>AI helps draft practice. Students see it only after the teacher approves.</a:t>
            </a:r>
            <a:endParaRPr lang="en-US" sz="1200" dirty="0"/>
          </a:p>
        </p:txBody>
      </p:sp>
      <p:sp>
        <p:nvSpPr>
          <p:cNvPr id="17" name="Text 12"/>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A65"/>
                </a:solidFill>
                <a:latin typeface="DM Sans" pitchFamily="34" charset="0"/>
                <a:ea typeface="DM Sans" pitchFamily="34" charset="-122"/>
                <a:cs typeface="DM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711200"/>
            <a:ext cx="2982468"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3705C"/>
                </a:solidFill>
                <a:latin typeface="DM Sans" pitchFamily="34" charset="0"/>
                <a:ea typeface="DM Sans" pitchFamily="34" charset="-122"/>
                <a:cs typeface="DM Sans" pitchFamily="34" charset="-120"/>
              </a:rPr>
              <a:t>PRODUCT DEMO</a:t>
            </a:r>
            <a:endParaRPr lang="en-US" sz="1200" dirty="0"/>
          </a:p>
        </p:txBody>
      </p:sp>
      <p:sp>
        <p:nvSpPr>
          <p:cNvPr id="3" name="Text 1"/>
          <p:cNvSpPr>
            <a:spLocks noGrp="1"/>
          </p:cNvSpPr>
          <p:nvPr>
            <p:ph type="title"/>
          </p:nvPr>
        </p:nvSpPr>
        <p:spPr>
          <a:xfrm>
            <a:off x="812800" y="1026120"/>
            <a:ext cx="2982468" cy="472380"/>
          </a:xfrm>
          <a:prstGeom prst="rect">
            <a:avLst/>
          </a:prstGeom>
          <a:noFill/>
          <a:ln/>
        </p:spPr>
        <p:txBody>
          <a:bodyPr wrap="square" lIns="0" tIns="0" rIns="0" bIns="0" rtlCol="0" anchor="t">
            <a:normAutofit/>
          </a:bodyPr>
          <a:lstStyle/>
          <a:p>
            <a:pPr marL="0" indent="0" algn="l">
              <a:lnSpc>
                <a:spcPts val="3520"/>
              </a:lnSpc>
              <a:buNone/>
            </a:pPr>
            <a:r>
              <a:rPr lang="en-US" sz="3200" b="0" i="0" kern="0" spc="-25" dirty="0">
                <a:solidFill>
                  <a:srgbClr val="1B2420"/>
                </a:solidFill>
                <a:latin typeface="Newsreader" pitchFamily="18" charset="0"/>
                <a:ea typeface="Newsreader" pitchFamily="18" charset="-122"/>
                <a:cs typeface="Newsreader" pitchFamily="18" charset="-120"/>
              </a:rPr>
              <a:t>See it in action</a:t>
            </a:r>
            <a:endParaRPr lang="en-US" sz="3200" dirty="0"/>
          </a:p>
        </p:txBody>
      </p:sp>
      <p:sp>
        <p:nvSpPr>
          <p:cNvPr id="4" name="Text 2"/>
          <p:cNvSpPr/>
          <p:nvPr/>
        </p:nvSpPr>
        <p:spPr>
          <a:xfrm>
            <a:off x="812800" y="1777901"/>
            <a:ext cx="508000" cy="292100"/>
          </a:xfrm>
          <a:prstGeom prst="rect">
            <a:avLst/>
          </a:prstGeom>
          <a:noFill/>
          <a:ln/>
        </p:spPr>
        <p:txBody>
          <a:bodyPr wrap="square" lIns="0" tIns="0" rIns="0" bIns="0" rtlCol="0" anchor="t">
            <a:normAutofit/>
          </a:bodyPr>
          <a:lstStyle/>
          <a:p>
            <a:pPr marL="0" indent="0" algn="l">
              <a:lnSpc>
                <a:spcPts val="2100"/>
              </a:lnSpc>
              <a:buNone/>
            </a:pPr>
            <a:r>
              <a:rPr lang="en-US" sz="1200" b="1" dirty="0">
                <a:solidFill>
                  <a:srgbClr val="23705C"/>
                </a:solidFill>
                <a:latin typeface="DM Sans" pitchFamily="34" charset="0"/>
                <a:ea typeface="DM Sans" pitchFamily="34" charset="-122"/>
                <a:cs typeface="DM Sans" pitchFamily="34" charset="-120"/>
              </a:rPr>
              <a:t>0:17</a:t>
            </a:r>
            <a:endParaRPr lang="en-US" sz="1200" dirty="0"/>
          </a:p>
        </p:txBody>
      </p:sp>
      <p:sp>
        <p:nvSpPr>
          <p:cNvPr id="5" name="Text 3"/>
          <p:cNvSpPr/>
          <p:nvPr/>
        </p:nvSpPr>
        <p:spPr>
          <a:xfrm>
            <a:off x="1371600" y="1777901"/>
            <a:ext cx="240690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420"/>
                </a:solidFill>
                <a:latin typeface="DM Sans" pitchFamily="34" charset="0"/>
                <a:ea typeface="DM Sans" pitchFamily="34" charset="-122"/>
                <a:cs typeface="DM Sans" pitchFamily="34" charset="-120"/>
              </a:rPr>
              <a:t>The teacher builds and approves the lesson</a:t>
            </a:r>
            <a:endParaRPr lang="en-US" sz="1500" dirty="0"/>
          </a:p>
        </p:txBody>
      </p:sp>
      <p:sp>
        <p:nvSpPr>
          <p:cNvPr id="6" name="Text 4"/>
          <p:cNvSpPr/>
          <p:nvPr/>
        </p:nvSpPr>
        <p:spPr>
          <a:xfrm>
            <a:off x="812800" y="2489101"/>
            <a:ext cx="508000" cy="292100"/>
          </a:xfrm>
          <a:prstGeom prst="rect">
            <a:avLst/>
          </a:prstGeom>
          <a:noFill/>
          <a:ln/>
        </p:spPr>
        <p:txBody>
          <a:bodyPr wrap="square" lIns="0" tIns="0" rIns="0" bIns="0" rtlCol="0" anchor="t">
            <a:normAutofit/>
          </a:bodyPr>
          <a:lstStyle/>
          <a:p>
            <a:pPr marL="0" indent="0" algn="l">
              <a:lnSpc>
                <a:spcPts val="2100"/>
              </a:lnSpc>
              <a:buNone/>
            </a:pPr>
            <a:r>
              <a:rPr lang="en-US" sz="1200" b="1" dirty="0">
                <a:solidFill>
                  <a:srgbClr val="23705C"/>
                </a:solidFill>
                <a:latin typeface="DM Sans" pitchFamily="34" charset="0"/>
                <a:ea typeface="DM Sans" pitchFamily="34" charset="-122"/>
                <a:cs typeface="DM Sans" pitchFamily="34" charset="-120"/>
              </a:rPr>
              <a:t>1:17</a:t>
            </a:r>
            <a:endParaRPr lang="en-US" sz="1200" dirty="0"/>
          </a:p>
        </p:txBody>
      </p:sp>
      <p:sp>
        <p:nvSpPr>
          <p:cNvPr id="7" name="Text 5"/>
          <p:cNvSpPr/>
          <p:nvPr/>
        </p:nvSpPr>
        <p:spPr>
          <a:xfrm>
            <a:off x="1371600" y="2489101"/>
            <a:ext cx="2406904" cy="558800"/>
          </a:xfrm>
          <a:prstGeom prst="rect">
            <a:avLst/>
          </a:prstGeom>
          <a:noFill/>
          <a:ln/>
        </p:spPr>
        <p:txBody>
          <a:bodyPr wrap="square" lIns="0" tIns="0" rIns="0" bIns="0" rtlCol="0" anchor="t">
            <a:normAutofit fontScale="92500"/>
          </a:bodyPr>
          <a:lstStyle/>
          <a:p>
            <a:pPr marL="0" indent="0" algn="l">
              <a:lnSpc>
                <a:spcPts val="2100"/>
              </a:lnSpc>
              <a:buNone/>
            </a:pPr>
            <a:r>
              <a:rPr lang="en-US" sz="1500" dirty="0">
                <a:solidFill>
                  <a:srgbClr val="1B2420"/>
                </a:solidFill>
                <a:latin typeface="DM Sans" pitchFamily="34" charset="0"/>
                <a:ea typeface="DM Sans" pitchFamily="34" charset="-122"/>
                <a:cs typeface="DM Sans" pitchFamily="34" charset="-120"/>
              </a:rPr>
              <a:t>Two students take different paths with the tutor</a:t>
            </a:r>
            <a:endParaRPr lang="en-US" sz="1500" dirty="0"/>
          </a:p>
        </p:txBody>
      </p:sp>
      <p:sp>
        <p:nvSpPr>
          <p:cNvPr id="8" name="Text 6"/>
          <p:cNvSpPr/>
          <p:nvPr/>
        </p:nvSpPr>
        <p:spPr>
          <a:xfrm>
            <a:off x="812800" y="3416300"/>
            <a:ext cx="508000" cy="292100"/>
          </a:xfrm>
          <a:prstGeom prst="rect">
            <a:avLst/>
          </a:prstGeom>
          <a:noFill/>
          <a:ln/>
        </p:spPr>
        <p:txBody>
          <a:bodyPr wrap="square" lIns="0" tIns="0" rIns="0" bIns="0" rtlCol="0" anchor="t">
            <a:normAutofit/>
          </a:bodyPr>
          <a:lstStyle/>
          <a:p>
            <a:pPr marL="0" indent="0" algn="l">
              <a:lnSpc>
                <a:spcPts val="2100"/>
              </a:lnSpc>
              <a:buNone/>
            </a:pPr>
            <a:r>
              <a:rPr lang="en-US" sz="1200" b="1" dirty="0">
                <a:solidFill>
                  <a:srgbClr val="23705C"/>
                </a:solidFill>
                <a:latin typeface="DM Sans" pitchFamily="34" charset="0"/>
                <a:ea typeface="DM Sans" pitchFamily="34" charset="-122"/>
                <a:cs typeface="DM Sans" pitchFamily="34" charset="-120"/>
              </a:rPr>
              <a:t>2:40</a:t>
            </a:r>
            <a:endParaRPr lang="en-US" sz="1200" dirty="0"/>
          </a:p>
        </p:txBody>
      </p:sp>
      <p:sp>
        <p:nvSpPr>
          <p:cNvPr id="9" name="Text 7"/>
          <p:cNvSpPr/>
          <p:nvPr/>
        </p:nvSpPr>
        <p:spPr>
          <a:xfrm>
            <a:off x="1371600" y="3429000"/>
            <a:ext cx="240690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420"/>
                </a:solidFill>
                <a:latin typeface="DM Sans" pitchFamily="34" charset="0"/>
                <a:ea typeface="DM Sans" pitchFamily="34" charset="-122"/>
                <a:cs typeface="DM Sans" pitchFamily="34" charset="-120"/>
              </a:rPr>
              <a:t>The teacher reads the evidence</a:t>
            </a:r>
            <a:endParaRPr lang="en-US" sz="1500" dirty="0"/>
          </a:p>
        </p:txBody>
      </p:sp>
      <p:sp>
        <p:nvSpPr>
          <p:cNvPr id="12" name="Text 9"/>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A65"/>
                </a:solidFill>
                <a:latin typeface="DM Sans" pitchFamily="34" charset="0"/>
                <a:ea typeface="DM Sans" pitchFamily="34" charset="-122"/>
                <a:cs typeface="DM Sans" pitchFamily="34" charset="-120"/>
              </a:rPr>
              <a:t>10</a:t>
            </a:r>
            <a:endParaRPr lang="en-US" sz="1200" dirty="0"/>
          </a:p>
        </p:txBody>
      </p:sp>
      <p:pic>
        <p:nvPicPr>
          <p:cNvPr id="13" name="learning-pulse-demo">
            <a:hlinkClick r:id="" action="ppaction://media"/>
            <a:extLst>
              <a:ext uri="{FF2B5EF4-FFF2-40B4-BE49-F238E27FC236}">
                <a16:creationId xmlns:a16="http://schemas.microsoft.com/office/drawing/2014/main" id="{F6C2A4FA-4FC5-AC9E-0870-C4C7DD081B1C}"/>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205036" y="1026120"/>
            <a:ext cx="7565858" cy="4255795"/>
          </a:xfrm>
          <a:prstGeom prst="rect">
            <a:avLst/>
          </a:prstGeom>
          <a:solidFill>
            <a:srgbClr val="FFFFFF">
              <a:shade val="85000"/>
            </a:srgbClr>
          </a:solidFill>
          <a:ln w="88900" cap="sq">
            <a:solidFill>
              <a:srgbClr val="FFFFFF"/>
            </a:solidFill>
            <a:prstDash val="solid"/>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06733"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3"/>
                </p:tgtEl>
              </p:cMediaNode>
            </p:video>
            <p:seq concurrent="1" nextAc="seek">
              <p:cTn id="8" restart="whenNotActive" fill="hold" evtFilter="cancelBubble" nodeType="interactiveSeq">
                <p:stCondLst>
                  <p:cond evt="onClick" delay="0">
                    <p:tgtEl>
                      <p:spTgt spid="1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3"/>
                                        </p:tgtEl>
                                      </p:cBhvr>
                                    </p:cmd>
                                  </p:childTnLst>
                                </p:cTn>
                              </p:par>
                            </p:childTnLst>
                          </p:cTn>
                        </p:par>
                      </p:childTnLst>
                    </p:cTn>
                  </p:par>
                </p:childTnLst>
              </p:cTn>
              <p:nextCondLst>
                <p:cond evt="onClick" delay="0">
                  <p:tgtEl>
                    <p:spTgt spid="13"/>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DCEDE3"/>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3705C"/>
                </a:solidFill>
                <a:latin typeface="DM Sans" pitchFamily="34" charset="0"/>
                <a:ea typeface="DM Sans" pitchFamily="34" charset="-122"/>
                <a:cs typeface="DM Sans" pitchFamily="34" charset="-120"/>
              </a:rPr>
              <a:t>WHAT MAKES IT DIFFERENT</a:t>
            </a:r>
            <a:endParaRPr lang="en-US" sz="1200" dirty="0"/>
          </a:p>
        </p:txBody>
      </p:sp>
      <p:sp>
        <p:nvSpPr>
          <p:cNvPr id="3" name="Text 1"/>
          <p:cNvSpPr>
            <a:spLocks noGrp="1"/>
          </p:cNvSpPr>
          <p:nvPr>
            <p:ph type="title"/>
          </p:nvPr>
        </p:nvSpPr>
        <p:spPr>
          <a:xfrm>
            <a:off x="812800" y="10261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0" i="0" kern="0" spc="-25" dirty="0">
                <a:solidFill>
                  <a:srgbClr val="143B31"/>
                </a:solidFill>
                <a:latin typeface="Newsreader" pitchFamily="18" charset="0"/>
                <a:ea typeface="Newsreader" pitchFamily="18" charset="-122"/>
                <a:cs typeface="Newsreader" pitchFamily="18" charset="-120"/>
              </a:rPr>
              <a:t>From answering questions to improving instruction</a:t>
            </a:r>
            <a:endParaRPr lang="en-US" sz="3200" dirty="0"/>
          </a:p>
        </p:txBody>
      </p:sp>
      <p:sp>
        <p:nvSpPr>
          <p:cNvPr id="4" name="Shape 2"/>
          <p:cNvSpPr/>
          <p:nvPr/>
        </p:nvSpPr>
        <p:spPr>
          <a:xfrm>
            <a:off x="812800" y="2103140"/>
            <a:ext cx="3386634" cy="2895600"/>
          </a:xfrm>
          <a:prstGeom prst="roundRect">
            <a:avLst>
              <a:gd name="adj" fmla="val 5263"/>
            </a:avLst>
          </a:prstGeom>
          <a:solidFill>
            <a:srgbClr val="FCFBF7"/>
          </a:solidFill>
          <a:ln/>
        </p:spPr>
        <p:txBody>
          <a:bodyPr/>
          <a:lstStyle/>
          <a:p>
            <a:endParaRPr lang="en-US"/>
          </a:p>
        </p:txBody>
      </p:sp>
      <p:sp>
        <p:nvSpPr>
          <p:cNvPr id="5" name="Text 3"/>
          <p:cNvSpPr/>
          <p:nvPr/>
        </p:nvSpPr>
        <p:spPr>
          <a:xfrm>
            <a:off x="1117600" y="2407940"/>
            <a:ext cx="2860345" cy="431800"/>
          </a:xfrm>
          <a:prstGeom prst="rect">
            <a:avLst/>
          </a:prstGeom>
          <a:noFill/>
          <a:ln/>
        </p:spPr>
        <p:txBody>
          <a:bodyPr wrap="square" lIns="0" tIns="0" rIns="0" bIns="0" rtlCol="0" anchor="t">
            <a:normAutofit/>
          </a:bodyPr>
          <a:lstStyle/>
          <a:p>
            <a:pPr marL="0" indent="0" algn="l">
              <a:lnSpc>
                <a:spcPts val="3200"/>
              </a:lnSpc>
              <a:buNone/>
            </a:pPr>
            <a:r>
              <a:rPr lang="en-US" sz="3200" dirty="0">
                <a:solidFill>
                  <a:srgbClr val="23705C"/>
                </a:solidFill>
                <a:latin typeface="Newsreader" pitchFamily="18" charset="0"/>
                <a:ea typeface="Newsreader" pitchFamily="18" charset="-122"/>
                <a:cs typeface="Newsreader" pitchFamily="18" charset="-120"/>
              </a:rPr>
              <a:t>1</a:t>
            </a:r>
            <a:endParaRPr lang="en-US" sz="3200" dirty="0"/>
          </a:p>
        </p:txBody>
      </p:sp>
      <p:sp>
        <p:nvSpPr>
          <p:cNvPr id="6" name="Text 4"/>
          <p:cNvSpPr/>
          <p:nvPr/>
        </p:nvSpPr>
        <p:spPr>
          <a:xfrm>
            <a:off x="1117600" y="2915940"/>
            <a:ext cx="2860345" cy="6350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1B2420"/>
                </a:solidFill>
                <a:latin typeface="Newsreader" pitchFamily="18" charset="0"/>
                <a:ea typeface="Newsreader" pitchFamily="18" charset="-122"/>
                <a:cs typeface="Newsreader" pitchFamily="18" charset="-120"/>
              </a:rPr>
              <a:t>Reasoning, not just correctness</a:t>
            </a:r>
            <a:endParaRPr lang="en-US" sz="2000" dirty="0"/>
          </a:p>
        </p:txBody>
      </p:sp>
      <p:sp>
        <p:nvSpPr>
          <p:cNvPr id="7" name="Text 5"/>
          <p:cNvSpPr/>
          <p:nvPr/>
        </p:nvSpPr>
        <p:spPr>
          <a:xfrm>
            <a:off x="1117600" y="3627140"/>
            <a:ext cx="2860345" cy="10922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B5853"/>
                </a:solidFill>
                <a:latin typeface="DM Sans" pitchFamily="34" charset="0"/>
                <a:ea typeface="DM Sans" pitchFamily="34" charset="-122"/>
                <a:cs typeface="DM Sans" pitchFamily="34" charset="-120"/>
              </a:rPr>
              <a:t>Original answers, the help received and evaluations stay together, so professors can see what happened.</a:t>
            </a:r>
            <a:endParaRPr lang="en-US" sz="1500" dirty="0"/>
          </a:p>
        </p:txBody>
      </p:sp>
      <p:sp>
        <p:nvSpPr>
          <p:cNvPr id="8" name="Shape 6"/>
          <p:cNvSpPr/>
          <p:nvPr/>
        </p:nvSpPr>
        <p:spPr>
          <a:xfrm>
            <a:off x="4402634" y="2103140"/>
            <a:ext cx="3386733" cy="2895600"/>
          </a:xfrm>
          <a:prstGeom prst="roundRect">
            <a:avLst>
              <a:gd name="adj" fmla="val 5263"/>
            </a:avLst>
          </a:prstGeom>
          <a:solidFill>
            <a:srgbClr val="FCFBF7"/>
          </a:solidFill>
          <a:ln/>
        </p:spPr>
        <p:txBody>
          <a:bodyPr/>
          <a:lstStyle/>
          <a:p>
            <a:endParaRPr lang="en-US"/>
          </a:p>
        </p:txBody>
      </p:sp>
      <p:sp>
        <p:nvSpPr>
          <p:cNvPr id="9" name="Text 7"/>
          <p:cNvSpPr/>
          <p:nvPr/>
        </p:nvSpPr>
        <p:spPr>
          <a:xfrm>
            <a:off x="4707434" y="2407940"/>
            <a:ext cx="2860447" cy="431800"/>
          </a:xfrm>
          <a:prstGeom prst="rect">
            <a:avLst/>
          </a:prstGeom>
          <a:noFill/>
          <a:ln/>
        </p:spPr>
        <p:txBody>
          <a:bodyPr wrap="square" lIns="0" tIns="0" rIns="0" bIns="0" rtlCol="0" anchor="t">
            <a:normAutofit/>
          </a:bodyPr>
          <a:lstStyle/>
          <a:p>
            <a:pPr marL="0" indent="0" algn="l">
              <a:lnSpc>
                <a:spcPts val="3200"/>
              </a:lnSpc>
              <a:buNone/>
            </a:pPr>
            <a:r>
              <a:rPr lang="en-US" sz="3200" dirty="0">
                <a:solidFill>
                  <a:srgbClr val="23705C"/>
                </a:solidFill>
                <a:latin typeface="Newsreader" pitchFamily="18" charset="0"/>
                <a:ea typeface="Newsreader" pitchFamily="18" charset="-122"/>
                <a:cs typeface="Newsreader" pitchFamily="18" charset="-120"/>
              </a:rPr>
              <a:t>2</a:t>
            </a:r>
            <a:endParaRPr lang="en-US" sz="3200" dirty="0"/>
          </a:p>
        </p:txBody>
      </p:sp>
      <p:sp>
        <p:nvSpPr>
          <p:cNvPr id="10" name="Text 8"/>
          <p:cNvSpPr/>
          <p:nvPr/>
        </p:nvSpPr>
        <p:spPr>
          <a:xfrm>
            <a:off x="4707434" y="2915940"/>
            <a:ext cx="2860447" cy="6350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1B2420"/>
                </a:solidFill>
                <a:latin typeface="Newsreader" pitchFamily="18" charset="0"/>
                <a:ea typeface="Newsreader" pitchFamily="18" charset="-122"/>
                <a:cs typeface="Newsreader" pitchFamily="18" charset="-120"/>
              </a:rPr>
              <a:t>Grounded in approved material</a:t>
            </a:r>
            <a:endParaRPr lang="en-US" sz="2000" dirty="0"/>
          </a:p>
        </p:txBody>
      </p:sp>
      <p:sp>
        <p:nvSpPr>
          <p:cNvPr id="11" name="Text 9"/>
          <p:cNvSpPr/>
          <p:nvPr/>
        </p:nvSpPr>
        <p:spPr>
          <a:xfrm>
            <a:off x="4707434" y="3627140"/>
            <a:ext cx="2860447" cy="10922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B5853"/>
                </a:solidFill>
                <a:latin typeface="DM Sans" pitchFamily="34" charset="0"/>
                <a:ea typeface="DM Sans" pitchFamily="34" charset="-122"/>
                <a:cs typeface="DM Sans" pitchFamily="34" charset="-120"/>
              </a:rPr>
              <a:t>The tutor works from the instructor’s lesson version, and old work keeps its original source.</a:t>
            </a:r>
            <a:endParaRPr lang="en-US" sz="1500" dirty="0"/>
          </a:p>
        </p:txBody>
      </p:sp>
      <p:sp>
        <p:nvSpPr>
          <p:cNvPr id="12" name="Shape 10"/>
          <p:cNvSpPr/>
          <p:nvPr/>
        </p:nvSpPr>
        <p:spPr>
          <a:xfrm>
            <a:off x="7992566" y="2103140"/>
            <a:ext cx="3386634" cy="2895600"/>
          </a:xfrm>
          <a:prstGeom prst="roundRect">
            <a:avLst>
              <a:gd name="adj" fmla="val 5263"/>
            </a:avLst>
          </a:prstGeom>
          <a:solidFill>
            <a:srgbClr val="FCFBF7"/>
          </a:solidFill>
          <a:ln/>
        </p:spPr>
        <p:txBody>
          <a:bodyPr/>
          <a:lstStyle/>
          <a:p>
            <a:endParaRPr lang="en-US"/>
          </a:p>
        </p:txBody>
      </p:sp>
      <p:sp>
        <p:nvSpPr>
          <p:cNvPr id="13" name="Text 11"/>
          <p:cNvSpPr/>
          <p:nvPr/>
        </p:nvSpPr>
        <p:spPr>
          <a:xfrm>
            <a:off x="8297366" y="2407940"/>
            <a:ext cx="2860345" cy="431800"/>
          </a:xfrm>
          <a:prstGeom prst="rect">
            <a:avLst/>
          </a:prstGeom>
          <a:noFill/>
          <a:ln/>
        </p:spPr>
        <p:txBody>
          <a:bodyPr wrap="square" lIns="0" tIns="0" rIns="0" bIns="0" rtlCol="0" anchor="t">
            <a:normAutofit/>
          </a:bodyPr>
          <a:lstStyle/>
          <a:p>
            <a:pPr marL="0" indent="0" algn="l">
              <a:lnSpc>
                <a:spcPts val="3200"/>
              </a:lnSpc>
              <a:buNone/>
            </a:pPr>
            <a:r>
              <a:rPr lang="en-US" sz="3200" dirty="0">
                <a:solidFill>
                  <a:srgbClr val="23705C"/>
                </a:solidFill>
                <a:latin typeface="Newsreader" pitchFamily="18" charset="0"/>
                <a:ea typeface="Newsreader" pitchFamily="18" charset="-122"/>
                <a:cs typeface="Newsreader" pitchFamily="18" charset="-120"/>
              </a:rPr>
              <a:t>3</a:t>
            </a:r>
            <a:endParaRPr lang="en-US" sz="3200" dirty="0"/>
          </a:p>
        </p:txBody>
      </p:sp>
      <p:sp>
        <p:nvSpPr>
          <p:cNvPr id="14" name="Text 12"/>
          <p:cNvSpPr/>
          <p:nvPr/>
        </p:nvSpPr>
        <p:spPr>
          <a:xfrm>
            <a:off x="8297366" y="2915940"/>
            <a:ext cx="2860345" cy="6350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1B2420"/>
                </a:solidFill>
                <a:latin typeface="Newsreader" pitchFamily="18" charset="0"/>
                <a:ea typeface="Newsreader" pitchFamily="18" charset="-122"/>
                <a:cs typeface="Newsreader" pitchFamily="18" charset="-120"/>
              </a:rPr>
              <a:t>AI closes the loop, people decide</a:t>
            </a:r>
            <a:endParaRPr lang="en-US" sz="2000" dirty="0"/>
          </a:p>
        </p:txBody>
      </p:sp>
      <p:sp>
        <p:nvSpPr>
          <p:cNvPr id="15" name="Text 13"/>
          <p:cNvSpPr/>
          <p:nvPr/>
        </p:nvSpPr>
        <p:spPr>
          <a:xfrm>
            <a:off x="8297366" y="3627140"/>
            <a:ext cx="2860345"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B5853"/>
                </a:solidFill>
                <a:latin typeface="DM Sans" pitchFamily="34" charset="0"/>
                <a:ea typeface="DM Sans" pitchFamily="34" charset="-122"/>
                <a:cs typeface="DM Sans" pitchFamily="34" charset="-120"/>
              </a:rPr>
              <a:t>Student work informs teaching, and instructors approve every official instructional action.</a:t>
            </a:r>
            <a:endParaRPr lang="en-US" sz="1500" dirty="0"/>
          </a:p>
        </p:txBody>
      </p:sp>
      <p:sp>
        <p:nvSpPr>
          <p:cNvPr id="17" name="Text 15"/>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B5853"/>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3705C"/>
                </a:solidFill>
                <a:latin typeface="DM Sans" pitchFamily="34" charset="0"/>
                <a:ea typeface="DM Sans" pitchFamily="34" charset="-122"/>
                <a:cs typeface="DM Sans" pitchFamily="34" charset="-120"/>
              </a:rPr>
              <a:t>RESPONSIBLE AI</a:t>
            </a:r>
            <a:endParaRPr lang="en-US" sz="1200" dirty="0"/>
          </a:p>
        </p:txBody>
      </p:sp>
      <p:sp>
        <p:nvSpPr>
          <p:cNvPr id="3" name="Text 1"/>
          <p:cNvSpPr>
            <a:spLocks noGrp="1"/>
          </p:cNvSpPr>
          <p:nvPr>
            <p:ph type="title"/>
          </p:nvPr>
        </p:nvSpPr>
        <p:spPr>
          <a:xfrm>
            <a:off x="812800" y="10261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0" i="0" kern="0" spc="-25" dirty="0">
                <a:solidFill>
                  <a:srgbClr val="1B2420"/>
                </a:solidFill>
                <a:latin typeface="Newsreader" pitchFamily="18" charset="0"/>
                <a:ea typeface="Newsreader" pitchFamily="18" charset="-122"/>
                <a:cs typeface="Newsreader" pitchFamily="18" charset="-120"/>
              </a:rPr>
              <a:t>Responsible by design, honest about limits</a:t>
            </a:r>
            <a:endParaRPr lang="en-US" sz="3200" dirty="0"/>
          </a:p>
        </p:txBody>
      </p:sp>
      <p:sp>
        <p:nvSpPr>
          <p:cNvPr id="4" name="Shape 2"/>
          <p:cNvSpPr/>
          <p:nvPr/>
        </p:nvSpPr>
        <p:spPr>
          <a:xfrm>
            <a:off x="812800" y="1755180"/>
            <a:ext cx="3386634" cy="3474641"/>
          </a:xfrm>
          <a:prstGeom prst="roundRect">
            <a:avLst>
              <a:gd name="adj" fmla="val 4500"/>
            </a:avLst>
          </a:prstGeom>
          <a:solidFill>
            <a:srgbClr val="FCFBF7"/>
          </a:solidFill>
          <a:ln/>
        </p:spPr>
        <p:txBody>
          <a:bodyPr/>
          <a:lstStyle/>
          <a:p>
            <a:endParaRPr lang="en-US"/>
          </a:p>
        </p:txBody>
      </p:sp>
      <p:sp>
        <p:nvSpPr>
          <p:cNvPr id="5" name="Text 3"/>
          <p:cNvSpPr/>
          <p:nvPr/>
        </p:nvSpPr>
        <p:spPr>
          <a:xfrm>
            <a:off x="1066800" y="2009180"/>
            <a:ext cx="2964993" cy="3302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143B31"/>
                </a:solidFill>
                <a:latin typeface="Newsreader" pitchFamily="18" charset="0"/>
                <a:ea typeface="Newsreader" pitchFamily="18" charset="-122"/>
                <a:cs typeface="Newsreader" pitchFamily="18" charset="-120"/>
              </a:rPr>
              <a:t>Safeguards we built</a:t>
            </a:r>
            <a:endParaRPr lang="en-US" sz="2000" dirty="0"/>
          </a:p>
        </p:txBody>
      </p:sp>
      <p:sp>
        <p:nvSpPr>
          <p:cNvPr id="6" name="Text 4"/>
          <p:cNvSpPr/>
          <p:nvPr/>
        </p:nvSpPr>
        <p:spPr>
          <a:xfrm>
            <a:off x="1066800" y="2440980"/>
            <a:ext cx="2964993"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420"/>
                </a:solidFill>
                <a:latin typeface="DM Sans" pitchFamily="34" charset="0"/>
                <a:ea typeface="DM Sans" pitchFamily="34" charset="-122"/>
                <a:cs typeface="DM Sans" pitchFamily="34" charset="-120"/>
              </a:rPr>
              <a:t>The server checks every AI action before it runs.</a:t>
            </a:r>
            <a:endParaRPr lang="en-US" sz="1500" dirty="0"/>
          </a:p>
        </p:txBody>
      </p:sp>
      <p:sp>
        <p:nvSpPr>
          <p:cNvPr id="7" name="Text 5"/>
          <p:cNvSpPr/>
          <p:nvPr/>
        </p:nvSpPr>
        <p:spPr>
          <a:xfrm>
            <a:off x="1066800" y="3101380"/>
            <a:ext cx="2964993"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420"/>
                </a:solidFill>
                <a:latin typeface="DM Sans" pitchFamily="34" charset="0"/>
                <a:ea typeface="DM Sans" pitchFamily="34" charset="-122"/>
                <a:cs typeface="DM Sans" pitchFamily="34" charset="-120"/>
              </a:rPr>
              <a:t>Teachers approve interventions before students see them.</a:t>
            </a:r>
            <a:endParaRPr lang="en-US" sz="1500" dirty="0"/>
          </a:p>
        </p:txBody>
      </p:sp>
      <p:sp>
        <p:nvSpPr>
          <p:cNvPr id="8" name="Text 6"/>
          <p:cNvSpPr/>
          <p:nvPr/>
        </p:nvSpPr>
        <p:spPr>
          <a:xfrm>
            <a:off x="1066800" y="3761780"/>
            <a:ext cx="2964993"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420"/>
                </a:solidFill>
                <a:latin typeface="DM Sans" pitchFamily="34" charset="0"/>
                <a:ea typeface="DM Sans" pitchFamily="34" charset="-122"/>
                <a:cs typeface="DM Sans" pitchFamily="34" charset="-120"/>
              </a:rPr>
              <a:t>Uncertain evidence is never scored as wrong.</a:t>
            </a:r>
            <a:endParaRPr lang="en-US" sz="1500" dirty="0"/>
          </a:p>
        </p:txBody>
      </p:sp>
      <p:sp>
        <p:nvSpPr>
          <p:cNvPr id="9" name="Shape 7"/>
          <p:cNvSpPr/>
          <p:nvPr/>
        </p:nvSpPr>
        <p:spPr>
          <a:xfrm>
            <a:off x="4402634" y="1755180"/>
            <a:ext cx="3386733" cy="3474641"/>
          </a:xfrm>
          <a:prstGeom prst="roundRect">
            <a:avLst>
              <a:gd name="adj" fmla="val 4500"/>
            </a:avLst>
          </a:prstGeom>
          <a:solidFill>
            <a:srgbClr val="DCEDE3"/>
          </a:solidFill>
          <a:ln/>
        </p:spPr>
        <p:txBody>
          <a:bodyPr/>
          <a:lstStyle/>
          <a:p>
            <a:endParaRPr lang="en-US"/>
          </a:p>
        </p:txBody>
      </p:sp>
      <p:sp>
        <p:nvSpPr>
          <p:cNvPr id="10" name="Text 8"/>
          <p:cNvSpPr/>
          <p:nvPr/>
        </p:nvSpPr>
        <p:spPr>
          <a:xfrm>
            <a:off x="4656634" y="2009180"/>
            <a:ext cx="2965095" cy="3302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143B31"/>
                </a:solidFill>
                <a:latin typeface="Newsreader" pitchFamily="18" charset="0"/>
                <a:ea typeface="Newsreader" pitchFamily="18" charset="-122"/>
                <a:cs typeface="Newsreader" pitchFamily="18" charset="-120"/>
              </a:rPr>
              <a:t>How we tested it</a:t>
            </a:r>
            <a:endParaRPr lang="en-US" sz="2000" dirty="0"/>
          </a:p>
        </p:txBody>
      </p:sp>
      <p:sp>
        <p:nvSpPr>
          <p:cNvPr id="11" name="Text 9"/>
          <p:cNvSpPr/>
          <p:nvPr/>
        </p:nvSpPr>
        <p:spPr>
          <a:xfrm>
            <a:off x="4656634" y="2440980"/>
            <a:ext cx="2965095"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420"/>
                </a:solidFill>
                <a:latin typeface="DM Sans" pitchFamily="34" charset="0"/>
                <a:ea typeface="DM Sans" pitchFamily="34" charset="-122"/>
                <a:cs typeface="DM Sans" pitchFamily="34" charset="-120"/>
              </a:rPr>
              <a:t>Deterministic unit and TypeScript tests</a:t>
            </a:r>
            <a:endParaRPr lang="en-US" sz="1500" dirty="0"/>
          </a:p>
        </p:txBody>
      </p:sp>
      <p:sp>
        <p:nvSpPr>
          <p:cNvPr id="12" name="Text 10"/>
          <p:cNvSpPr/>
          <p:nvPr/>
        </p:nvSpPr>
        <p:spPr>
          <a:xfrm>
            <a:off x="4656634" y="3101380"/>
            <a:ext cx="2965095"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420"/>
                </a:solidFill>
                <a:latin typeface="DM Sans" pitchFamily="34" charset="0"/>
                <a:ea typeface="DM Sans" pitchFamily="34" charset="-122"/>
                <a:cs typeface="DM Sans" pitchFamily="34" charset="-120"/>
              </a:rPr>
              <a:t>Signed-in browser workflows with fictional students</a:t>
            </a:r>
            <a:endParaRPr lang="en-US" sz="1500" dirty="0"/>
          </a:p>
        </p:txBody>
      </p:sp>
      <p:sp>
        <p:nvSpPr>
          <p:cNvPr id="13" name="Text 11"/>
          <p:cNvSpPr/>
          <p:nvPr/>
        </p:nvSpPr>
        <p:spPr>
          <a:xfrm>
            <a:off x="4656634" y="3761780"/>
            <a:ext cx="2965095"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420"/>
                </a:solidFill>
                <a:latin typeface="DM Sans" pitchFamily="34" charset="0"/>
                <a:ea typeface="DM Sans" pitchFamily="34" charset="-122"/>
                <a:cs typeface="DM Sans" pitchFamily="34" charset="-120"/>
              </a:rPr>
              <a:t>Database persistence and save-recovery checks</a:t>
            </a:r>
            <a:endParaRPr lang="en-US" sz="1500" dirty="0"/>
          </a:p>
        </p:txBody>
      </p:sp>
      <p:sp>
        <p:nvSpPr>
          <p:cNvPr id="15" name="Shape 13"/>
          <p:cNvSpPr/>
          <p:nvPr/>
        </p:nvSpPr>
        <p:spPr>
          <a:xfrm>
            <a:off x="7992566" y="1755180"/>
            <a:ext cx="3386634" cy="3474641"/>
          </a:xfrm>
          <a:prstGeom prst="roundRect">
            <a:avLst>
              <a:gd name="adj" fmla="val 4500"/>
            </a:avLst>
          </a:prstGeom>
          <a:solidFill>
            <a:srgbClr val="F3E3C3"/>
          </a:solidFill>
          <a:ln/>
        </p:spPr>
        <p:txBody>
          <a:bodyPr/>
          <a:lstStyle/>
          <a:p>
            <a:endParaRPr lang="en-US"/>
          </a:p>
        </p:txBody>
      </p:sp>
      <p:sp>
        <p:nvSpPr>
          <p:cNvPr id="16" name="Text 14"/>
          <p:cNvSpPr/>
          <p:nvPr/>
        </p:nvSpPr>
        <p:spPr>
          <a:xfrm>
            <a:off x="8246566" y="2009180"/>
            <a:ext cx="2964993" cy="3302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143B31"/>
                </a:solidFill>
                <a:latin typeface="Newsreader" pitchFamily="18" charset="0"/>
                <a:ea typeface="Newsreader" pitchFamily="18" charset="-122"/>
                <a:cs typeface="Newsreader" pitchFamily="18" charset="-120"/>
              </a:rPr>
              <a:t>Not yet shown</a:t>
            </a:r>
            <a:endParaRPr lang="en-US" sz="2000" dirty="0"/>
          </a:p>
        </p:txBody>
      </p:sp>
      <p:sp>
        <p:nvSpPr>
          <p:cNvPr id="17" name="Text 15"/>
          <p:cNvSpPr/>
          <p:nvPr/>
        </p:nvSpPr>
        <p:spPr>
          <a:xfrm>
            <a:off x="8246566" y="2440980"/>
            <a:ext cx="2964993"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420"/>
                </a:solidFill>
                <a:latin typeface="DM Sans" pitchFamily="34" charset="0"/>
                <a:ea typeface="DM Sans" pitchFamily="34" charset="-122"/>
                <a:cs typeface="DM Sans" pitchFamily="34" charset="-120"/>
              </a:rPr>
              <a:t>Measured improvement in learning outcomes</a:t>
            </a:r>
            <a:endParaRPr lang="en-US" sz="1500" dirty="0"/>
          </a:p>
        </p:txBody>
      </p:sp>
      <p:sp>
        <p:nvSpPr>
          <p:cNvPr id="18" name="Text 16"/>
          <p:cNvSpPr/>
          <p:nvPr/>
        </p:nvSpPr>
        <p:spPr>
          <a:xfrm>
            <a:off x="8246566" y="3101380"/>
            <a:ext cx="2964993"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420"/>
                </a:solidFill>
                <a:latin typeface="DM Sans" pitchFamily="34" charset="0"/>
                <a:ea typeface="DM Sans" pitchFamily="34" charset="-122"/>
                <a:cs typeface="DM Sans" pitchFamily="34" charset="-120"/>
              </a:rPr>
              <a:t>A production deployment and compliance review</a:t>
            </a:r>
            <a:endParaRPr lang="en-US" sz="1500" dirty="0"/>
          </a:p>
        </p:txBody>
      </p:sp>
      <p:sp>
        <p:nvSpPr>
          <p:cNvPr id="19" name="Text 17"/>
          <p:cNvSpPr/>
          <p:nvPr/>
        </p:nvSpPr>
        <p:spPr>
          <a:xfrm>
            <a:off x="8246566" y="3761780"/>
            <a:ext cx="2964993"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420"/>
                </a:solidFill>
                <a:latin typeface="DM Sans" pitchFamily="34" charset="0"/>
                <a:ea typeface="DM Sans" pitchFamily="34" charset="-122"/>
                <a:cs typeface="DM Sans" pitchFamily="34" charset="-120"/>
              </a:rPr>
              <a:t>Full accessibility and device testing</a:t>
            </a:r>
            <a:endParaRPr lang="en-US" sz="1500" dirty="0"/>
          </a:p>
        </p:txBody>
      </p:sp>
      <p:sp>
        <p:nvSpPr>
          <p:cNvPr id="20" name="Text 18"/>
          <p:cNvSpPr/>
          <p:nvPr/>
        </p:nvSpPr>
        <p:spPr>
          <a:xfrm>
            <a:off x="812800" y="5511800"/>
            <a:ext cx="10883392" cy="355600"/>
          </a:xfrm>
          <a:prstGeom prst="rect">
            <a:avLst/>
          </a:prstGeom>
          <a:noFill/>
          <a:ln/>
        </p:spPr>
        <p:txBody>
          <a:bodyPr wrap="square" lIns="0" tIns="0" rIns="0" bIns="0" rtlCol="0" anchor="t">
            <a:normAutofit/>
          </a:bodyPr>
          <a:lstStyle/>
          <a:p>
            <a:pPr marL="0" indent="0" algn="l">
              <a:lnSpc>
                <a:spcPts val="2600"/>
              </a:lnSpc>
              <a:buNone/>
            </a:pPr>
            <a:r>
              <a:rPr lang="en-US" sz="2000" i="1" dirty="0">
                <a:solidFill>
                  <a:srgbClr val="143B31"/>
                </a:solidFill>
                <a:latin typeface="Newsreader" pitchFamily="18" charset="0"/>
                <a:ea typeface="Newsreader" pitchFamily="18" charset="-122"/>
                <a:cs typeface="Newsreader" pitchFamily="18" charset="-120"/>
              </a:rPr>
              <a:t>“AI supports instructional decisions. It doesn’t replace educator judgment.”</a:t>
            </a:r>
            <a:endParaRPr lang="en-US" sz="2000" dirty="0"/>
          </a:p>
        </p:txBody>
      </p:sp>
      <p:sp>
        <p:nvSpPr>
          <p:cNvPr id="21" name="Text 19"/>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A65"/>
                </a:solidFill>
                <a:latin typeface="DM Sans" pitchFamily="34" charset="0"/>
                <a:ea typeface="DM Sans" pitchFamily="34" charset="-122"/>
                <a:cs typeface="DM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3705C"/>
                </a:solidFill>
                <a:latin typeface="DM Sans" pitchFamily="34" charset="0"/>
                <a:ea typeface="DM Sans" pitchFamily="34" charset="-122"/>
                <a:cs typeface="DM Sans" pitchFamily="34" charset="-120"/>
              </a:rPr>
              <a:t>FUTURE VISION</a:t>
            </a:r>
            <a:endParaRPr lang="en-US" sz="1200" dirty="0"/>
          </a:p>
        </p:txBody>
      </p:sp>
      <p:sp>
        <p:nvSpPr>
          <p:cNvPr id="3" name="Text 1"/>
          <p:cNvSpPr>
            <a:spLocks noGrp="1"/>
          </p:cNvSpPr>
          <p:nvPr>
            <p:ph type="title"/>
          </p:nvPr>
        </p:nvSpPr>
        <p:spPr>
          <a:xfrm>
            <a:off x="812800" y="10261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0" i="0" kern="0" spc="-25" dirty="0">
                <a:solidFill>
                  <a:srgbClr val="1B2420"/>
                </a:solidFill>
                <a:latin typeface="Newsreader" pitchFamily="18" charset="0"/>
                <a:ea typeface="Newsreader" pitchFamily="18" charset="-122"/>
                <a:cs typeface="Newsreader" pitchFamily="18" charset="-120"/>
              </a:rPr>
              <a:t>From one lesson to a whole course</a:t>
            </a:r>
            <a:endParaRPr lang="en-US" sz="3200" dirty="0"/>
          </a:p>
        </p:txBody>
      </p:sp>
      <p:sp>
        <p:nvSpPr>
          <p:cNvPr id="4" name="Shape 2"/>
          <p:cNvSpPr/>
          <p:nvPr/>
        </p:nvSpPr>
        <p:spPr>
          <a:xfrm>
            <a:off x="812800" y="2371130"/>
            <a:ext cx="3166467" cy="2359620"/>
          </a:xfrm>
          <a:prstGeom prst="roundRect">
            <a:avLst>
              <a:gd name="adj" fmla="val 6459"/>
            </a:avLst>
          </a:prstGeom>
          <a:solidFill>
            <a:srgbClr val="FCFBF7"/>
          </a:solidFill>
          <a:ln/>
        </p:spPr>
        <p:txBody>
          <a:bodyPr/>
          <a:lstStyle/>
          <a:p>
            <a:endParaRPr lang="en-US"/>
          </a:p>
        </p:txBody>
      </p:sp>
      <p:sp>
        <p:nvSpPr>
          <p:cNvPr id="5" name="Text 3"/>
          <p:cNvSpPr/>
          <p:nvPr/>
        </p:nvSpPr>
        <p:spPr>
          <a:xfrm>
            <a:off x="1092200" y="2650530"/>
            <a:ext cx="2685897"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3705C"/>
                </a:solidFill>
                <a:latin typeface="DM Sans" pitchFamily="34" charset="0"/>
                <a:ea typeface="DM Sans" pitchFamily="34" charset="-122"/>
                <a:cs typeface="DM Sans" pitchFamily="34" charset="-120"/>
              </a:rPr>
              <a:t>NEAR TERM</a:t>
            </a:r>
            <a:endParaRPr lang="en-US" sz="1200" dirty="0"/>
          </a:p>
        </p:txBody>
      </p:sp>
      <p:sp>
        <p:nvSpPr>
          <p:cNvPr id="6" name="Text 4"/>
          <p:cNvSpPr/>
          <p:nvPr/>
        </p:nvSpPr>
        <p:spPr>
          <a:xfrm>
            <a:off x="1092200" y="2952750"/>
            <a:ext cx="2685897" cy="3302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1B2420"/>
                </a:solidFill>
                <a:latin typeface="Newsreader" pitchFamily="18" charset="0"/>
                <a:ea typeface="Newsreader" pitchFamily="18" charset="-122"/>
                <a:cs typeface="Newsreader" pitchFamily="18" charset="-120"/>
              </a:rPr>
              <a:t>Prove it in classrooms</a:t>
            </a:r>
            <a:endParaRPr lang="en-US" sz="2000" dirty="0"/>
          </a:p>
        </p:txBody>
      </p:sp>
      <p:sp>
        <p:nvSpPr>
          <p:cNvPr id="7" name="Text 5"/>
          <p:cNvSpPr/>
          <p:nvPr/>
        </p:nvSpPr>
        <p:spPr>
          <a:xfrm>
            <a:off x="1092200" y="3346450"/>
            <a:ext cx="2685897" cy="10922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B5853"/>
                </a:solidFill>
                <a:latin typeface="DM Sans" pitchFamily="34" charset="0"/>
                <a:ea typeface="DM Sans" pitchFamily="34" charset="-122"/>
                <a:cs typeface="DM Sans" pitchFamily="34" charset="-120"/>
              </a:rPr>
              <a:t>Finish cross-role testing, validate the tutor with real models and pilot with instructors and students.</a:t>
            </a:r>
            <a:endParaRPr lang="en-US" sz="1500" dirty="0"/>
          </a:p>
        </p:txBody>
      </p:sp>
      <p:pic>
        <p:nvPicPr>
          <p:cNvPr id="8" name="Image 0" descr="arrow-right"/>
          <p:cNvPicPr>
            <a:picLocks noChangeAspect="1"/>
          </p:cNvPicPr>
          <p:nvPr/>
        </p:nvPicPr>
        <p:blipFill>
          <a:blip r:embed="rId3"/>
          <a:srcRect/>
          <a:stretch/>
        </p:blipFill>
        <p:spPr>
          <a:xfrm>
            <a:off x="4106267" y="3481090"/>
            <a:ext cx="279400" cy="139700"/>
          </a:xfrm>
          <a:prstGeom prst="rect">
            <a:avLst/>
          </a:prstGeom>
        </p:spPr>
      </p:pic>
      <p:sp>
        <p:nvSpPr>
          <p:cNvPr id="9" name="Shape 6"/>
          <p:cNvSpPr/>
          <p:nvPr/>
        </p:nvSpPr>
        <p:spPr>
          <a:xfrm>
            <a:off x="4512667" y="2371130"/>
            <a:ext cx="3166566" cy="2359620"/>
          </a:xfrm>
          <a:prstGeom prst="roundRect">
            <a:avLst>
              <a:gd name="adj" fmla="val 6459"/>
            </a:avLst>
          </a:prstGeom>
          <a:solidFill>
            <a:srgbClr val="DCEDE3"/>
          </a:solidFill>
          <a:ln/>
        </p:spPr>
        <p:txBody>
          <a:bodyPr/>
          <a:lstStyle/>
          <a:p>
            <a:endParaRPr lang="en-US"/>
          </a:p>
        </p:txBody>
      </p:sp>
      <p:sp>
        <p:nvSpPr>
          <p:cNvPr id="10" name="Text 7"/>
          <p:cNvSpPr/>
          <p:nvPr/>
        </p:nvSpPr>
        <p:spPr>
          <a:xfrm>
            <a:off x="4792067" y="2650530"/>
            <a:ext cx="2685999"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3705C"/>
                </a:solidFill>
                <a:latin typeface="DM Sans" pitchFamily="34" charset="0"/>
                <a:ea typeface="DM Sans" pitchFamily="34" charset="-122"/>
                <a:cs typeface="DM Sans" pitchFamily="34" charset="-120"/>
              </a:rPr>
              <a:t>MEDIUM TERM</a:t>
            </a:r>
            <a:endParaRPr lang="en-US" sz="1200" dirty="0"/>
          </a:p>
        </p:txBody>
      </p:sp>
      <p:sp>
        <p:nvSpPr>
          <p:cNvPr id="11" name="Text 8"/>
          <p:cNvSpPr/>
          <p:nvPr/>
        </p:nvSpPr>
        <p:spPr>
          <a:xfrm>
            <a:off x="4792067" y="2952750"/>
            <a:ext cx="2685999" cy="3302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1B2420"/>
                </a:solidFill>
                <a:latin typeface="Newsreader" pitchFamily="18" charset="0"/>
                <a:ea typeface="Newsreader" pitchFamily="18" charset="-122"/>
                <a:cs typeface="Newsreader" pitchFamily="18" charset="-120"/>
              </a:rPr>
              <a:t>Broaden and connect</a:t>
            </a:r>
            <a:endParaRPr lang="en-US" sz="2000" dirty="0"/>
          </a:p>
        </p:txBody>
      </p:sp>
      <p:sp>
        <p:nvSpPr>
          <p:cNvPr id="12" name="Text 9"/>
          <p:cNvSpPr/>
          <p:nvPr/>
        </p:nvSpPr>
        <p:spPr>
          <a:xfrm>
            <a:off x="4792067" y="3346450"/>
            <a:ext cx="2685999"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B5853"/>
                </a:solidFill>
                <a:latin typeface="DM Sans" pitchFamily="34" charset="0"/>
                <a:ea typeface="DM Sans" pitchFamily="34" charset="-122"/>
                <a:cs typeface="DM Sans" pitchFamily="34" charset="-120"/>
              </a:rPr>
              <a:t>More subjects, richer learning histories, visual explanations and Canvas integration.</a:t>
            </a:r>
            <a:endParaRPr lang="en-US" sz="1500" dirty="0"/>
          </a:p>
        </p:txBody>
      </p:sp>
      <p:pic>
        <p:nvPicPr>
          <p:cNvPr id="13" name="Image 1" descr="arrow-right"/>
          <p:cNvPicPr>
            <a:picLocks noChangeAspect="1"/>
          </p:cNvPicPr>
          <p:nvPr/>
        </p:nvPicPr>
        <p:blipFill>
          <a:blip r:embed="rId3"/>
          <a:srcRect/>
          <a:stretch/>
        </p:blipFill>
        <p:spPr>
          <a:xfrm>
            <a:off x="7806234" y="3481090"/>
            <a:ext cx="279400" cy="139700"/>
          </a:xfrm>
          <a:prstGeom prst="rect">
            <a:avLst/>
          </a:prstGeom>
        </p:spPr>
      </p:pic>
      <p:sp>
        <p:nvSpPr>
          <p:cNvPr id="14" name="Shape 10"/>
          <p:cNvSpPr/>
          <p:nvPr/>
        </p:nvSpPr>
        <p:spPr>
          <a:xfrm>
            <a:off x="8212634" y="2371130"/>
            <a:ext cx="3166566" cy="2359620"/>
          </a:xfrm>
          <a:prstGeom prst="roundRect">
            <a:avLst>
              <a:gd name="adj" fmla="val 6459"/>
            </a:avLst>
          </a:prstGeom>
          <a:solidFill>
            <a:srgbClr val="143B31"/>
          </a:solidFill>
          <a:ln/>
        </p:spPr>
        <p:txBody>
          <a:bodyPr/>
          <a:lstStyle/>
          <a:p>
            <a:endParaRPr lang="en-US"/>
          </a:p>
        </p:txBody>
      </p:sp>
      <p:sp>
        <p:nvSpPr>
          <p:cNvPr id="15" name="Text 11"/>
          <p:cNvSpPr/>
          <p:nvPr/>
        </p:nvSpPr>
        <p:spPr>
          <a:xfrm>
            <a:off x="8492034" y="2650530"/>
            <a:ext cx="2685999"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ED8BF"/>
                </a:solidFill>
                <a:latin typeface="DM Sans" pitchFamily="34" charset="0"/>
                <a:ea typeface="DM Sans" pitchFamily="34" charset="-122"/>
                <a:cs typeface="DM Sans" pitchFamily="34" charset="-120"/>
              </a:rPr>
              <a:t>LONG TERM</a:t>
            </a:r>
            <a:endParaRPr lang="en-US" sz="1200" dirty="0"/>
          </a:p>
        </p:txBody>
      </p:sp>
      <p:sp>
        <p:nvSpPr>
          <p:cNvPr id="16" name="Text 12"/>
          <p:cNvSpPr/>
          <p:nvPr/>
        </p:nvSpPr>
        <p:spPr>
          <a:xfrm>
            <a:off x="8492034" y="2952750"/>
            <a:ext cx="2685999" cy="6350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F5F2EA"/>
                </a:solidFill>
                <a:latin typeface="Newsreader" pitchFamily="18" charset="0"/>
                <a:ea typeface="Newsreader" pitchFamily="18" charset="-122"/>
                <a:cs typeface="Newsreader" pitchFamily="18" charset="-120"/>
              </a:rPr>
              <a:t>A learning intelligence layer</a:t>
            </a:r>
            <a:endParaRPr lang="en-US" sz="2000" dirty="0"/>
          </a:p>
        </p:txBody>
      </p:sp>
      <p:sp>
        <p:nvSpPr>
          <p:cNvPr id="17" name="Text 13"/>
          <p:cNvSpPr/>
          <p:nvPr/>
        </p:nvSpPr>
        <p:spPr>
          <a:xfrm>
            <a:off x="8492034" y="3651250"/>
            <a:ext cx="2685999"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CD3C9"/>
                </a:solidFill>
                <a:latin typeface="DM Sans" pitchFamily="34" charset="0"/>
                <a:ea typeface="DM Sans" pitchFamily="34" charset="-122"/>
                <a:cs typeface="DM Sans" pitchFamily="34" charset="-120"/>
              </a:rPr>
              <a:t>Help educators understand how students reason across an entire course.</a:t>
            </a:r>
            <a:endParaRPr lang="en-US" sz="1500" dirty="0"/>
          </a:p>
        </p:txBody>
      </p:sp>
      <p:sp>
        <p:nvSpPr>
          <p:cNvPr id="19" name="Text 15"/>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A65"/>
                </a:solidFill>
                <a:latin typeface="DM Sans" pitchFamily="34" charset="0"/>
                <a:ea typeface="DM Sans" pitchFamily="34" charset="-122"/>
                <a:cs typeface="DM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143B31"/>
        </a:solidFill>
        <a:effectLst/>
      </p:bgPr>
    </p:bg>
    <p:spTree>
      <p:nvGrpSpPr>
        <p:cNvPr id="1" name=""/>
        <p:cNvGrpSpPr/>
        <p:nvPr/>
      </p:nvGrpSpPr>
      <p:grpSpPr>
        <a:xfrm>
          <a:off x="0" y="0"/>
          <a:ext cx="0" cy="0"/>
          <a:chOff x="0" y="0"/>
          <a:chExt cx="0" cy="0"/>
        </a:xfrm>
      </p:grpSpPr>
      <p:pic>
        <p:nvPicPr>
          <p:cNvPr id="2" name="Image 0" descr="Learning Pulse logo"/>
          <p:cNvPicPr>
            <a:picLocks noChangeAspect="1"/>
          </p:cNvPicPr>
          <p:nvPr/>
        </p:nvPicPr>
        <p:blipFill>
          <a:blip r:embed="rId3"/>
          <a:srcRect/>
          <a:stretch/>
        </p:blipFill>
        <p:spPr>
          <a:xfrm>
            <a:off x="812800" y="711200"/>
            <a:ext cx="406400" cy="406400"/>
          </a:xfrm>
          <a:prstGeom prst="rect">
            <a:avLst/>
          </a:prstGeom>
        </p:spPr>
      </p:pic>
      <p:sp>
        <p:nvSpPr>
          <p:cNvPr id="3" name="Text 0"/>
          <p:cNvSpPr/>
          <p:nvPr/>
        </p:nvSpPr>
        <p:spPr>
          <a:xfrm>
            <a:off x="1371600" y="807740"/>
            <a:ext cx="1230987"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ED8BF"/>
                </a:solidFill>
                <a:latin typeface="DM Sans" pitchFamily="34" charset="0"/>
                <a:ea typeface="DM Sans" pitchFamily="34" charset="-122"/>
                <a:cs typeface="DM Sans" pitchFamily="34" charset="-120"/>
              </a:rPr>
              <a:t>THANK YOU</a:t>
            </a:r>
            <a:endParaRPr lang="en-US" sz="1200" dirty="0"/>
          </a:p>
        </p:txBody>
      </p:sp>
      <p:sp>
        <p:nvSpPr>
          <p:cNvPr id="4" name="Text 1"/>
          <p:cNvSpPr>
            <a:spLocks noGrp="1"/>
          </p:cNvSpPr>
          <p:nvPr>
            <p:ph type="title"/>
          </p:nvPr>
        </p:nvSpPr>
        <p:spPr>
          <a:xfrm>
            <a:off x="812800" y="2682280"/>
            <a:ext cx="9156700" cy="960041"/>
          </a:xfrm>
          <a:prstGeom prst="rect">
            <a:avLst/>
          </a:prstGeom>
          <a:noFill/>
          <a:ln/>
        </p:spPr>
        <p:txBody>
          <a:bodyPr wrap="square" lIns="0" tIns="0" rIns="0" bIns="0" rtlCol="0" anchor="t">
            <a:normAutofit/>
          </a:bodyPr>
          <a:lstStyle/>
          <a:p>
            <a:pPr marL="0" indent="0" algn="l">
              <a:lnSpc>
                <a:spcPts val="3680"/>
              </a:lnSpc>
              <a:buNone/>
            </a:pPr>
            <a:r>
              <a:rPr lang="en-US" sz="3200" b="0" i="0" kern="0" spc="-25" dirty="0">
                <a:solidFill>
                  <a:srgbClr val="F5F2EA"/>
                </a:solidFill>
                <a:latin typeface="Newsreader" pitchFamily="18" charset="0"/>
                <a:ea typeface="Newsreader" pitchFamily="18" charset="-122"/>
                <a:cs typeface="Newsreader" pitchFamily="18" charset="-120"/>
              </a:rPr>
              <a:t>Learning Pulse turns student reasoning into better-informed teaching decisions.</a:t>
            </a:r>
            <a:endParaRPr lang="en-US" sz="3200" dirty="0"/>
          </a:p>
        </p:txBody>
      </p:sp>
      <p:sp>
        <p:nvSpPr>
          <p:cNvPr id="5" name="Text 2"/>
          <p:cNvSpPr/>
          <p:nvPr/>
        </p:nvSpPr>
        <p:spPr>
          <a:xfrm>
            <a:off x="812800" y="3870920"/>
            <a:ext cx="10883392" cy="330200"/>
          </a:xfrm>
          <a:prstGeom prst="rect">
            <a:avLst/>
          </a:prstGeom>
          <a:noFill/>
          <a:ln/>
        </p:spPr>
        <p:txBody>
          <a:bodyPr wrap="square" lIns="0" tIns="0" rIns="0" bIns="0" rtlCol="0" anchor="t">
            <a:normAutofit/>
          </a:bodyPr>
          <a:lstStyle/>
          <a:p>
            <a:pPr marL="0" indent="0" algn="l">
              <a:lnSpc>
                <a:spcPts val="2400"/>
              </a:lnSpc>
              <a:buNone/>
            </a:pPr>
            <a:r>
              <a:rPr lang="en-US" sz="2000" i="1" dirty="0">
                <a:solidFill>
                  <a:srgbClr val="9ED8BF"/>
                </a:solidFill>
                <a:latin typeface="Newsreader" pitchFamily="18" charset="0"/>
                <a:ea typeface="Newsreader" pitchFamily="18" charset="-122"/>
                <a:cs typeface="Newsreader" pitchFamily="18" charset="-120"/>
              </a:rPr>
              <a:t>Questions?</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3705C"/>
                </a:solidFill>
                <a:latin typeface="DM Sans" pitchFamily="34" charset="0"/>
                <a:ea typeface="DM Sans" pitchFamily="34" charset="-122"/>
                <a:cs typeface="DM Sans" pitchFamily="34" charset="-120"/>
              </a:rPr>
              <a:t>APPENDIX</a:t>
            </a:r>
            <a:endParaRPr lang="en-US" sz="1200" dirty="0"/>
          </a:p>
        </p:txBody>
      </p:sp>
      <p:sp>
        <p:nvSpPr>
          <p:cNvPr id="3" name="Text 1"/>
          <p:cNvSpPr>
            <a:spLocks noGrp="1"/>
          </p:cNvSpPr>
          <p:nvPr>
            <p:ph type="title"/>
          </p:nvPr>
        </p:nvSpPr>
        <p:spPr>
          <a:xfrm>
            <a:off x="812800" y="10261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0" i="0" kern="0" spc="-25" dirty="0">
                <a:solidFill>
                  <a:srgbClr val="1B2420"/>
                </a:solidFill>
                <a:latin typeface="Newsreader" pitchFamily="18" charset="0"/>
                <a:ea typeface="Newsreader" pitchFamily="18" charset="-122"/>
                <a:cs typeface="Newsreader" pitchFamily="18" charset="-120"/>
              </a:rPr>
              <a:t>References</a:t>
            </a:r>
            <a:endParaRPr lang="en-US" sz="3200" dirty="0"/>
          </a:p>
        </p:txBody>
      </p:sp>
      <p:sp>
        <p:nvSpPr>
          <p:cNvPr id="4" name="Text 2"/>
          <p:cNvSpPr/>
          <p:nvPr/>
        </p:nvSpPr>
        <p:spPr>
          <a:xfrm>
            <a:off x="812800" y="1777901"/>
            <a:ext cx="65405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2420"/>
                </a:solidFill>
                <a:latin typeface="DM Sans" pitchFamily="34" charset="0"/>
                <a:ea typeface="DM Sans" pitchFamily="34" charset="-122"/>
                <a:cs typeface="DM Sans" pitchFamily="34" charset="-120"/>
              </a:rPr>
              <a:t>Learning Pulse repository</a:t>
            </a:r>
            <a:endParaRPr lang="en-US" sz="1200" dirty="0"/>
          </a:p>
        </p:txBody>
      </p:sp>
      <p:sp>
        <p:nvSpPr>
          <p:cNvPr id="5" name="Text 3"/>
          <p:cNvSpPr/>
          <p:nvPr/>
        </p:nvSpPr>
        <p:spPr>
          <a:xfrm>
            <a:off x="812800" y="2003921"/>
            <a:ext cx="654050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23705C"/>
                </a:solidFill>
                <a:latin typeface="DM Sans" pitchFamily="34" charset="0"/>
                <a:ea typeface="DM Sans" pitchFamily="34" charset="-122"/>
                <a:cs typeface="DM Sans" pitchFamily="34" charset="-120"/>
                <a:hlinkClick r:id="rId3">
                  <a:extLst>
                    <a:ext uri="{A12FA001-AC4F-418D-AE19-62706E023703}">
                      <ahyp:hlinkClr xmlns:ahyp="http://schemas.microsoft.com/office/drawing/2018/hyperlinkcolor" val="tx"/>
                    </a:ext>
                  </a:extLst>
                </a:hlinkClick>
              </a:rPr>
              <a:t>github.com/peterbucci/ai-teaching-platform</a:t>
            </a:r>
            <a:endParaRPr lang="en-US" sz="1200" dirty="0"/>
          </a:p>
        </p:txBody>
      </p:sp>
      <p:sp>
        <p:nvSpPr>
          <p:cNvPr id="6" name="Text 4"/>
          <p:cNvSpPr/>
          <p:nvPr/>
        </p:nvSpPr>
        <p:spPr>
          <a:xfrm>
            <a:off x="812800" y="2356941"/>
            <a:ext cx="6540500"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2420"/>
                </a:solidFill>
                <a:latin typeface="DM Sans" pitchFamily="34" charset="0"/>
                <a:ea typeface="DM Sans" pitchFamily="34" charset="-122"/>
                <a:cs typeface="DM Sans" pitchFamily="34" charset="-120"/>
              </a:rPr>
              <a:t>National Student Clearinghouse Research Center, Final Fall Enrollment Trends (January 2026)</a:t>
            </a:r>
            <a:endParaRPr lang="en-US" sz="1200" dirty="0"/>
          </a:p>
        </p:txBody>
      </p:sp>
      <p:sp>
        <p:nvSpPr>
          <p:cNvPr id="7" name="Text 5"/>
          <p:cNvSpPr/>
          <p:nvPr/>
        </p:nvSpPr>
        <p:spPr>
          <a:xfrm>
            <a:off x="812800" y="2584675"/>
            <a:ext cx="654050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23705C"/>
                </a:solidFill>
                <a:latin typeface="DM Sans" pitchFamily="34" charset="0"/>
                <a:ea typeface="DM Sans" pitchFamily="34" charset="-122"/>
                <a:cs typeface="DM Sans" pitchFamily="34" charset="-120"/>
                <a:hlinkClick r:id="rId4">
                  <a:extLst>
                    <a:ext uri="{A12FA001-AC4F-418D-AE19-62706E023703}">
                      <ahyp:hlinkClr xmlns:ahyp="http://schemas.microsoft.com/office/drawing/2018/hyperlinkcolor" val="tx"/>
                    </a:ext>
                  </a:extLst>
                </a:hlinkClick>
              </a:rPr>
              <a:t>nscresearchcenter.org/final-fall-enrollment-trends</a:t>
            </a:r>
            <a:endParaRPr lang="en-US" sz="1200" dirty="0"/>
          </a:p>
        </p:txBody>
      </p:sp>
      <p:sp>
        <p:nvSpPr>
          <p:cNvPr id="8" name="Text 6"/>
          <p:cNvSpPr/>
          <p:nvPr/>
        </p:nvSpPr>
        <p:spPr>
          <a:xfrm>
            <a:off x="812800" y="2910582"/>
            <a:ext cx="65405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2420"/>
                </a:solidFill>
                <a:latin typeface="DM Sans" pitchFamily="34" charset="0"/>
                <a:ea typeface="DM Sans" pitchFamily="34" charset="-122"/>
                <a:cs typeface="DM Sans" pitchFamily="34" charset="-120"/>
              </a:rPr>
              <a:t>Canvas by Instructure</a:t>
            </a:r>
            <a:endParaRPr lang="en-US" sz="1200" dirty="0"/>
          </a:p>
        </p:txBody>
      </p:sp>
      <p:sp>
        <p:nvSpPr>
          <p:cNvPr id="9" name="Text 7"/>
          <p:cNvSpPr/>
          <p:nvPr/>
        </p:nvSpPr>
        <p:spPr>
          <a:xfrm>
            <a:off x="812800" y="3136603"/>
            <a:ext cx="654050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23705C"/>
                </a:solidFill>
                <a:latin typeface="DM Sans" pitchFamily="34" charset="0"/>
                <a:ea typeface="DM Sans" pitchFamily="34" charset="-122"/>
                <a:cs typeface="DM Sans" pitchFamily="34" charset="-120"/>
                <a:hlinkClick r:id="rId5">
                  <a:extLst>
                    <a:ext uri="{A12FA001-AC4F-418D-AE19-62706E023703}">
                      <ahyp:hlinkClr xmlns:ahyp="http://schemas.microsoft.com/office/drawing/2018/hyperlinkcolor" val="tx"/>
                    </a:ext>
                  </a:extLst>
                </a:hlinkClick>
              </a:rPr>
              <a:t>instructure.com/canvas</a:t>
            </a:r>
            <a:endParaRPr lang="en-US" sz="1200" dirty="0"/>
          </a:p>
        </p:txBody>
      </p:sp>
      <p:sp>
        <p:nvSpPr>
          <p:cNvPr id="10" name="Text 8"/>
          <p:cNvSpPr/>
          <p:nvPr/>
        </p:nvSpPr>
        <p:spPr>
          <a:xfrm>
            <a:off x="812800" y="3489623"/>
            <a:ext cx="65405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2420"/>
                </a:solidFill>
                <a:latin typeface="DM Sans" pitchFamily="34" charset="0"/>
                <a:ea typeface="DM Sans" pitchFamily="34" charset="-122"/>
                <a:cs typeface="DM Sans" pitchFamily="34" charset="-120"/>
              </a:rPr>
              <a:t>Khanmigo, Khan Academy</a:t>
            </a:r>
            <a:endParaRPr lang="en-US" sz="1200" dirty="0"/>
          </a:p>
        </p:txBody>
      </p:sp>
      <p:sp>
        <p:nvSpPr>
          <p:cNvPr id="11" name="Text 9"/>
          <p:cNvSpPr/>
          <p:nvPr/>
        </p:nvSpPr>
        <p:spPr>
          <a:xfrm>
            <a:off x="812800" y="3715643"/>
            <a:ext cx="654050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23705C"/>
                </a:solidFill>
                <a:latin typeface="DM Sans" pitchFamily="34" charset="0"/>
                <a:ea typeface="DM Sans" pitchFamily="34" charset="-122"/>
                <a:cs typeface="DM Sans" pitchFamily="34" charset="-120"/>
                <a:hlinkClick r:id="rId6">
                  <a:extLst>
                    <a:ext uri="{A12FA001-AC4F-418D-AE19-62706E023703}">
                      <ahyp:hlinkClr xmlns:ahyp="http://schemas.microsoft.com/office/drawing/2018/hyperlinkcolor" val="tx"/>
                    </a:ext>
                  </a:extLst>
                </a:hlinkClick>
              </a:rPr>
              <a:t>khanmigo.ai</a:t>
            </a:r>
            <a:endParaRPr lang="en-US" sz="1200" dirty="0"/>
          </a:p>
        </p:txBody>
      </p:sp>
      <p:sp>
        <p:nvSpPr>
          <p:cNvPr id="12" name="Text 10"/>
          <p:cNvSpPr/>
          <p:nvPr/>
        </p:nvSpPr>
        <p:spPr>
          <a:xfrm>
            <a:off x="812800" y="4068664"/>
            <a:ext cx="65405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2420"/>
                </a:solidFill>
                <a:latin typeface="DM Sans" pitchFamily="34" charset="0"/>
                <a:ea typeface="DM Sans" pitchFamily="34" charset="-122"/>
                <a:cs typeface="DM Sans" pitchFamily="34" charset="-120"/>
              </a:rPr>
              <a:t>Wayground, Reports on Wayground</a:t>
            </a:r>
            <a:endParaRPr lang="en-US" sz="1200" dirty="0"/>
          </a:p>
        </p:txBody>
      </p:sp>
      <p:sp>
        <p:nvSpPr>
          <p:cNvPr id="13" name="Text 11"/>
          <p:cNvSpPr/>
          <p:nvPr/>
        </p:nvSpPr>
        <p:spPr>
          <a:xfrm>
            <a:off x="812800" y="4294684"/>
            <a:ext cx="654050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23705C"/>
                </a:solidFill>
                <a:latin typeface="DM Sans" pitchFamily="34" charset="0"/>
                <a:ea typeface="DM Sans" pitchFamily="34" charset="-122"/>
                <a:cs typeface="DM Sans" pitchFamily="34" charset="-120"/>
                <a:hlinkClick r:id="rId7">
                  <a:extLst>
                    <a:ext uri="{A12FA001-AC4F-418D-AE19-62706E023703}">
                      <ahyp:hlinkClr xmlns:ahyp="http://schemas.microsoft.com/office/drawing/2018/hyperlinkcolor" val="tx"/>
                    </a:ext>
                  </a:extLst>
                </a:hlinkClick>
              </a:rPr>
              <a:t>help.wayground.com/support/solutions/articles/158000404058</a:t>
            </a:r>
            <a:endParaRPr lang="en-US" sz="1200" dirty="0"/>
          </a:p>
        </p:txBody>
      </p:sp>
      <p:sp>
        <p:nvSpPr>
          <p:cNvPr id="14" name="Text 12"/>
          <p:cNvSpPr/>
          <p:nvPr/>
        </p:nvSpPr>
        <p:spPr>
          <a:xfrm>
            <a:off x="812800" y="4647704"/>
            <a:ext cx="6540500"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2420"/>
                </a:solidFill>
                <a:latin typeface="DM Sans" pitchFamily="34" charset="0"/>
                <a:ea typeface="DM Sans" pitchFamily="34" charset="-122"/>
                <a:cs typeface="DM Sans" pitchFamily="34" charset="-120"/>
              </a:rPr>
              <a:t>Peterson and Davie, Computer Networks: A Systems Approach, §1.5.1 “Bandwidth and Latency,” CC BY 4.0</a:t>
            </a:r>
            <a:endParaRPr lang="en-US" sz="1200" dirty="0"/>
          </a:p>
        </p:txBody>
      </p:sp>
      <p:sp>
        <p:nvSpPr>
          <p:cNvPr id="15" name="Text 13"/>
          <p:cNvSpPr/>
          <p:nvPr/>
        </p:nvSpPr>
        <p:spPr>
          <a:xfrm>
            <a:off x="812800" y="5087045"/>
            <a:ext cx="654050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23705C"/>
                </a:solidFill>
                <a:latin typeface="DM Sans" pitchFamily="34" charset="0"/>
                <a:ea typeface="DM Sans" pitchFamily="34" charset="-122"/>
                <a:cs typeface="DM Sans" pitchFamily="34" charset="-120"/>
                <a:hlinkClick r:id="rId8">
                  <a:extLst>
                    <a:ext uri="{A12FA001-AC4F-418D-AE19-62706E023703}">
                      <ahyp:hlinkClr xmlns:ahyp="http://schemas.microsoft.com/office/drawing/2018/hyperlinkcolor" val="tx"/>
                    </a:ext>
                  </a:extLst>
                </a:hlinkClick>
              </a:rPr>
              <a:t>github.com/SystemsApproach/book</a:t>
            </a:r>
            <a:r>
              <a:rPr lang="en-US" sz="1200" dirty="0">
                <a:solidFill>
                  <a:srgbClr val="23705C"/>
                </a:solidFill>
                <a:latin typeface="DM Sans" pitchFamily="34" charset="0"/>
                <a:ea typeface="DM Sans" pitchFamily="34" charset="-122"/>
                <a:cs typeface="DM Sans" pitchFamily="34" charset="-120"/>
              </a:rPr>
              <a:t> · </a:t>
            </a:r>
            <a:r>
              <a:rPr lang="en-US" sz="1200" u="sng" dirty="0">
                <a:solidFill>
                  <a:srgbClr val="23705C"/>
                </a:solidFill>
                <a:latin typeface="DM Sans" pitchFamily="34" charset="0"/>
                <a:ea typeface="DM Sans" pitchFamily="34" charset="-122"/>
                <a:cs typeface="DM Sans" pitchFamily="34" charset="-120"/>
                <a:hlinkClick r:id="rId9">
                  <a:extLst>
                    <a:ext uri="{A12FA001-AC4F-418D-AE19-62706E023703}">
                      <ahyp:hlinkClr xmlns:ahyp="http://schemas.microsoft.com/office/drawing/2018/hyperlinkcolor" val="tx"/>
                    </a:ext>
                  </a:extLst>
                </a:hlinkClick>
              </a:rPr>
              <a:t>creativecommons.org/licenses/by/4.0</a:t>
            </a:r>
            <a:endParaRPr lang="en-US" sz="1200" dirty="0"/>
          </a:p>
        </p:txBody>
      </p:sp>
      <p:sp>
        <p:nvSpPr>
          <p:cNvPr id="16" name="Shape 14"/>
          <p:cNvSpPr/>
          <p:nvPr/>
        </p:nvSpPr>
        <p:spPr>
          <a:xfrm>
            <a:off x="7569200" y="1777901"/>
            <a:ext cx="3810000" cy="4064099"/>
          </a:xfrm>
          <a:prstGeom prst="roundRect">
            <a:avLst>
              <a:gd name="adj" fmla="val 4000"/>
            </a:avLst>
          </a:prstGeom>
          <a:solidFill>
            <a:srgbClr val="DCEDE3"/>
          </a:solidFill>
          <a:ln/>
        </p:spPr>
        <p:txBody>
          <a:bodyPr/>
          <a:lstStyle/>
          <a:p>
            <a:endParaRPr lang="en-US"/>
          </a:p>
        </p:txBody>
      </p:sp>
      <p:sp>
        <p:nvSpPr>
          <p:cNvPr id="17" name="Text 15"/>
          <p:cNvSpPr/>
          <p:nvPr/>
        </p:nvSpPr>
        <p:spPr>
          <a:xfrm>
            <a:off x="7848600" y="2057301"/>
            <a:ext cx="3348736"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3705C"/>
                </a:solidFill>
                <a:latin typeface="DM Sans" pitchFamily="34" charset="0"/>
                <a:ea typeface="DM Sans" pitchFamily="34" charset="-122"/>
                <a:cs typeface="DM Sans" pitchFamily="34" charset="-120"/>
              </a:rPr>
              <a:t>BUILT WITH</a:t>
            </a:r>
            <a:endParaRPr lang="en-US" sz="1200" dirty="0"/>
          </a:p>
        </p:txBody>
      </p:sp>
      <p:sp>
        <p:nvSpPr>
          <p:cNvPr id="18" name="Text 16"/>
          <p:cNvSpPr/>
          <p:nvPr/>
        </p:nvSpPr>
        <p:spPr>
          <a:xfrm>
            <a:off x="7848600" y="2410321"/>
            <a:ext cx="3348736"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2420"/>
                </a:solidFill>
                <a:latin typeface="DM Sans" pitchFamily="34" charset="0"/>
                <a:ea typeface="DM Sans" pitchFamily="34" charset="-122"/>
                <a:cs typeface="DM Sans" pitchFamily="34" charset="-120"/>
              </a:rPr>
              <a:t>Frontend</a:t>
            </a:r>
            <a:r>
              <a:rPr lang="en-US" sz="1200" dirty="0">
                <a:solidFill>
                  <a:srgbClr val="1B2420"/>
                </a:solidFill>
                <a:latin typeface="DM Sans" pitchFamily="34" charset="0"/>
                <a:ea typeface="DM Sans" pitchFamily="34" charset="-122"/>
                <a:cs typeface="DM Sans" pitchFamily="34" charset="-120"/>
              </a:rPr>
              <a:t> · Next.js, React, TypeScript, Tailwind CSS</a:t>
            </a:r>
            <a:endParaRPr lang="en-US" sz="1200" dirty="0"/>
          </a:p>
        </p:txBody>
      </p:sp>
      <p:sp>
        <p:nvSpPr>
          <p:cNvPr id="19" name="Text 17"/>
          <p:cNvSpPr/>
          <p:nvPr/>
        </p:nvSpPr>
        <p:spPr>
          <a:xfrm>
            <a:off x="7848600" y="2976662"/>
            <a:ext cx="3348736" cy="66536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2420"/>
                </a:solidFill>
                <a:latin typeface="DM Sans" pitchFamily="34" charset="0"/>
                <a:ea typeface="DM Sans" pitchFamily="34" charset="-122"/>
                <a:cs typeface="DM Sans" pitchFamily="34" charset="-120"/>
              </a:rPr>
              <a:t>Backend and data</a:t>
            </a:r>
            <a:r>
              <a:rPr lang="en-US" sz="1200" dirty="0">
                <a:solidFill>
                  <a:srgbClr val="1B2420"/>
                </a:solidFill>
                <a:latin typeface="DM Sans" pitchFamily="34" charset="0"/>
                <a:ea typeface="DM Sans" pitchFamily="34" charset="-122"/>
                <a:cs typeface="DM Sans" pitchFamily="34" charset="-120"/>
              </a:rPr>
              <a:t> · Next.js server endpoints, Node.js, PostgreSQL, Docker Compose, Better Auth</a:t>
            </a:r>
            <a:endParaRPr lang="en-US" sz="1200" dirty="0"/>
          </a:p>
        </p:txBody>
      </p:sp>
      <p:sp>
        <p:nvSpPr>
          <p:cNvPr id="20" name="Text 18"/>
          <p:cNvSpPr/>
          <p:nvPr/>
        </p:nvSpPr>
        <p:spPr>
          <a:xfrm>
            <a:off x="7848600" y="3756323"/>
            <a:ext cx="3348736" cy="66536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2420"/>
                </a:solidFill>
                <a:latin typeface="DM Sans" pitchFamily="34" charset="0"/>
                <a:ea typeface="DM Sans" pitchFamily="34" charset="-122"/>
                <a:cs typeface="DM Sans" pitchFamily="34" charset="-120"/>
              </a:rPr>
              <a:t>AI and evaluation</a:t>
            </a:r>
            <a:r>
              <a:rPr lang="en-US" sz="1200" dirty="0">
                <a:solidFill>
                  <a:srgbClr val="1B2420"/>
                </a:solidFill>
                <a:latin typeface="DM Sans" pitchFamily="34" charset="0"/>
                <a:ea typeface="DM Sans" pitchFamily="34" charset="-122"/>
                <a:cs typeface="DM Sans" pitchFamily="34" charset="-120"/>
              </a:rPr>
              <a:t> · OpenAI API, structured outputs, source-grounded retrieval, server-side action validation, Zod schemas</a:t>
            </a:r>
            <a:endParaRPr lang="en-US" sz="1200" dirty="0"/>
          </a:p>
        </p:txBody>
      </p:sp>
      <p:sp>
        <p:nvSpPr>
          <p:cNvPr id="21" name="Text 19"/>
          <p:cNvSpPr/>
          <p:nvPr/>
        </p:nvSpPr>
        <p:spPr>
          <a:xfrm>
            <a:off x="7848600" y="4535984"/>
            <a:ext cx="3348736" cy="87868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2420"/>
                </a:solidFill>
                <a:latin typeface="DM Sans" pitchFamily="34" charset="0"/>
                <a:ea typeface="DM Sans" pitchFamily="34" charset="-122"/>
                <a:cs typeface="DM Sans" pitchFamily="34" charset="-120"/>
              </a:rPr>
              <a:t>Quality</a:t>
            </a:r>
            <a:r>
              <a:rPr lang="en-US" sz="1200" dirty="0">
                <a:solidFill>
                  <a:srgbClr val="1B2420"/>
                </a:solidFill>
                <a:latin typeface="DM Sans" pitchFamily="34" charset="0"/>
                <a:ea typeface="DM Sans" pitchFamily="34" charset="-122"/>
                <a:cs typeface="DM Sans" pitchFamily="34" charset="-120"/>
              </a:rPr>
              <a:t> · GitHub Actions, TypeScript and deterministic tests, browser integration tests, authentication, data-integrity and recovery tests</a:t>
            </a:r>
            <a:endParaRPr lang="en-US" sz="1200" dirty="0"/>
          </a:p>
        </p:txBody>
      </p:sp>
      <p:sp>
        <p:nvSpPr>
          <p:cNvPr id="23" name="Text 21"/>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A65"/>
                </a:solidFill>
                <a:latin typeface="DM Sans" pitchFamily="34" charset="0"/>
                <a:ea typeface="DM Sans" pitchFamily="34" charset="-122"/>
                <a:cs typeface="DM Sans" pitchFamily="34" charset="-120"/>
              </a:rPr>
              <a:t>14</a:t>
            </a:r>
            <a:endParaRPr lang="en-US" sz="1200" dirty="0"/>
          </a:p>
        </p:txBody>
      </p:sp>
    </p:spTree>
  </p:cSld>
  <p:clrMapOvr>
    <a:masterClrMapping/>
  </p:clrMapOvr>
</p:sld>
</file>

<file path=ppt/theme/theme1.xml><?xml version="1.0" encoding="utf-8"?>
<a:theme xmlns:a="http://schemas.openxmlformats.org/drawingml/2006/main" name="Learning Pulse — 7-minute pitch">
  <a:themeElements>
    <a:clrScheme name="Learning Pulse — 7-minute pitch">
      <a:dk1>
        <a:srgbClr val="1B2420"/>
      </a:dk1>
      <a:lt1>
        <a:srgbClr val="F5F2EA"/>
      </a:lt1>
      <a:dk2>
        <a:srgbClr val="525853"/>
      </a:dk2>
      <a:lt2>
        <a:srgbClr val="DFDDD6"/>
      </a:lt2>
      <a:accent1>
        <a:srgbClr val="23705C"/>
      </a:accent1>
      <a:accent2>
        <a:srgbClr val="9ED8BF"/>
      </a:accent2>
      <a:accent3>
        <a:srgbClr val="1E4A3E"/>
      </a:accent3>
      <a:accent4>
        <a:srgbClr val="F3E3C3"/>
      </a:accent4>
      <a:accent5>
        <a:srgbClr val="8A5A0B"/>
      </a:accent5>
      <a:accent6>
        <a:srgbClr val="4B5853"/>
      </a:accent6>
      <a:hlink>
        <a:srgbClr val="0563C1"/>
      </a:hlink>
      <a:folHlink>
        <a:srgbClr val="954F72"/>
      </a:folHlink>
    </a:clrScheme>
    <a:fontScheme name="Learning Pulse — 7-minute pitch">
      <a:majorFont>
        <a:latin typeface="Newsread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TotalTime>
  <Words>3007</Words>
  <Application>Microsoft Office PowerPoint</Application>
  <PresentationFormat>Widescreen</PresentationFormat>
  <Paragraphs>246</Paragraphs>
  <Slides>15</Slides>
  <Notes>15</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Newsreader</vt:lpstr>
      <vt:lpstr>DM Sans</vt:lpstr>
      <vt:lpstr>Arial</vt:lpstr>
      <vt:lpstr>Learning Pulse — 7-minute pitch</vt:lpstr>
      <vt:lpstr>Learning Pulse</vt:lpstr>
      <vt:lpstr>Sam’s confusion stays hidden until the exam</vt:lpstr>
      <vt:lpstr>Today’s tools each see part of the picture</vt:lpstr>
      <vt:lpstr>We start where concepts are hardest</vt:lpstr>
      <vt:lpstr>Learning Pulse connects both sides of learning</vt:lpstr>
      <vt:lpstr>The teacher sets the source of truth</vt:lpstr>
      <vt:lpstr>Sam works through the question with a tutor</vt:lpstr>
      <vt:lpstr>Inside the tutor: propose, check, act, record</vt:lpstr>
      <vt:lpstr>The professor sees how students reasoned</vt:lpstr>
      <vt:lpstr>See it in action</vt:lpstr>
      <vt:lpstr>From answering questions to improving instruction</vt:lpstr>
      <vt:lpstr>Responsible by design, honest about limits</vt:lpstr>
      <vt:lpstr>From one lesson to a whole course</vt:lpstr>
      <vt:lpstr>Learning Pulse turns student reasoning into better-informed teaching decisions.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Learning Pulse — 7-minute pitch</dc:title>
  <dc:subject/>
  <dc:creator>Peter Bucci</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presentationâ€™s text: its family and style names and the weight and style it declares were rewritten, and any digital signature, which no longer matched, was removed. Google Fonts serves each family in parts, one file per range of characters, so these may not be a familyâ€™s complete files. Each familyâ€™s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dc:description>
  <cp:lastModifiedBy>Peter A Bucci</cp:lastModifiedBy>
  <cp:revision>8</cp:revision>
  <dcterms:created xsi:type="dcterms:W3CDTF">2026-10-25T22:17:13Z</dcterms:created>
  <dcterms:modified xsi:type="dcterms:W3CDTF">2026-10-26T02:14:23Z</dcterms:modified>
</cp:coreProperties>
</file>