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71" r:id="rId6"/>
    <p:sldId id="261" r:id="rId7"/>
    <p:sldId id="262" r:id="rId8"/>
    <p:sldId id="263" r:id="rId9"/>
    <p:sldId id="270" r:id="rId10"/>
    <p:sldId id="272" r:id="rId11"/>
    <p:sldId id="266" r:id="rId12"/>
    <p:sldId id="267" r:id="rId13"/>
    <p:sldId id="268" r:id="rId14"/>
    <p:sldId id="269" r:id="rId15"/>
  </p:sldIdLst>
  <p:sldSz cx="12192000" cy="6858000"/>
  <p:notesSz cx="6858000" cy="12192000"/>
  <p:embeddedFontLst>
    <p:embeddedFont>
      <p:font typeface="DM Sans" pitchFamily="2" charset="77"/>
      <p:regular r:id="rId17"/>
      <p:bold r:id="rId18"/>
    </p:embeddedFont>
    <p:embeddedFont>
      <p:font typeface="Newsreader" panose="02000000000000000000" pitchFamily="2" charset="77"/>
      <p:regular r:id="rId19"/>
      <p:bold r:id="rId20"/>
      <p:italic r:id="rId21"/>
      <p:boldItalic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19" d="100"/>
          <a:sy n="119"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027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 seconds] Good afternoon. We’re Team 3: Peter, Ashriya, Anya, Drashti, Haniya and Swikritee, students here at UMass Boston. Our project is Learning Pulse. Our tagline is “a little insight, a better next step.” Learning Pulse connects AI-assisted student learning with the evidence teachers need to make better instructional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 40 seconds] Picture Sam, a student in an intro networking course. In lecture, Sam knows the vocabulary and feels confident. At home, Sam quietly mixes up two ideas, transmission delay and propagation delay, without noticing. The confusion only shows up on the exam, and by then the professor sees just a wrong answer and a grade. That grade doesn’t say what Sam misunderstood, whether Sam got help, or whether half the class had the same problem. Students need help when confusion happens. Teachers need to see it before it becomes a grade. (Note, not spoken: Sam is an illustrative student, not a real user.)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 30 seconds] Good tools already exist. Directly, Khanmigo offers AI tutoring and teacher support, and Wayground and Kahoot offer practice with reporting. Indirectly, Canvas, Blackboard and Google Classroom run the course, and students can always ask a general chatbot. We’re not claiming these tools lack AI or analytics. Our focus is narrower: one course-specific loop, from a student’s reasoning, to evidence, to the teacher’s review, to an approved follow-up, and back to new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[1:30–1:55 · 25 seconds] Our primary users are university instructors who want to catch misunderstandings early. Students like Sam get guided help outside class, and departments and teaching centers could adopt it more broadly. We’re starting with concept-heavy intro courses, beginning with a networking lesson here at UMass Boston. For scale, about 16.2 million undergraduates enrolled in the U.S. last fall. That’s context, not a market claim.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2614C-B866-5CE2-8070-5B9E3149B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095F0-D417-1BE8-C3DF-A7D1CAE6C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3E9D1-D971-1D0E-2B6B-B51BC78FF228}"/>
              </a:ext>
            </a:extLst>
          </p:cNvPr>
          <p:cNvSpPr>
            <a:spLocks noGrp="1"/>
          </p:cNvSpPr>
          <p:nvPr>
            <p:ph type="body" idx="1"/>
          </p:nvPr>
        </p:nvSpPr>
        <p:spPr/>
        <p:txBody>
          <a:bodyPr/>
          <a:lstStyle/>
          <a:p>
            <a:r>
              <a:t>[1:55–2:25 · 30 seconds] Here’s the whole idea on one slide. First, the teacher prepares a lesson. AI can propose material, but the teacher approves it. Second, the student works through it with an AI tutor, and the system records what the student actually wrote and what help they actually saw. Third, the teacher investigates that evidence and approves a targeted follow-up, which becomes new student work. Then the loop continues. Let’s follow Sam through each step.</a:t>
            </a:r>
          </a:p>
        </p:txBody>
      </p:sp>
      <p:sp>
        <p:nvSpPr>
          <p:cNvPr id="4" name="Slide Number Placeholder 3">
            <a:extLst>
              <a:ext uri="{FF2B5EF4-FFF2-40B4-BE49-F238E27FC236}">
                <a16:creationId xmlns:a16="http://schemas.microsoft.com/office/drawing/2014/main" id="{B7A3DD1D-A1B4-BC3C-0960-3986D7B25B9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46188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[2:25–2:50 · 25 seconds] Step one is the teacher. An instructor brings in course material; for our demo, an openly licensed networking textbook section. Learning Pulse organizes it into source passages, and AI can propose objectives and questions. The teacher edits them and publishes a fixed lesson version. AI proposes; the teacher approves. And as you see on the right, every answer stays tied to that exact version and passage.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[2:50–3:30 · 40 seconds] Step two: Sam opens the assignment. If a cable becomes twice as long, what happens to transmission and propagation delay? Sam can answer or ask for help in the same box. The system tells a help request from an answer, and if it’s unclear, it asks before grading. Here, Sam asks for help. Instead of giving the answer away, the tutor separates the two ideas and points Sam back to the assigned reading. Learning Pulse records what Sam wrote and what help was actually shown. These screens are from our test environment.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[3:30–4:15 · 45 seconds] For the technical judges, here’s the agentic part in plain terms. When Sam sends a message, the AI doesn’t act on its own. It proposes an instructional action, like retrieving a passage or evaluating an answer. Our server checks that proposal: is this student allowed, is this the right lesson version, is the source approved? Only then does an authorized tool run. The result is recorded as evidence, and the tutor observes it to choose the next step. So it’s one tutor with a bounded set of tools, not a team of autonomous agents, with structured outputs and Zod schemas validating each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[4:15–4:55 · 40 seconds] Step three: the professor. Instead of one percentage, the class grid shows every student’s attempts on each idea, and flags answers given after help. Here, one fictional student has a long run of mixed attempts on transmission delay, the kind of pattern Sam would leave. Select a cell to read the student’s original words and the accepted evaluation. Uncertain evidence isn’t treated as wrong, and a possible misconception isn’t presented as fact. From any response, the professor can prepare a follow-up, and as these steps show, nothing reaches students until the professor approves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5DDE5-AF09-F002-8DC7-57A70BD87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3A211-4E2E-6EF0-7B1F-898F819C8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F1FAFD-A237-E686-89D2-F11C5F0DA65B}"/>
              </a:ext>
            </a:extLst>
          </p:cNvPr>
          <p:cNvSpPr>
            <a:spLocks noGrp="1"/>
          </p:cNvSpPr>
          <p:nvPr>
            <p:ph type="body" idx="1"/>
          </p:nvPr>
        </p:nvSpPr>
        <p:spPr/>
        <p:txBody>
          <a:bodyPr/>
          <a:lstStyle/>
          <a:p>
            <a:r>
              <a:t>[4:55–5:25 · 30 seconds] So what sets Learning Pulse apart? First, we capture reasoning, not just correctness: answers, help received and evaluations stay together. Second, learning stays grounded in instructor-approved material, and old work keeps its original source. Third, AI helps close the loop, but people decide: instructors approve every official action. These describe our focus, not claims that other tools can’t do any of this.</a:t>
            </a:r>
          </a:p>
        </p:txBody>
      </p:sp>
      <p:sp>
        <p:nvSpPr>
          <p:cNvPr id="4" name="Slide Number Placeholder 3">
            <a:extLst>
              <a:ext uri="{FF2B5EF4-FFF2-40B4-BE49-F238E27FC236}">
                <a16:creationId xmlns:a16="http://schemas.microsoft.com/office/drawing/2014/main" id="{1FAFFD9D-DA6F-803D-88B4-BAD24F85298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87307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[5:25–6:05 · 40 seconds] Because this is an agentic AI project, responsibility matters. Every AI action passes server checks before it runs. Teachers approve interventions before students see them, and uncertain evidence is never scored as wrong. We’ve tested this with unit tests, signed-in browser workflows using fictional students, and database and recovery checks. But those are engineering checks. We haven’t measured learning outcomes, this isn’t a production deployment, and accessibility and device testing are still in progress. Our principle: AI supports instructional decisions; it doesn’t replace educator judgment.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[6:05–6:30 · 25 seconds] Near term, we want to prove this in real classrooms: finish cross-role testing, validate the tutor with real models, and pilot with instructors and students. Then we’ll broaden to more subjects and connect with Canvas. Long term, Learning Pulse could become a learning intelligence layer for a whole course. Licensing is a possible model, but it isn’t validated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[6:30–6:45 · 15 seconds] So the next time Sam mixes up two ideas, the professor can see it and help before it becomes a grade. Learning Pulse turns student reasoning into better-informed teaching decisions. Thank you. We’d love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for reference during Q&amp;A; not presented in the 7-minute talk.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20"/>
                </a:solidFill>
                <a:latin typeface="Newsreader" pitchFamily="34" charset="0"/>
                <a:ea typeface="Newsreader" pitchFamily="34" charset="-122"/>
                <a:cs typeface="Newsread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77901"/>
            <a:ext cx="10566400" cy="426729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20"/>
                </a:solidFill>
                <a:latin typeface="Newsreader" pitchFamily="34" charset="0"/>
                <a:ea typeface="Newsreader" pitchFamily="34" charset="-122"/>
                <a:cs typeface="Newsreader"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777901"/>
            <a:ext cx="10566400" cy="4267299"/>
          </a:xfrm>
          <a:prstGeom prst="rect">
            <a:avLst/>
          </a:prstGeom>
          <a:noFill/>
          <a:ln/>
        </p:spPr>
        <p:txBody>
          <a:bodyPr wrap="square" lIns="0" tIns="0" rIns="0" bIns="0" rtlCol="0" anchor="t"/>
          <a:lstStyle>
            <a:lvl1pPr marL="0" indent="0" algn="l">
              <a:lnSpc>
                <a:spcPct val="140000"/>
              </a:lnSpc>
              <a:buNone/>
              <a:defRPr lang="en-US" sz="1600" dirty="0">
                <a:solidFill>
                  <a:srgbClr val="1B242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jpeg"/><Relationship Id="rId8" Type="http://schemas.openxmlformats.org/officeDocument/2006/relationships/image" Target="../media/image6.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 Id="rId12" Type="http://schemas.openxmlformats.org/officeDocument/2006/relationships/image" Target="../media/image41.png"/><Relationship Id="rId13" Type="http://schemas.openxmlformats.org/officeDocument/2006/relationships/image" Target="../media/image42.png"/><Relationship Id="rId14" Type="http://schemas.openxmlformats.org/officeDocument/2006/relationships/image" Target="../media/image43.png"/><Relationship Id="rId15" Type="http://schemas.openxmlformats.org/officeDocument/2006/relationships/image" Target="../media/image44.png"/><Relationship Id="rId16" Type="http://schemas.openxmlformats.org/officeDocument/2006/relationships/image" Target="../media/image45.png"/><Relationship Id="rId17" Type="http://schemas.openxmlformats.org/officeDocument/2006/relationships/image" Target="../media/image4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image" Target="../media/image51.png"/><Relationship Id="rId9"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 Id="rId16" Type="http://schemas.openxmlformats.org/officeDocument/2006/relationships/image" Target="../media/image68.png"/><Relationship Id="rId17" Type="http://schemas.openxmlformats.org/officeDocument/2006/relationships/image" Target="../media/image69.png"/><Relationship Id="rId18" Type="http://schemas.openxmlformats.org/officeDocument/2006/relationships/image" Target="../media/image70.png"/><Relationship Id="rId19" Type="http://schemas.openxmlformats.org/officeDocument/2006/relationships/image" Target="../media/image71.png"/><Relationship Id="rId20" Type="http://schemas.openxmlformats.org/officeDocument/2006/relationships/image" Target="../media/image7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image" Target="../media/image7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6" Type="http://schemas.openxmlformats.org/officeDocument/2006/relationships/image" Target="../media/image80.png"/><Relationship Id="rId7" Type="http://schemas.openxmlformats.org/officeDocument/2006/relationships/image" Target="../media/image62.png"/><Relationship Id="rId8" Type="http://schemas.openxmlformats.org/officeDocument/2006/relationships/image" Target="../media/image81.png"/><Relationship Id="rId9"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image" Target="../media/image85.png"/><Relationship Id="rId13" Type="http://schemas.openxmlformats.org/officeDocument/2006/relationships/image" Target="../media/image56.png"/><Relationship Id="rId14" Type="http://schemas.openxmlformats.org/officeDocument/2006/relationships/image" Target="../media/image8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8" Type="http://schemas.openxmlformats.org/officeDocument/2006/relationships/image" Target="../media/image64.png"/><Relationship Id="rId9" Type="http://schemas.openxmlformats.org/officeDocument/2006/relationships/image" Target="../media/image62.png"/><Relationship Id="rId10" Type="http://schemas.openxmlformats.org/officeDocument/2006/relationships/image" Target="../media/image87.pn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86.png"/><Relationship Id="rId14" Type="http://schemas.openxmlformats.org/officeDocument/2006/relationships/image" Target="../media/image75.png"/><Relationship Id="rId15" Type="http://schemas.openxmlformats.org/officeDocument/2006/relationships/image" Target="../media/image90.png"/><Relationship Id="rId16" Type="http://schemas.openxmlformats.org/officeDocument/2006/relationships/image" Target="../media/image91.png"/><Relationship Id="rId17" Type="http://schemas.openxmlformats.org/officeDocument/2006/relationships/image" Target="../media/image92.png"/><Relationship Id="rId18" Type="http://schemas.openxmlformats.org/officeDocument/2006/relationships/image" Target="../media/image93.png"/><Relationship Id="rId19" Type="http://schemas.openxmlformats.org/officeDocument/2006/relationships/image" Target="../media/image94.png"/><Relationship Id="rId20" Type="http://schemas.openxmlformats.org/officeDocument/2006/relationships/image" Target="../media/image95.png"/><Relationship Id="rId21" Type="http://schemas.openxmlformats.org/officeDocument/2006/relationships/image" Target="../media/image96.png"/><Relationship Id="rId22" Type="http://schemas.openxmlformats.org/officeDocument/2006/relationships/image" Target="../media/image97.png"/><Relationship Id="rId23" Type="http://schemas.openxmlformats.org/officeDocument/2006/relationships/image" Target="../media/image98.png"/><Relationship Id="rId24" Type="http://schemas.openxmlformats.org/officeDocument/2006/relationships/image" Target="../media/image99.png"/><Relationship Id="rId25" Type="http://schemas.openxmlformats.org/officeDocument/2006/relationships/image" Target="../media/image100.png"/><Relationship Id="rId26" Type="http://schemas.openxmlformats.org/officeDocument/2006/relationships/image" Target="../media/image10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94.png"/><Relationship Id="rId10" Type="http://schemas.openxmlformats.org/officeDocument/2006/relationships/image" Target="../media/image104.png"/><Relationship Id="rId11" Type="http://schemas.openxmlformats.org/officeDocument/2006/relationships/image" Target="../media/image105.png"/><Relationship Id="rId12" Type="http://schemas.openxmlformats.org/officeDocument/2006/relationships/image" Target="../media/image106.png"/><Relationship Id="rId13" Type="http://schemas.openxmlformats.org/officeDocument/2006/relationships/image" Target="../media/image96.png"/><Relationship Id="rId14" Type="http://schemas.openxmlformats.org/officeDocument/2006/relationships/image" Target="../media/image107.png"/><Relationship Id="rId15" Type="http://schemas.openxmlformats.org/officeDocument/2006/relationships/image" Target="../media/image10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4" Type="http://schemas.openxmlformats.org/officeDocument/2006/relationships/image" Target="../media/image24.png"/><Relationship Id="rId7" Type="http://schemas.openxmlformats.org/officeDocument/2006/relationships/image" Target="../media/image109.png"/><Relationship Id="rId8" Type="http://schemas.openxmlformats.org/officeDocument/2006/relationships/image" Target="../media/image110.png"/><Relationship Id="rId9" Type="http://schemas.openxmlformats.org/officeDocument/2006/relationships/image" Target="../media/image111.png"/><Relationship Id="rId10" Type="http://schemas.openxmlformats.org/officeDocument/2006/relationships/image" Target="../media/image68.png"/><Relationship Id="rId11" Type="http://schemas.openxmlformats.org/officeDocument/2006/relationships/image" Target="../media/image60.png"/><Relationship Id="rId12" Type="http://schemas.openxmlformats.org/officeDocument/2006/relationships/image" Target="../media/image112.png"/><Relationship Id="rId13" Type="http://schemas.openxmlformats.org/officeDocument/2006/relationships/image" Target="../media/image86.png"/><Relationship Id="rId14" Type="http://schemas.openxmlformats.org/officeDocument/2006/relationships/image" Target="../media/image113.png"/><Relationship Id="rId15" Type="http://schemas.openxmlformats.org/officeDocument/2006/relationships/image" Target="../media/image114.png"/><Relationship Id="rId16" Type="http://schemas.openxmlformats.org/officeDocument/2006/relationships/image" Target="../media/image100.png"/><Relationship Id="rId17" Type="http://schemas.openxmlformats.org/officeDocument/2006/relationships/image" Target="../media/image115.png"/><Relationship Id="rId18" Type="http://schemas.openxmlformats.org/officeDocument/2006/relationships/image" Target="../media/image1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4" Type="http://schemas.openxmlformats.org/officeDocument/2006/relationships/image" Target="../media/image89.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github.com/peterbucci/ai-teaching-platform" TargetMode="External"/><Relationship Id="rId4" Type="http://schemas.openxmlformats.org/officeDocument/2006/relationships/hyperlink" Target="https://nscresearchcenter.org/final-fall-enrollment-trends/" TargetMode="External"/><Relationship Id="rId5" Type="http://schemas.openxmlformats.org/officeDocument/2006/relationships/hyperlink" Target="https://www.instructure.com/canvas" TargetMode="External"/><Relationship Id="rId6" Type="http://schemas.openxmlformats.org/officeDocument/2006/relationships/hyperlink" Target="https://www.khanmigo.ai/" TargetMode="External"/><Relationship Id="rId7" Type="http://schemas.openxmlformats.org/officeDocument/2006/relationships/hyperlink" Target="https://help.wayground.com/support/solutions/articles/158000404058-reports-on-wayground" TargetMode="External"/><Relationship Id="rId8" Type="http://schemas.openxmlformats.org/officeDocument/2006/relationships/hyperlink" Target="https://github.com/SystemsApproach/book" TargetMode="External"/><Relationship Id="rId9"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B31"/>
        </a:solidFill>
        <a:effectLst/>
      </p:bgPr>
    </p:bg>
    <p:spTree>
      <p:nvGrpSpPr>
        <p:cNvPr id="1" name=""/>
        <p:cNvGrpSpPr/>
        <p:nvPr/>
      </p:nvGrpSpPr>
      <p:grpSpPr>
        <a:xfrm>
          <a:off x="0" y="0"/>
          <a:ext cx="0" cy="0"/>
          <a:chOff x="0" y="0"/>
          <a:chExt cx="0" cy="0"/>
        </a:xfrm>
      </p:grpSpPr>
      <p:pic>
        <p:nvPicPr>
          <p:cNvPr id="2" name="Image 0" descr="Learning Pulse logo"/>
          <p:cNvPicPr>
            <a:picLocks noChangeAspect="1"/>
          </p:cNvPicPr>
          <p:nvPr/>
        </p:nvPicPr>
        <p:blipFill>
          <a:blip r:embed="rId3"/>
          <a:srcRect/>
          <a:stretch/>
        </p:blipFill>
        <p:spPr>
          <a:xfrm>
            <a:off x="5090934" y="2243357"/>
            <a:ext cx="621378" cy="621378"/>
          </a:xfrm>
          <a:prstGeom prst="rect">
            <a:avLst/>
          </a:prstGeom>
        </p:spPr>
      </p:pic>
      <p:sp>
        <p:nvSpPr>
          <p:cNvPr id="3" name="Text 0"/>
          <p:cNvSpPr/>
          <p:nvPr/>
        </p:nvSpPr>
        <p:spPr>
          <a:xfrm>
            <a:off x="812800" y="805657"/>
            <a:ext cx="65034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2026 PEAAII AI APPLICATIONS HACKATHON · UMASS BOSTON</a:t>
            </a:r>
            <a:endParaRPr lang="en-US" sz="1200" dirty="0"/>
          </a:p>
        </p:txBody>
      </p:sp>
      <p:sp>
        <p:nvSpPr>
          <p:cNvPr id="4" name="Text 1"/>
          <p:cNvSpPr>
            <a:spLocks noGrp="1"/>
          </p:cNvSpPr>
          <p:nvPr>
            <p:ph type="title"/>
          </p:nvPr>
        </p:nvSpPr>
        <p:spPr>
          <a:xfrm>
            <a:off x="812800" y="2160687"/>
            <a:ext cx="10883392" cy="958056"/>
          </a:xfrm>
          <a:prstGeom prst="rect">
            <a:avLst/>
          </a:prstGeom>
          <a:noFill/>
          <a:ln/>
        </p:spPr>
        <p:txBody>
          <a:bodyPr wrap="square" lIns="0" tIns="0" rIns="0" bIns="0" rtlCol="0" anchor="t">
            <a:normAutofit fontScale="90000"/>
          </a:bodyPr>
          <a:lstStyle/>
          <a:p>
            <a:r>
              <a:rPr lang="en-US" sz="5300" b="1" i="0" kern="0" spc="-100" dirty="0">
                <a:solidFill>
                  <a:srgbClr val="F5F2EA"/>
                </a:solidFill>
                <a:latin typeface="Newsreader" pitchFamily="18" charset="0"/>
                <a:ea typeface="Newsreader" pitchFamily="18" charset="-122"/>
                <a:cs typeface="Newsreader" pitchFamily="18" charset="-120"/>
              </a:rPr>
              <a:t>Learning Pulse</a:t>
            </a:r>
            <a:br>
              <a:rPr lang="en-US" sz="7200" b="0" i="0" kern="0" spc="-100" dirty="0">
                <a:solidFill>
                  <a:srgbClr val="F5F2EA"/>
                </a:solidFill>
                <a:latin typeface="Newsreader" pitchFamily="18" charset="0"/>
                <a:ea typeface="Newsreader" pitchFamily="18" charset="-122"/>
                <a:cs typeface="Newsreader" pitchFamily="18" charset="-120"/>
              </a:rPr>
            </a:br>
            <a:r>
              <a:rPr lang="en-US" sz="3600" dirty="0">
                <a:solidFill>
                  <a:srgbClr val="F9FEFF"/>
                </a:solidFill>
              </a:rPr>
              <a:t>An AI-Agent-Driven Adaptive Teaching and Learning System</a:t>
            </a:r>
          </a:p>
        </p:txBody>
      </p:sp>
      <p:sp>
        <p:nvSpPr>
          <p:cNvPr id="5" name="Text 2"/>
          <p:cNvSpPr/>
          <p:nvPr/>
        </p:nvSpPr>
        <p:spPr>
          <a:xfrm>
            <a:off x="812800" y="3902770"/>
            <a:ext cx="10883392"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9ED8BF"/>
                </a:solidFill>
                <a:latin typeface="Newsreader" pitchFamily="18" charset="0"/>
                <a:ea typeface="Newsreader" pitchFamily="18" charset="-122"/>
                <a:cs typeface="Newsreader" pitchFamily="18" charset="-120"/>
              </a:rPr>
              <a:t>A little insight. A better next step.</a:t>
            </a:r>
            <a:endParaRPr lang="en-US" sz="2000" dirty="0"/>
          </a:p>
        </p:txBody>
      </p:sp>
      <p:sp>
        <p:nvSpPr>
          <p:cNvPr id="7" name="Text 4"/>
          <p:cNvSpPr/>
          <p:nvPr/>
        </p:nvSpPr>
        <p:spPr>
          <a:xfrm>
            <a:off x="812800" y="5349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9ED8BF"/>
                </a:solidFill>
                <a:latin typeface="DM Sans" pitchFamily="34" charset="0"/>
                <a:ea typeface="DM Sans" pitchFamily="34" charset="-122"/>
                <a:cs typeface="DM Sans" pitchFamily="34" charset="-120"/>
              </a:rPr>
              <a:t>TEAM 3</a:t>
            </a:r>
            <a:endParaRPr lang="en-US" sz="1200" dirty="0"/>
          </a:p>
        </p:txBody>
      </p:sp>
      <p:pic>
        <p:nvPicPr>
          <p:cNvPr id="8" name="Image 1" descr="Peter Bucci"/>
          <p:cNvPicPr>
            <a:picLocks noChangeAspect="1"/>
          </p:cNvPicPr>
          <p:nvPr/>
        </p:nvPicPr>
        <p:blipFill>
          <a:blip r:embed="rId4"/>
          <a:srcRect/>
          <a:stretch/>
        </p:blipFill>
        <p:spPr>
          <a:xfrm>
            <a:off x="812800" y="5689600"/>
            <a:ext cx="508000" cy="508000"/>
          </a:xfrm>
          <a:prstGeom prst="ellipse">
            <a:avLst/>
          </a:prstGeom>
        </p:spPr>
      </p:pic>
      <p:sp>
        <p:nvSpPr>
          <p:cNvPr id="9" name="Text 5"/>
          <p:cNvSpPr/>
          <p:nvPr/>
        </p:nvSpPr>
        <p:spPr>
          <a:xfrm>
            <a:off x="1422400" y="5745559"/>
            <a:ext cx="458788"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Peter</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Bucci</a:t>
            </a:r>
            <a:endParaRPr lang="en-US" sz="1200" dirty="0">
              <a:solidFill>
                <a:schemeClr val="bg1"/>
              </a:solidFill>
            </a:endParaRPr>
          </a:p>
        </p:txBody>
      </p:sp>
      <p:pic>
        <p:nvPicPr>
          <p:cNvPr id="10" name="Image 2" descr="Ashriya Tuladhar"/>
          <p:cNvPicPr>
            <a:picLocks noChangeAspect="1"/>
          </p:cNvPicPr>
          <p:nvPr/>
        </p:nvPicPr>
        <p:blipFill>
          <a:blip r:embed="rId5"/>
          <a:srcRect/>
          <a:stretch/>
        </p:blipFill>
        <p:spPr>
          <a:xfrm>
            <a:off x="2599234" y="5689600"/>
            <a:ext cx="508000" cy="508000"/>
          </a:xfrm>
          <a:prstGeom prst="ellipse">
            <a:avLst/>
          </a:prstGeom>
        </p:spPr>
      </p:pic>
      <p:sp>
        <p:nvSpPr>
          <p:cNvPr id="11" name="Text 6"/>
          <p:cNvSpPr/>
          <p:nvPr/>
        </p:nvSpPr>
        <p:spPr>
          <a:xfrm>
            <a:off x="3208834" y="5745559"/>
            <a:ext cx="686197"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Ashriya</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Tuladhar</a:t>
            </a:r>
            <a:endParaRPr lang="en-US" sz="1200" dirty="0">
              <a:solidFill>
                <a:schemeClr val="bg1"/>
              </a:solidFill>
            </a:endParaRPr>
          </a:p>
        </p:txBody>
      </p:sp>
      <p:pic>
        <p:nvPicPr>
          <p:cNvPr id="12" name="Image 3" descr="Anya Tongprasith"/>
          <p:cNvPicPr>
            <a:picLocks noChangeAspect="1"/>
          </p:cNvPicPr>
          <p:nvPr/>
        </p:nvPicPr>
        <p:blipFill>
          <a:blip r:embed="rId6"/>
          <a:srcRect/>
          <a:stretch/>
        </p:blipFill>
        <p:spPr>
          <a:xfrm>
            <a:off x="4385766" y="5689600"/>
            <a:ext cx="508000" cy="508000"/>
          </a:xfrm>
          <a:prstGeom prst="ellipse">
            <a:avLst/>
          </a:prstGeom>
        </p:spPr>
      </p:pic>
      <p:sp>
        <p:nvSpPr>
          <p:cNvPr id="13" name="Text 7"/>
          <p:cNvSpPr/>
          <p:nvPr/>
        </p:nvSpPr>
        <p:spPr>
          <a:xfrm>
            <a:off x="4995366" y="5745559"/>
            <a:ext cx="917873"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Anya</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Tongprasith</a:t>
            </a:r>
            <a:endParaRPr lang="en-US" sz="1200" dirty="0">
              <a:solidFill>
                <a:schemeClr val="bg1"/>
              </a:solidFill>
            </a:endParaRPr>
          </a:p>
        </p:txBody>
      </p:sp>
      <p:pic>
        <p:nvPicPr>
          <p:cNvPr id="14" name="Image 4" descr="Drashti Patel"/>
          <p:cNvPicPr>
            <a:picLocks noChangeAspect="1"/>
          </p:cNvPicPr>
          <p:nvPr/>
        </p:nvPicPr>
        <p:blipFill>
          <a:blip r:embed="rId7"/>
          <a:srcRect/>
          <a:stretch/>
        </p:blipFill>
        <p:spPr>
          <a:xfrm>
            <a:off x="6172200" y="5689600"/>
            <a:ext cx="508000" cy="508000"/>
          </a:xfrm>
          <a:prstGeom prst="ellipse">
            <a:avLst/>
          </a:prstGeom>
        </p:spPr>
      </p:pic>
      <p:sp>
        <p:nvSpPr>
          <p:cNvPr id="15" name="Text 8"/>
          <p:cNvSpPr/>
          <p:nvPr/>
        </p:nvSpPr>
        <p:spPr>
          <a:xfrm>
            <a:off x="6781800" y="5745559"/>
            <a:ext cx="579239"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F5F2EA"/>
                </a:solidFill>
                <a:latin typeface="DM Sans" pitchFamily="34" charset="0"/>
                <a:ea typeface="DM Sans" pitchFamily="34" charset="-122"/>
                <a:cs typeface="DM Sans" pitchFamily="34" charset="-120"/>
              </a:rPr>
              <a:t>Drashti</a:t>
            </a:r>
            <a:endParaRPr lang="en-US" sz="1200" dirty="0"/>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Patel</a:t>
            </a:r>
            <a:endParaRPr lang="en-US" sz="1200" dirty="0">
              <a:solidFill>
                <a:schemeClr val="bg1"/>
              </a:solidFill>
            </a:endParaRPr>
          </a:p>
        </p:txBody>
      </p:sp>
      <p:pic>
        <p:nvPicPr>
          <p:cNvPr id="16" name="Image 5" descr="Haniya Adil"/>
          <p:cNvPicPr>
            <a:picLocks noChangeAspect="1"/>
          </p:cNvPicPr>
          <p:nvPr/>
        </p:nvPicPr>
        <p:blipFill>
          <a:blip r:embed="rId8"/>
          <a:srcRect/>
          <a:stretch/>
        </p:blipFill>
        <p:spPr>
          <a:xfrm>
            <a:off x="7958733" y="5689600"/>
            <a:ext cx="508000" cy="508000"/>
          </a:xfrm>
          <a:prstGeom prst="ellipse">
            <a:avLst/>
          </a:prstGeom>
        </p:spPr>
      </p:pic>
      <p:sp>
        <p:nvSpPr>
          <p:cNvPr id="17" name="Text 9"/>
          <p:cNvSpPr/>
          <p:nvPr/>
        </p:nvSpPr>
        <p:spPr>
          <a:xfrm>
            <a:off x="8568333" y="5745559"/>
            <a:ext cx="547390"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Haniya</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Adil</a:t>
            </a:r>
            <a:endParaRPr lang="en-US" sz="1200" dirty="0">
              <a:solidFill>
                <a:schemeClr val="bg1"/>
              </a:solidFill>
            </a:endParaRPr>
          </a:p>
        </p:txBody>
      </p:sp>
      <p:pic>
        <p:nvPicPr>
          <p:cNvPr id="18" name="Image 6" descr="Swikritee Chuke"/>
          <p:cNvPicPr>
            <a:picLocks noChangeAspect="1"/>
          </p:cNvPicPr>
          <p:nvPr/>
        </p:nvPicPr>
        <p:blipFill>
          <a:blip r:embed="rId9"/>
          <a:srcRect/>
          <a:stretch/>
        </p:blipFill>
        <p:spPr>
          <a:xfrm>
            <a:off x="9745166" y="5689600"/>
            <a:ext cx="508000" cy="508000"/>
          </a:xfrm>
          <a:prstGeom prst="ellipse">
            <a:avLst/>
          </a:prstGeom>
        </p:spPr>
      </p:pic>
      <p:sp>
        <p:nvSpPr>
          <p:cNvPr id="19" name="Text 10"/>
          <p:cNvSpPr/>
          <p:nvPr/>
        </p:nvSpPr>
        <p:spPr>
          <a:xfrm>
            <a:off x="10354766" y="5745559"/>
            <a:ext cx="728365" cy="421481"/>
          </a:xfrm>
          <a:prstGeom prst="rect">
            <a:avLst/>
          </a:prstGeom>
          <a:noFill/>
          <a:ln/>
        </p:spPr>
        <p:txBody>
          <a:bodyPr wrap="square" lIns="0" tIns="0" rIns="0" bIns="0" rtlCol="0" anchor="t">
            <a:normAutofit/>
          </a:bodyPr>
          <a:lstStyle/>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Swikritee</a:t>
            </a:r>
            <a:endParaRPr lang="en-US" sz="1200" dirty="0">
              <a:solidFill>
                <a:schemeClr val="bg1"/>
              </a:solidFill>
            </a:endParaRPr>
          </a:p>
          <a:p>
            <a:pPr marL="0" indent="0" algn="l">
              <a:lnSpc>
                <a:spcPts val="1560"/>
              </a:lnSpc>
              <a:buNone/>
            </a:pPr>
            <a:r>
              <a:rPr lang="en-US" sz="1200" b="1" dirty="0">
                <a:solidFill>
                  <a:schemeClr val="bg1"/>
                </a:solidFill>
                <a:latin typeface="DM Sans" pitchFamily="34" charset="0"/>
                <a:ea typeface="DM Sans" pitchFamily="34" charset="-122"/>
                <a:cs typeface="DM Sans" pitchFamily="34" charset="-120"/>
              </a:rPr>
              <a:t>Chuke</a:t>
            </a:r>
            <a:endParaRPr lang="en-US" sz="12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60400"/>
            <a:ext cx="11049000" cy="584200"/>
          </a:xfrm>
          <a:prstGeom prst="rect">
            <a:avLst/>
          </a:prstGeom>
          <a:noFill/>
          <a:ln/>
        </p:spPr>
        <p:txBody>
          <a:bodyPr wrap="square" lIns="0" tIns="0" rIns="0" bIns="0" rtlCol="0" anchor="t">
            <a:noAutofit/>
          </a:bodyPr>
          <a:lstStyle/>
          <a:p>
            <a:pPr marL="0" indent="0" algn="l">
              <a:lnSpc>
                <a:spcPts val="3520"/>
              </a:lnSpc>
              <a:buNone/>
            </a:pPr>
            <a:r>
              <a:rPr sz="3000" b="0" i="0">
                <a:solidFill>
                  <a:srgbClr val="15201B"/>
                </a:solidFill>
                <a:latin typeface="Newsreader"/>
                <a:ea typeface="Newsreader"/>
                <a:cs typeface="Newsreader"/>
              </a:rPr>
              <a:t>The Gap Between Student Understanding and Teacher Awareness</a:t>
            </a:r>
            <a:endParaRPr lang="en-US" sz="24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THE PROBLEM</a:t>
            </a:r>
          </a:p>
        </p:txBody>
      </p:sp>
      <p:sp>
        <p:nvSpPr>
          <p:cNvPr id="5" name="Lead"/>
          <p:cNvSpPr txBox="1"/>
          <p:nvPr/>
        </p:nvSpPr>
        <p:spPr>
          <a:xfrm>
            <a:off x="558800" y="1244600"/>
            <a:ext cx="107950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Sam’s confusion stays hidden until the exam:</a:t>
            </a:r>
          </a:p>
        </p:txBody>
      </p:sp>
      <p:sp>
        <p:nvSpPr>
          <p:cNvPr id="6" name="Card"/>
          <p:cNvSpPr/>
          <p:nvPr/>
        </p:nvSpPr>
        <p:spPr>
          <a:xfrm>
            <a:off x="584200" y="1841500"/>
            <a:ext cx="3289300" cy="3302000"/>
          </a:xfrm>
          <a:prstGeom prst="roundRect">
            <a:avLst>
              <a:gd name="adj" fmla="val 4633"/>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7" name="Eyebrow"/>
          <p:cNvSpPr txBox="1"/>
          <p:nvPr/>
        </p:nvSpPr>
        <p:spPr>
          <a:xfrm>
            <a:off x="838200" y="2057400"/>
            <a:ext cx="2794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IN LECTURE</a:t>
            </a:r>
          </a:p>
        </p:txBody>
      </p:sp>
      <p:sp>
        <p:nvSpPr>
          <p:cNvPr id="8" name="TextBox 7"/>
          <p:cNvSpPr txBox="1"/>
          <p:nvPr/>
        </p:nvSpPr>
        <p:spPr>
          <a:xfrm>
            <a:off x="838200" y="2286000"/>
            <a:ext cx="28575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Knows the vocabulary</a:t>
            </a:r>
          </a:p>
        </p:txBody>
      </p:sp>
      <p:sp>
        <p:nvSpPr>
          <p:cNvPr id="9" name="TextBox 8"/>
          <p:cNvSpPr txBox="1"/>
          <p:nvPr/>
        </p:nvSpPr>
        <p:spPr>
          <a:xfrm>
            <a:off x="838200" y="2692400"/>
            <a:ext cx="2857500" cy="1079500"/>
          </a:xfrm>
          <a:prstGeom prst="rect">
            <a:avLst/>
          </a:prstGeom>
          <a:noFill/>
        </p:spPr>
        <p:txBody>
          <a:bodyPr wrap="square" lIns="0" rIns="0" tIns="0" bIns="0" anchor="t">
            <a:noAutofit/>
          </a:bodyPr>
          <a:lstStyle/>
          <a:p>
            <a:pPr algn="l">
              <a:lnSpc>
                <a:spcPct val="112000"/>
              </a:lnSpc>
            </a:pPr>
            <a:r>
              <a:rPr sz="1400" b="0" i="0">
                <a:solidFill>
                  <a:srgbClr val="5B6561"/>
                </a:solidFill>
                <a:latin typeface="DM Sans"/>
                <a:ea typeface="DM Sans"/>
                <a:cs typeface="DM Sans"/>
              </a:rPr>
              <a:t>Sam follows along and feels</a:t>
            </a:r>
            <a:br>
              <a:rPr sz="1400"/>
            </a:br>
            <a:r>
              <a:rPr sz="1400" b="0" i="0">
                <a:solidFill>
                  <a:srgbClr val="5B6561"/>
                </a:solidFill>
                <a:latin typeface="DM Sans"/>
                <a:ea typeface="DM Sans"/>
                <a:cs typeface="DM Sans"/>
              </a:rPr>
              <a:t>confident.</a:t>
            </a:r>
          </a:p>
        </p:txBody>
      </p:sp>
      <p:pic>
        <p:nvPicPr>
          <p:cNvPr id="10" name="Illustration" descr="p2_lecture.png"/>
          <p:cNvPicPr>
            <a:picLocks noChangeAspect="1"/>
          </p:cNvPicPr>
          <p:nvPr/>
        </p:nvPicPr>
        <p:blipFill>
          <a:blip r:embed="rId5"/>
          <a:stretch>
            <a:fillRect/>
          </a:stretch>
        </p:blipFill>
        <p:spPr>
          <a:xfrm>
            <a:off x="1405744" y="3810000"/>
            <a:ext cx="1646212" cy="1244600"/>
          </a:xfrm>
          <a:prstGeom prst="rect">
            <a:avLst/>
          </a:prstGeom>
        </p:spPr>
      </p:pic>
      <p:sp>
        <p:nvSpPr>
          <p:cNvPr id="11" name="Card"/>
          <p:cNvSpPr/>
          <p:nvPr/>
        </p:nvSpPr>
        <p:spPr>
          <a:xfrm>
            <a:off x="4445000" y="1841500"/>
            <a:ext cx="3289300" cy="3302000"/>
          </a:xfrm>
          <a:prstGeom prst="roundRect">
            <a:avLst>
              <a:gd name="adj" fmla="val 4633"/>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12" name="Eyebrow"/>
          <p:cNvSpPr txBox="1"/>
          <p:nvPr/>
        </p:nvSpPr>
        <p:spPr>
          <a:xfrm>
            <a:off x="4699000" y="2057400"/>
            <a:ext cx="2794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AT HOME</a:t>
            </a:r>
          </a:p>
        </p:txBody>
      </p:sp>
      <p:sp>
        <p:nvSpPr>
          <p:cNvPr id="13" name="TextBox 12"/>
          <p:cNvSpPr txBox="1"/>
          <p:nvPr/>
        </p:nvSpPr>
        <p:spPr>
          <a:xfrm>
            <a:off x="4699000" y="2286000"/>
            <a:ext cx="28575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Mixes up two ideas</a:t>
            </a:r>
          </a:p>
        </p:txBody>
      </p:sp>
      <p:sp>
        <p:nvSpPr>
          <p:cNvPr id="14" name="TextBox 13"/>
          <p:cNvSpPr txBox="1"/>
          <p:nvPr/>
        </p:nvSpPr>
        <p:spPr>
          <a:xfrm>
            <a:off x="4699000" y="2692400"/>
            <a:ext cx="2857500" cy="1079500"/>
          </a:xfrm>
          <a:prstGeom prst="rect">
            <a:avLst/>
          </a:prstGeom>
          <a:noFill/>
        </p:spPr>
        <p:txBody>
          <a:bodyPr wrap="square" lIns="0" rIns="0" tIns="0" bIns="0" anchor="t">
            <a:noAutofit/>
          </a:bodyPr>
          <a:lstStyle/>
          <a:p>
            <a:pPr algn="l">
              <a:lnSpc>
                <a:spcPct val="112000"/>
              </a:lnSpc>
            </a:pPr>
            <a:r>
              <a:rPr sz="1400" b="0" i="0">
                <a:solidFill>
                  <a:srgbClr val="5B6561"/>
                </a:solidFill>
                <a:latin typeface="DM Sans"/>
                <a:ea typeface="DM Sans"/>
                <a:cs typeface="DM Sans"/>
              </a:rPr>
              <a:t>Transmission delay and</a:t>
            </a:r>
            <a:br>
              <a:rPr sz="1400"/>
            </a:br>
            <a:r>
              <a:rPr sz="1400" b="0" i="0">
                <a:solidFill>
                  <a:srgbClr val="5B6561"/>
                </a:solidFill>
                <a:latin typeface="DM Sans"/>
                <a:ea typeface="DM Sans"/>
                <a:cs typeface="DM Sans"/>
              </a:rPr>
              <a:t>propagation delay blur</a:t>
            </a:r>
            <a:br>
              <a:rPr sz="1400"/>
            </a:br>
            <a:r>
              <a:rPr sz="1400" b="0" i="0">
                <a:solidFill>
                  <a:srgbClr val="5B6561"/>
                </a:solidFill>
                <a:latin typeface="DM Sans"/>
                <a:ea typeface="DM Sans"/>
                <a:cs typeface="DM Sans"/>
              </a:rPr>
              <a:t>together, and Sam doesn’t</a:t>
            </a:r>
            <a:br>
              <a:rPr sz="1400"/>
            </a:br>
            <a:r>
              <a:rPr sz="1400" b="0" i="0">
                <a:solidFill>
                  <a:srgbClr val="5B6561"/>
                </a:solidFill>
                <a:latin typeface="DM Sans"/>
                <a:ea typeface="DM Sans"/>
                <a:cs typeface="DM Sans"/>
              </a:rPr>
              <a:t>notice.</a:t>
            </a:r>
          </a:p>
        </p:txBody>
      </p:sp>
      <p:pic>
        <p:nvPicPr>
          <p:cNvPr id="15" name="Illustration" descr="p2_home.png"/>
          <p:cNvPicPr>
            <a:picLocks noChangeAspect="1"/>
          </p:cNvPicPr>
          <p:nvPr/>
        </p:nvPicPr>
        <p:blipFill>
          <a:blip r:embed="rId6"/>
          <a:stretch>
            <a:fillRect/>
          </a:stretch>
        </p:blipFill>
        <p:spPr>
          <a:xfrm>
            <a:off x="4845050" y="3810000"/>
            <a:ext cx="2489200" cy="1244600"/>
          </a:xfrm>
          <a:prstGeom prst="rect">
            <a:avLst/>
          </a:prstGeom>
        </p:spPr>
      </p:pic>
      <p:sp>
        <p:nvSpPr>
          <p:cNvPr id="16" name="Card"/>
          <p:cNvSpPr/>
          <p:nvPr/>
        </p:nvSpPr>
        <p:spPr>
          <a:xfrm>
            <a:off x="8305800" y="1841500"/>
            <a:ext cx="3289300" cy="3302000"/>
          </a:xfrm>
          <a:prstGeom prst="roundRect">
            <a:avLst>
              <a:gd name="adj" fmla="val 4633"/>
            </a:avLst>
          </a:prstGeom>
          <a:solidFill>
            <a:srgbClr val="F7E6C8"/>
          </a:solidFill>
          <a:ln>
            <a:noFill/>
          </a:ln>
          <a:effectLst>
            <a:outerShdw blurRad="279400" dist="50800" dir="5400000" algn="t" rotWithShape="0">
              <a:srgbClr val="1B3A30">
                <a:alpha val="9000"/>
              </a:srgbClr>
            </a:outerShdw>
          </a:effectLst>
        </p:spPr>
        <p:txBody>
          <a:bodyPr rtlCol="0" anchor="ctr"/>
          <a:lstStyle/>
          <a:p>
            <a:pPr algn="ctr"/>
          </a:p>
        </p:txBody>
      </p:sp>
      <p:sp>
        <p:nvSpPr>
          <p:cNvPr id="17" name="Eyebrow"/>
          <p:cNvSpPr txBox="1"/>
          <p:nvPr/>
        </p:nvSpPr>
        <p:spPr>
          <a:xfrm>
            <a:off x="8559800" y="2057400"/>
            <a:ext cx="2794000" cy="215900"/>
          </a:xfrm>
          <a:prstGeom prst="rect">
            <a:avLst/>
          </a:prstGeom>
          <a:noFill/>
        </p:spPr>
        <p:txBody>
          <a:bodyPr wrap="square" lIns="0" rIns="0" tIns="0" bIns="0" anchor="t">
            <a:noAutofit/>
          </a:bodyPr>
          <a:lstStyle/>
          <a:p>
            <a:pPr algn="l"/>
            <a:r>
              <a:rPr sz="1100" b="1" i="0" spc="220">
                <a:solidFill>
                  <a:srgbClr val="9A6512"/>
                </a:solidFill>
                <a:latin typeface="DM Sans"/>
                <a:ea typeface="DM Sans"/>
                <a:cs typeface="DM Sans"/>
              </a:rPr>
              <a:t>ON THE EXAM</a:t>
            </a:r>
          </a:p>
        </p:txBody>
      </p:sp>
      <p:sp>
        <p:nvSpPr>
          <p:cNvPr id="18" name="TextBox 17"/>
          <p:cNvSpPr txBox="1"/>
          <p:nvPr/>
        </p:nvSpPr>
        <p:spPr>
          <a:xfrm>
            <a:off x="8559800" y="2286000"/>
            <a:ext cx="28575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Too late to help</a:t>
            </a:r>
          </a:p>
        </p:txBody>
      </p:sp>
      <p:sp>
        <p:nvSpPr>
          <p:cNvPr id="19" name="TextBox 18"/>
          <p:cNvSpPr txBox="1"/>
          <p:nvPr/>
        </p:nvSpPr>
        <p:spPr>
          <a:xfrm>
            <a:off x="8559800" y="2692400"/>
            <a:ext cx="2857500" cy="1079500"/>
          </a:xfrm>
          <a:prstGeom prst="rect">
            <a:avLst/>
          </a:prstGeom>
          <a:noFill/>
        </p:spPr>
        <p:txBody>
          <a:bodyPr wrap="square" lIns="0" rIns="0" tIns="0" bIns="0" anchor="t">
            <a:noAutofit/>
          </a:bodyPr>
          <a:lstStyle/>
          <a:p>
            <a:pPr algn="l">
              <a:lnSpc>
                <a:spcPct val="112000"/>
              </a:lnSpc>
            </a:pPr>
            <a:r>
              <a:rPr sz="1400" b="0" i="0">
                <a:solidFill>
                  <a:srgbClr val="5B6561"/>
                </a:solidFill>
                <a:latin typeface="DM Sans"/>
                <a:ea typeface="DM Sans"/>
                <a:cs typeface="DM Sans"/>
              </a:rPr>
              <a:t>The professor sees a wrong</a:t>
            </a:r>
            <a:br>
              <a:rPr sz="1400"/>
            </a:br>
            <a:r>
              <a:rPr sz="1400" b="0" i="0">
                <a:solidFill>
                  <a:srgbClr val="5B6561"/>
                </a:solidFill>
                <a:latin typeface="DM Sans"/>
                <a:ea typeface="DM Sans"/>
                <a:cs typeface="DM Sans"/>
              </a:rPr>
              <a:t>answer and a grade, not the</a:t>
            </a:r>
            <a:br>
              <a:rPr sz="1400"/>
            </a:br>
            <a:r>
              <a:rPr sz="1400" b="0" i="0">
                <a:solidFill>
                  <a:srgbClr val="5B6561"/>
                </a:solidFill>
                <a:latin typeface="DM Sans"/>
                <a:ea typeface="DM Sans"/>
                <a:cs typeface="DM Sans"/>
              </a:rPr>
              <a:t>reasoning behind it.</a:t>
            </a:r>
          </a:p>
        </p:txBody>
      </p:sp>
      <p:pic>
        <p:nvPicPr>
          <p:cNvPr id="20" name="Illustration" descr="p2_exam.png"/>
          <p:cNvPicPr>
            <a:picLocks noChangeAspect="1"/>
          </p:cNvPicPr>
          <p:nvPr/>
        </p:nvPicPr>
        <p:blipFill>
          <a:blip r:embed="rId7"/>
          <a:stretch>
            <a:fillRect/>
          </a:stretch>
        </p:blipFill>
        <p:spPr>
          <a:xfrm>
            <a:off x="8765831" y="3810000"/>
            <a:ext cx="2369239" cy="1244600"/>
          </a:xfrm>
          <a:prstGeom prst="rect">
            <a:avLst/>
          </a:prstGeom>
        </p:spPr>
      </p:pic>
      <p:sp>
        <p:nvSpPr>
          <p:cNvPr id="21" name="Arrow"/>
          <p:cNvSpPr/>
          <p:nvPr/>
        </p:nvSpPr>
        <p:spPr>
          <a:xfrm>
            <a:off x="4013200" y="3429000"/>
            <a:ext cx="292100" cy="139700"/>
          </a:xfrm>
          <a:prstGeom prst="rightArrow">
            <a:avLst/>
          </a:prstGeom>
          <a:solidFill>
            <a:srgbClr val="2E7A62"/>
          </a:solidFill>
          <a:ln>
            <a:noFill/>
          </a:ln>
        </p:spPr>
        <p:txBody>
          <a:bodyPr rtlCol="0" anchor="ctr"/>
          <a:lstStyle/>
          <a:p>
            <a:pPr algn="ctr"/>
          </a:p>
        </p:txBody>
      </p:sp>
      <p:sp>
        <p:nvSpPr>
          <p:cNvPr id="22" name="Arrow"/>
          <p:cNvSpPr/>
          <p:nvPr/>
        </p:nvSpPr>
        <p:spPr>
          <a:xfrm>
            <a:off x="7874000" y="3429000"/>
            <a:ext cx="292100" cy="139700"/>
          </a:xfrm>
          <a:prstGeom prst="rightArrow">
            <a:avLst/>
          </a:prstGeom>
          <a:solidFill>
            <a:srgbClr val="2E7A62"/>
          </a:solidFill>
          <a:ln>
            <a:noFill/>
          </a:ln>
        </p:spPr>
        <p:txBody>
          <a:bodyPr rtlCol="0" anchor="ctr"/>
          <a:lstStyle/>
          <a:p>
            <a:pPr algn="ctr"/>
          </a:p>
        </p:txBody>
      </p:sp>
      <p:sp>
        <p:nvSpPr>
          <p:cNvPr id="23" name="Problem statement"/>
          <p:cNvSpPr txBox="1"/>
          <p:nvPr/>
        </p:nvSpPr>
        <p:spPr>
          <a:xfrm>
            <a:off x="558800" y="5473700"/>
            <a:ext cx="10160000" cy="762000"/>
          </a:xfrm>
          <a:prstGeom prst="rect">
            <a:avLst/>
          </a:prstGeom>
          <a:noFill/>
        </p:spPr>
        <p:txBody>
          <a:bodyPr wrap="square" lIns="0" rIns="0" tIns="0" bIns="0" anchor="t">
            <a:noAutofit/>
          </a:bodyPr>
          <a:lstStyle/>
          <a:p>
            <a:pPr algn="l">
              <a:lnSpc>
                <a:spcPct val="108000"/>
              </a:lnSpc>
            </a:pPr>
            <a:r>
              <a:rPr sz="2000" b="0" i="1">
                <a:solidFill>
                  <a:srgbClr val="1F5A47"/>
                </a:solidFill>
                <a:latin typeface="Newsreader"/>
                <a:ea typeface="Newsreader"/>
                <a:cs typeface="Newsreader"/>
              </a:rPr>
              <a:t>Students need help when confusion happens.</a:t>
            </a:r>
            <a:br>
              <a:rPr sz="2000"/>
            </a:br>
            <a:r>
              <a:rPr sz="2000" b="0" i="1">
                <a:solidFill>
                  <a:srgbClr val="1F5A47"/>
                </a:solidFill>
                <a:latin typeface="Newsreader"/>
                <a:ea typeface="Newsreader"/>
                <a:cs typeface="Newsreader"/>
              </a:rPr>
              <a:t>Teachers need to see that confusion before it becomes a grade.</a:t>
            </a:r>
          </a:p>
        </p:txBody>
      </p:sp>
      <p:sp>
        <p:nvSpPr>
          <p:cNvPr id="24"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Today’s tools each see part of the picture</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THE LANDSCAPE</a:t>
            </a:r>
          </a:p>
        </p:txBody>
      </p:sp>
      <p:sp>
        <p:nvSpPr>
          <p:cNvPr id="5" name="Card"/>
          <p:cNvSpPr/>
          <p:nvPr/>
        </p:nvSpPr>
        <p:spPr>
          <a:xfrm>
            <a:off x="508000" y="1562100"/>
            <a:ext cx="2667000" cy="3086100"/>
          </a:xfrm>
          <a:prstGeom prst="roundRect">
            <a:avLst>
              <a:gd name="adj" fmla="val 5714"/>
            </a:avLst>
          </a:prstGeom>
          <a:solidFill>
            <a:srgbClr val="EAF2E9"/>
          </a:solidFill>
          <a:ln>
            <a:noFill/>
          </a:ln>
          <a:effectLst>
            <a:outerShdw blurRad="279400" dist="50800" dir="5400000" algn="t" rotWithShape="0">
              <a:srgbClr val="1B3A30">
                <a:alpha val="9000"/>
              </a:srgbClr>
            </a:outerShdw>
          </a:effectLst>
        </p:spPr>
        <p:txBody>
          <a:bodyPr rtlCol="0" anchor="ctr"/>
          <a:lstStyle/>
          <a:p>
            <a:pPr algn="ctr"/>
          </a:p>
        </p:txBody>
      </p:sp>
      <p:sp>
        <p:nvSpPr>
          <p:cNvPr id="6" name="Icon circle"/>
          <p:cNvSpPr/>
          <p:nvPr/>
        </p:nvSpPr>
        <p:spPr>
          <a:xfrm>
            <a:off x="685800" y="1790700"/>
            <a:ext cx="609600" cy="609600"/>
          </a:xfrm>
          <a:prstGeom prst="ellipse">
            <a:avLst/>
          </a:prstGeom>
          <a:solidFill>
            <a:srgbClr val="D3E7DA"/>
          </a:solidFill>
          <a:ln>
            <a:noFill/>
          </a:ln>
        </p:spPr>
        <p:txBody>
          <a:bodyPr rtlCol="0" anchor="ctr"/>
          <a:lstStyle/>
          <a:p>
            <a:pPr algn="ctr"/>
          </a:p>
        </p:txBody>
      </p:sp>
      <p:pic>
        <p:nvPicPr>
          <p:cNvPr id="7" name="Icon LuBot" descr="lu_LuBot_2E7A62.png"/>
          <p:cNvPicPr>
            <a:picLocks noChangeAspect="1"/>
          </p:cNvPicPr>
          <p:nvPr/>
        </p:nvPicPr>
        <p:blipFill>
          <a:blip r:embed="rId4"/>
          <a:stretch>
            <a:fillRect/>
          </a:stretch>
        </p:blipFill>
        <p:spPr>
          <a:xfrm>
            <a:off x="832104" y="1937004"/>
            <a:ext cx="316992" cy="316992"/>
          </a:xfrm>
          <a:prstGeom prst="rect">
            <a:avLst/>
          </a:prstGeom>
        </p:spPr>
      </p:pic>
      <p:sp>
        <p:nvSpPr>
          <p:cNvPr id="8" name="Eyebrow"/>
          <p:cNvSpPr txBox="1"/>
          <p:nvPr/>
        </p:nvSpPr>
        <p:spPr>
          <a:xfrm>
            <a:off x="1435100" y="1816100"/>
            <a:ext cx="1651000" cy="215900"/>
          </a:xfrm>
          <a:prstGeom prst="rect">
            <a:avLst/>
          </a:prstGeom>
          <a:noFill/>
        </p:spPr>
        <p:txBody>
          <a:bodyPr wrap="square" lIns="0" rIns="0" tIns="0" bIns="0" anchor="t">
            <a:noAutofit/>
          </a:bodyPr>
          <a:lstStyle/>
          <a:p>
            <a:pPr algn="l"/>
            <a:r>
              <a:rPr sz="1000" b="1" i="0" spc="220">
                <a:solidFill>
                  <a:srgbClr val="2E7A62"/>
                </a:solidFill>
                <a:latin typeface="DM Sans"/>
                <a:ea typeface="DM Sans"/>
                <a:cs typeface="DM Sans"/>
              </a:rPr>
              <a:t>DIRECT</a:t>
            </a:r>
          </a:p>
        </p:txBody>
      </p:sp>
      <p:sp>
        <p:nvSpPr>
          <p:cNvPr id="9" name="TextBox 8"/>
          <p:cNvSpPr txBox="1"/>
          <p:nvPr/>
        </p:nvSpPr>
        <p:spPr>
          <a:xfrm>
            <a:off x="1435100" y="2006600"/>
            <a:ext cx="1651000" cy="635000"/>
          </a:xfrm>
          <a:prstGeom prst="rect">
            <a:avLst/>
          </a:prstGeom>
          <a:noFill/>
        </p:spPr>
        <p:txBody>
          <a:bodyPr wrap="square" lIns="0" rIns="0" tIns="0" bIns="0" anchor="t">
            <a:noAutofit/>
          </a:bodyPr>
          <a:lstStyle/>
          <a:p>
            <a:pPr algn="l">
              <a:lnSpc>
                <a:spcPct val="98000"/>
              </a:lnSpc>
            </a:pPr>
            <a:r>
              <a:rPr sz="1800" b="0" i="0">
                <a:solidFill>
                  <a:srgbClr val="15201B"/>
                </a:solidFill>
                <a:latin typeface="Newsreader"/>
                <a:ea typeface="Newsreader"/>
                <a:cs typeface="Newsreader"/>
              </a:rPr>
              <a:t>AI tutors</a:t>
            </a:r>
          </a:p>
        </p:txBody>
      </p:sp>
      <p:sp>
        <p:nvSpPr>
          <p:cNvPr id="10" name="Logo chip"/>
          <p:cNvSpPr/>
          <p:nvPr/>
        </p:nvSpPr>
        <p:spPr>
          <a:xfrm>
            <a:off x="673100" y="2755900"/>
            <a:ext cx="2336800" cy="533400"/>
          </a:xfrm>
          <a:prstGeom prst="roundRect">
            <a:avLst>
              <a:gd name="adj" fmla="val 21428"/>
            </a:avLst>
          </a:prstGeom>
          <a:solidFill>
            <a:srgbClr val="FFFFFF"/>
          </a:solidFill>
          <a:ln>
            <a:noFill/>
          </a:ln>
        </p:spPr>
        <p:txBody>
          <a:bodyPr rtlCol="0" anchor="ctr"/>
          <a:lstStyle/>
          <a:p>
            <a:pPr algn="ctr"/>
          </a:p>
        </p:txBody>
      </p:sp>
      <p:pic>
        <p:nvPicPr>
          <p:cNvPr id="11" name="Logo Khanmigo" descr="si_siKhanacademy_14BF96.png"/>
          <p:cNvPicPr>
            <a:picLocks noChangeAspect="1"/>
          </p:cNvPicPr>
          <p:nvPr/>
        </p:nvPicPr>
        <p:blipFill>
          <a:blip r:embed="rId5"/>
          <a:stretch>
            <a:fillRect/>
          </a:stretch>
        </p:blipFill>
        <p:spPr>
          <a:xfrm>
            <a:off x="1366520" y="2914650"/>
            <a:ext cx="215900" cy="215900"/>
          </a:xfrm>
          <a:prstGeom prst="rect">
            <a:avLst/>
          </a:prstGeom>
        </p:spPr>
      </p:pic>
      <p:sp>
        <p:nvSpPr>
          <p:cNvPr id="12" name="Khanmigo"/>
          <p:cNvSpPr txBox="1"/>
          <p:nvPr/>
        </p:nvSpPr>
        <p:spPr>
          <a:xfrm>
            <a:off x="1645920" y="2755900"/>
            <a:ext cx="79756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Khanmigo</a:t>
            </a:r>
          </a:p>
        </p:txBody>
      </p:sp>
      <p:sp>
        <p:nvSpPr>
          <p:cNvPr id="13" name="TextBox 12"/>
          <p:cNvSpPr txBox="1"/>
          <p:nvPr/>
        </p:nvSpPr>
        <p:spPr>
          <a:xfrm>
            <a:off x="749300" y="3594100"/>
            <a:ext cx="2286000" cy="698500"/>
          </a:xfrm>
          <a:prstGeom prst="rect">
            <a:avLst/>
          </a:prstGeom>
          <a:noFill/>
        </p:spPr>
        <p:txBody>
          <a:bodyPr wrap="square" lIns="0" rIns="0" tIns="0" bIns="0" anchor="t">
            <a:noAutofit/>
          </a:bodyPr>
          <a:lstStyle/>
          <a:p>
            <a:pPr algn="l">
              <a:lnSpc>
                <a:spcPct val="115000"/>
              </a:lnSpc>
            </a:pPr>
            <a:r>
              <a:rPr sz="1400" b="0" i="0">
                <a:solidFill>
                  <a:srgbClr val="15201B"/>
                </a:solidFill>
                <a:latin typeface="DM Sans"/>
                <a:ea typeface="DM Sans"/>
                <a:cs typeface="DM Sans"/>
              </a:rPr>
              <a:t>Guided tutoring and</a:t>
            </a:r>
            <a:br>
              <a:rPr sz="1400"/>
            </a:br>
            <a:r>
              <a:rPr sz="1400" b="0" i="0">
                <a:solidFill>
                  <a:srgbClr val="15201B"/>
                </a:solidFill>
                <a:latin typeface="DM Sans"/>
                <a:ea typeface="DM Sans"/>
                <a:cs typeface="DM Sans"/>
              </a:rPr>
              <a:t>lesson support</a:t>
            </a:r>
          </a:p>
        </p:txBody>
      </p:sp>
      <p:sp>
        <p:nvSpPr>
          <p:cNvPr id="14" name="Card"/>
          <p:cNvSpPr/>
          <p:nvPr/>
        </p:nvSpPr>
        <p:spPr>
          <a:xfrm>
            <a:off x="3365500" y="1562100"/>
            <a:ext cx="2667000" cy="3086100"/>
          </a:xfrm>
          <a:prstGeom prst="roundRect">
            <a:avLst>
              <a:gd name="adj" fmla="val 5714"/>
            </a:avLst>
          </a:prstGeom>
          <a:solidFill>
            <a:srgbClr val="EAF0F5"/>
          </a:solidFill>
          <a:ln>
            <a:noFill/>
          </a:ln>
          <a:effectLst>
            <a:outerShdw blurRad="279400" dist="50800" dir="5400000" algn="t" rotWithShape="0">
              <a:srgbClr val="1B3A30">
                <a:alpha val="9000"/>
              </a:srgbClr>
            </a:outerShdw>
          </a:effectLst>
        </p:spPr>
        <p:txBody>
          <a:bodyPr rtlCol="0" anchor="ctr"/>
          <a:lstStyle/>
          <a:p>
            <a:pPr algn="ctr"/>
          </a:p>
        </p:txBody>
      </p:sp>
      <p:sp>
        <p:nvSpPr>
          <p:cNvPr id="15" name="Icon circle"/>
          <p:cNvSpPr/>
          <p:nvPr/>
        </p:nvSpPr>
        <p:spPr>
          <a:xfrm>
            <a:off x="3543300" y="1790700"/>
            <a:ext cx="609600" cy="609600"/>
          </a:xfrm>
          <a:prstGeom prst="ellipse">
            <a:avLst/>
          </a:prstGeom>
          <a:solidFill>
            <a:srgbClr val="D6E3EE"/>
          </a:solidFill>
          <a:ln>
            <a:noFill/>
          </a:ln>
        </p:spPr>
        <p:txBody>
          <a:bodyPr rtlCol="0" anchor="ctr"/>
          <a:lstStyle/>
          <a:p>
            <a:pPr algn="ctr"/>
          </a:p>
        </p:txBody>
      </p:sp>
      <p:pic>
        <p:nvPicPr>
          <p:cNvPr id="16" name="Icon LuClipboardCheck" descr="lu_LuClipboardCheck_3F6684.png"/>
          <p:cNvPicPr>
            <a:picLocks noChangeAspect="1"/>
          </p:cNvPicPr>
          <p:nvPr/>
        </p:nvPicPr>
        <p:blipFill>
          <a:blip r:embed="rId6"/>
          <a:stretch>
            <a:fillRect/>
          </a:stretch>
        </p:blipFill>
        <p:spPr>
          <a:xfrm>
            <a:off x="3689604" y="1937004"/>
            <a:ext cx="316992" cy="316992"/>
          </a:xfrm>
          <a:prstGeom prst="rect">
            <a:avLst/>
          </a:prstGeom>
        </p:spPr>
      </p:pic>
      <p:sp>
        <p:nvSpPr>
          <p:cNvPr id="17" name="Eyebrow"/>
          <p:cNvSpPr txBox="1"/>
          <p:nvPr/>
        </p:nvSpPr>
        <p:spPr>
          <a:xfrm>
            <a:off x="4292600" y="1816100"/>
            <a:ext cx="1651000" cy="215900"/>
          </a:xfrm>
          <a:prstGeom prst="rect">
            <a:avLst/>
          </a:prstGeom>
          <a:noFill/>
        </p:spPr>
        <p:txBody>
          <a:bodyPr wrap="square" lIns="0" rIns="0" tIns="0" bIns="0" anchor="t">
            <a:noAutofit/>
          </a:bodyPr>
          <a:lstStyle/>
          <a:p>
            <a:pPr algn="l"/>
            <a:r>
              <a:rPr sz="1000" b="1" i="0" spc="220">
                <a:solidFill>
                  <a:srgbClr val="2E7A62"/>
                </a:solidFill>
                <a:latin typeface="DM Sans"/>
                <a:ea typeface="DM Sans"/>
                <a:cs typeface="DM Sans"/>
              </a:rPr>
              <a:t>DIRECT</a:t>
            </a:r>
          </a:p>
        </p:txBody>
      </p:sp>
      <p:sp>
        <p:nvSpPr>
          <p:cNvPr id="18" name="TextBox 17"/>
          <p:cNvSpPr txBox="1"/>
          <p:nvPr/>
        </p:nvSpPr>
        <p:spPr>
          <a:xfrm>
            <a:off x="4292600" y="2006600"/>
            <a:ext cx="1651000" cy="635000"/>
          </a:xfrm>
          <a:prstGeom prst="rect">
            <a:avLst/>
          </a:prstGeom>
          <a:noFill/>
        </p:spPr>
        <p:txBody>
          <a:bodyPr wrap="square" lIns="0" rIns="0" tIns="0" bIns="0" anchor="t">
            <a:noAutofit/>
          </a:bodyPr>
          <a:lstStyle/>
          <a:p>
            <a:pPr algn="l">
              <a:lnSpc>
                <a:spcPct val="98000"/>
              </a:lnSpc>
            </a:pPr>
            <a:r>
              <a:rPr sz="1800" b="0" i="0">
                <a:solidFill>
                  <a:srgbClr val="15201B"/>
                </a:solidFill>
                <a:latin typeface="Newsreader"/>
                <a:ea typeface="Newsreader"/>
                <a:cs typeface="Newsreader"/>
              </a:rPr>
              <a:t>Practice and</a:t>
            </a:r>
            <a:br>
              <a:rPr sz="1800"/>
            </a:br>
            <a:r>
              <a:rPr sz="1800" b="0" i="0">
                <a:solidFill>
                  <a:srgbClr val="15201B"/>
                </a:solidFill>
                <a:latin typeface="Newsreader"/>
                <a:ea typeface="Newsreader"/>
                <a:cs typeface="Newsreader"/>
              </a:rPr>
              <a:t>assessment</a:t>
            </a:r>
          </a:p>
        </p:txBody>
      </p:sp>
      <p:sp>
        <p:nvSpPr>
          <p:cNvPr id="19" name="Logo chip"/>
          <p:cNvSpPr/>
          <p:nvPr/>
        </p:nvSpPr>
        <p:spPr>
          <a:xfrm>
            <a:off x="3530600" y="2755900"/>
            <a:ext cx="2336800" cy="533400"/>
          </a:xfrm>
          <a:prstGeom prst="roundRect">
            <a:avLst>
              <a:gd name="adj" fmla="val 21428"/>
            </a:avLst>
          </a:prstGeom>
          <a:solidFill>
            <a:srgbClr val="FFFFFF"/>
          </a:solidFill>
          <a:ln>
            <a:noFill/>
          </a:ln>
        </p:spPr>
        <p:txBody>
          <a:bodyPr rtlCol="0" anchor="ctr"/>
          <a:lstStyle/>
          <a:p>
            <a:pPr algn="ctr"/>
          </a:p>
        </p:txBody>
      </p:sp>
      <p:sp>
        <p:nvSpPr>
          <p:cNvPr id="20" name="Wayground"/>
          <p:cNvSpPr txBox="1"/>
          <p:nvPr/>
        </p:nvSpPr>
        <p:spPr>
          <a:xfrm>
            <a:off x="3780790" y="2755900"/>
            <a:ext cx="88138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Wayground</a:t>
            </a:r>
          </a:p>
        </p:txBody>
      </p:sp>
      <p:pic>
        <p:nvPicPr>
          <p:cNvPr id="21" name="Logo Kahoot!" descr="si_siKahoot_46178F.png"/>
          <p:cNvPicPr>
            <a:picLocks noChangeAspect="1"/>
          </p:cNvPicPr>
          <p:nvPr/>
        </p:nvPicPr>
        <p:blipFill>
          <a:blip r:embed="rId7"/>
          <a:stretch>
            <a:fillRect/>
          </a:stretch>
        </p:blipFill>
        <p:spPr>
          <a:xfrm>
            <a:off x="4751070" y="2914650"/>
            <a:ext cx="215900" cy="215900"/>
          </a:xfrm>
          <a:prstGeom prst="rect">
            <a:avLst/>
          </a:prstGeom>
        </p:spPr>
      </p:pic>
      <p:sp>
        <p:nvSpPr>
          <p:cNvPr id="22" name="Kahoot!"/>
          <p:cNvSpPr txBox="1"/>
          <p:nvPr/>
        </p:nvSpPr>
        <p:spPr>
          <a:xfrm>
            <a:off x="5030470" y="2755900"/>
            <a:ext cx="71374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Kahoot!</a:t>
            </a:r>
          </a:p>
        </p:txBody>
      </p:sp>
      <p:sp>
        <p:nvSpPr>
          <p:cNvPr id="23" name="TextBox 22"/>
          <p:cNvSpPr txBox="1"/>
          <p:nvPr/>
        </p:nvSpPr>
        <p:spPr>
          <a:xfrm>
            <a:off x="3606800" y="3594100"/>
            <a:ext cx="2286000" cy="698500"/>
          </a:xfrm>
          <a:prstGeom prst="rect">
            <a:avLst/>
          </a:prstGeom>
          <a:noFill/>
        </p:spPr>
        <p:txBody>
          <a:bodyPr wrap="square" lIns="0" rIns="0" tIns="0" bIns="0" anchor="t">
            <a:noAutofit/>
          </a:bodyPr>
          <a:lstStyle/>
          <a:p>
            <a:pPr algn="l">
              <a:lnSpc>
                <a:spcPct val="115000"/>
              </a:lnSpc>
            </a:pPr>
            <a:r>
              <a:rPr sz="1400" b="0" i="0">
                <a:solidFill>
                  <a:srgbClr val="15201B"/>
                </a:solidFill>
                <a:latin typeface="DM Sans"/>
                <a:ea typeface="DM Sans"/>
                <a:cs typeface="DM Sans"/>
              </a:rPr>
              <a:t>Engaging practice</a:t>
            </a:r>
            <a:br>
              <a:rPr sz="1400"/>
            </a:br>
            <a:r>
              <a:rPr sz="1400" b="0" i="0">
                <a:solidFill>
                  <a:srgbClr val="15201B"/>
                </a:solidFill>
                <a:latin typeface="DM Sans"/>
                <a:ea typeface="DM Sans"/>
                <a:cs typeface="DM Sans"/>
              </a:rPr>
              <a:t>and quizzes</a:t>
            </a:r>
          </a:p>
        </p:txBody>
      </p:sp>
      <p:sp>
        <p:nvSpPr>
          <p:cNvPr id="24" name="Card"/>
          <p:cNvSpPr/>
          <p:nvPr/>
        </p:nvSpPr>
        <p:spPr>
          <a:xfrm>
            <a:off x="6223000" y="1562100"/>
            <a:ext cx="2667000" cy="3086100"/>
          </a:xfrm>
          <a:prstGeom prst="roundRect">
            <a:avLst>
              <a:gd name="adj" fmla="val 5714"/>
            </a:avLst>
          </a:prstGeom>
          <a:solidFill>
            <a:srgbClr val="EFEEF6"/>
          </a:solidFill>
          <a:ln>
            <a:noFill/>
          </a:ln>
          <a:effectLst>
            <a:outerShdw blurRad="279400" dist="50800" dir="5400000" algn="t" rotWithShape="0">
              <a:srgbClr val="1B3A30">
                <a:alpha val="9000"/>
              </a:srgbClr>
            </a:outerShdw>
          </a:effectLst>
        </p:spPr>
        <p:txBody>
          <a:bodyPr rtlCol="0" anchor="ctr"/>
          <a:lstStyle/>
          <a:p>
            <a:pPr algn="ctr"/>
          </a:p>
        </p:txBody>
      </p:sp>
      <p:sp>
        <p:nvSpPr>
          <p:cNvPr id="25" name="Icon circle"/>
          <p:cNvSpPr/>
          <p:nvPr/>
        </p:nvSpPr>
        <p:spPr>
          <a:xfrm>
            <a:off x="6400800" y="1790700"/>
            <a:ext cx="609600" cy="609600"/>
          </a:xfrm>
          <a:prstGeom prst="ellipse">
            <a:avLst/>
          </a:prstGeom>
          <a:solidFill>
            <a:srgbClr val="DEDCEF"/>
          </a:solidFill>
          <a:ln>
            <a:noFill/>
          </a:ln>
        </p:spPr>
        <p:txBody>
          <a:bodyPr rtlCol="0" anchor="ctr"/>
          <a:lstStyle/>
          <a:p>
            <a:pPr algn="ctr"/>
          </a:p>
        </p:txBody>
      </p:sp>
      <p:pic>
        <p:nvPicPr>
          <p:cNvPr id="26" name="Icon LuGraduationCap" descr="lu_LuGraduationCap_5E5A9C.png"/>
          <p:cNvPicPr>
            <a:picLocks noChangeAspect="1"/>
          </p:cNvPicPr>
          <p:nvPr/>
        </p:nvPicPr>
        <p:blipFill>
          <a:blip r:embed="rId8"/>
          <a:stretch>
            <a:fillRect/>
          </a:stretch>
        </p:blipFill>
        <p:spPr>
          <a:xfrm>
            <a:off x="6547104" y="1937004"/>
            <a:ext cx="316992" cy="316992"/>
          </a:xfrm>
          <a:prstGeom prst="rect">
            <a:avLst/>
          </a:prstGeom>
        </p:spPr>
      </p:pic>
      <p:sp>
        <p:nvSpPr>
          <p:cNvPr id="27" name="Eyebrow"/>
          <p:cNvSpPr txBox="1"/>
          <p:nvPr/>
        </p:nvSpPr>
        <p:spPr>
          <a:xfrm>
            <a:off x="7150100" y="1816100"/>
            <a:ext cx="1651000" cy="215900"/>
          </a:xfrm>
          <a:prstGeom prst="rect">
            <a:avLst/>
          </a:prstGeom>
          <a:noFill/>
        </p:spPr>
        <p:txBody>
          <a:bodyPr wrap="square" lIns="0" rIns="0" tIns="0" bIns="0" anchor="t">
            <a:noAutofit/>
          </a:bodyPr>
          <a:lstStyle/>
          <a:p>
            <a:pPr algn="l"/>
            <a:r>
              <a:rPr sz="1000" b="1" i="0" spc="220">
                <a:solidFill>
                  <a:srgbClr val="6F7772"/>
                </a:solidFill>
                <a:latin typeface="DM Sans"/>
                <a:ea typeface="DM Sans"/>
                <a:cs typeface="DM Sans"/>
              </a:rPr>
              <a:t>INDIRECT</a:t>
            </a:r>
          </a:p>
        </p:txBody>
      </p:sp>
      <p:sp>
        <p:nvSpPr>
          <p:cNvPr id="28" name="TextBox 27"/>
          <p:cNvSpPr txBox="1"/>
          <p:nvPr/>
        </p:nvSpPr>
        <p:spPr>
          <a:xfrm>
            <a:off x="7150100" y="2006600"/>
            <a:ext cx="1651000" cy="635000"/>
          </a:xfrm>
          <a:prstGeom prst="rect">
            <a:avLst/>
          </a:prstGeom>
          <a:noFill/>
        </p:spPr>
        <p:txBody>
          <a:bodyPr wrap="square" lIns="0" rIns="0" tIns="0" bIns="0" anchor="t">
            <a:noAutofit/>
          </a:bodyPr>
          <a:lstStyle/>
          <a:p>
            <a:pPr algn="l">
              <a:lnSpc>
                <a:spcPct val="98000"/>
              </a:lnSpc>
            </a:pPr>
            <a:r>
              <a:rPr sz="1800" b="0" i="0">
                <a:solidFill>
                  <a:srgbClr val="15201B"/>
                </a:solidFill>
                <a:latin typeface="Newsreader"/>
                <a:ea typeface="Newsreader"/>
                <a:cs typeface="Newsreader"/>
              </a:rPr>
              <a:t>Learning</a:t>
            </a:r>
            <a:br>
              <a:rPr sz="1800"/>
            </a:br>
            <a:r>
              <a:rPr sz="1800" b="0" i="0">
                <a:solidFill>
                  <a:srgbClr val="15201B"/>
                </a:solidFill>
                <a:latin typeface="Newsreader"/>
                <a:ea typeface="Newsreader"/>
                <a:cs typeface="Newsreader"/>
              </a:rPr>
              <a:t>management</a:t>
            </a:r>
          </a:p>
        </p:txBody>
      </p:sp>
      <p:sp>
        <p:nvSpPr>
          <p:cNvPr id="29" name="Logo chip"/>
          <p:cNvSpPr/>
          <p:nvPr/>
        </p:nvSpPr>
        <p:spPr>
          <a:xfrm>
            <a:off x="6388100" y="2755900"/>
            <a:ext cx="2336800" cy="533400"/>
          </a:xfrm>
          <a:prstGeom prst="roundRect">
            <a:avLst>
              <a:gd name="adj" fmla="val 21428"/>
            </a:avLst>
          </a:prstGeom>
          <a:solidFill>
            <a:srgbClr val="FFFFFF"/>
          </a:solidFill>
          <a:ln>
            <a:noFill/>
          </a:ln>
        </p:spPr>
        <p:txBody>
          <a:bodyPr rtlCol="0" anchor="ctr"/>
          <a:lstStyle/>
          <a:p>
            <a:pPr algn="ctr"/>
          </a:p>
        </p:txBody>
      </p:sp>
      <p:pic>
        <p:nvPicPr>
          <p:cNvPr id="30" name="Logo Canvas" descr="si_siCanvas_E72429.png"/>
          <p:cNvPicPr>
            <a:picLocks noChangeAspect="1"/>
          </p:cNvPicPr>
          <p:nvPr/>
        </p:nvPicPr>
        <p:blipFill>
          <a:blip r:embed="rId9"/>
          <a:stretch>
            <a:fillRect/>
          </a:stretch>
        </p:blipFill>
        <p:spPr>
          <a:xfrm>
            <a:off x="6638290" y="2914650"/>
            <a:ext cx="215900" cy="215900"/>
          </a:xfrm>
          <a:prstGeom prst="rect">
            <a:avLst/>
          </a:prstGeom>
        </p:spPr>
      </p:pic>
      <p:sp>
        <p:nvSpPr>
          <p:cNvPr id="31" name="Canvas"/>
          <p:cNvSpPr txBox="1"/>
          <p:nvPr/>
        </p:nvSpPr>
        <p:spPr>
          <a:xfrm>
            <a:off x="6917690" y="2755900"/>
            <a:ext cx="62992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Canvas</a:t>
            </a:r>
          </a:p>
        </p:txBody>
      </p:sp>
      <p:sp>
        <p:nvSpPr>
          <p:cNvPr id="32" name="Blackboard"/>
          <p:cNvSpPr txBox="1"/>
          <p:nvPr/>
        </p:nvSpPr>
        <p:spPr>
          <a:xfrm>
            <a:off x="7636510" y="2755900"/>
            <a:ext cx="96520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Blackboard</a:t>
            </a:r>
          </a:p>
        </p:txBody>
      </p:sp>
      <p:sp>
        <p:nvSpPr>
          <p:cNvPr id="33" name="TextBox 32"/>
          <p:cNvSpPr txBox="1"/>
          <p:nvPr/>
        </p:nvSpPr>
        <p:spPr>
          <a:xfrm>
            <a:off x="6464300" y="3594100"/>
            <a:ext cx="2286000" cy="698500"/>
          </a:xfrm>
          <a:prstGeom prst="rect">
            <a:avLst/>
          </a:prstGeom>
          <a:noFill/>
        </p:spPr>
        <p:txBody>
          <a:bodyPr wrap="square" lIns="0" rIns="0" tIns="0" bIns="0" anchor="t">
            <a:noAutofit/>
          </a:bodyPr>
          <a:lstStyle/>
          <a:p>
            <a:pPr algn="l">
              <a:lnSpc>
                <a:spcPct val="115000"/>
              </a:lnSpc>
            </a:pPr>
            <a:r>
              <a:rPr sz="1400" b="0" i="0">
                <a:solidFill>
                  <a:srgbClr val="15201B"/>
                </a:solidFill>
                <a:latin typeface="DM Sans"/>
                <a:ea typeface="DM Sans"/>
                <a:cs typeface="DM Sans"/>
              </a:rPr>
              <a:t>Course materials</a:t>
            </a:r>
            <a:br>
              <a:rPr sz="1400"/>
            </a:br>
            <a:r>
              <a:rPr sz="1400" b="0" i="0">
                <a:solidFill>
                  <a:srgbClr val="15201B"/>
                </a:solidFill>
                <a:latin typeface="DM Sans"/>
                <a:ea typeface="DM Sans"/>
                <a:cs typeface="DM Sans"/>
              </a:rPr>
              <a:t>and grades</a:t>
            </a:r>
          </a:p>
        </p:txBody>
      </p:sp>
      <p:sp>
        <p:nvSpPr>
          <p:cNvPr id="34" name="Card"/>
          <p:cNvSpPr/>
          <p:nvPr/>
        </p:nvSpPr>
        <p:spPr>
          <a:xfrm>
            <a:off x="9080500" y="1562100"/>
            <a:ext cx="2667000" cy="3086100"/>
          </a:xfrm>
          <a:prstGeom prst="roundRect">
            <a:avLst>
              <a:gd name="adj" fmla="val 5714"/>
            </a:avLst>
          </a:prstGeom>
          <a:solidFill>
            <a:srgbClr val="F9F0E2"/>
          </a:solidFill>
          <a:ln>
            <a:noFill/>
          </a:ln>
          <a:effectLst>
            <a:outerShdw blurRad="279400" dist="50800" dir="5400000" algn="t" rotWithShape="0">
              <a:srgbClr val="1B3A30">
                <a:alpha val="9000"/>
              </a:srgbClr>
            </a:outerShdw>
          </a:effectLst>
        </p:spPr>
        <p:txBody>
          <a:bodyPr rtlCol="0" anchor="ctr"/>
          <a:lstStyle/>
          <a:p>
            <a:pPr algn="ctr"/>
          </a:p>
        </p:txBody>
      </p:sp>
      <p:sp>
        <p:nvSpPr>
          <p:cNvPr id="35" name="Icon circle"/>
          <p:cNvSpPr/>
          <p:nvPr/>
        </p:nvSpPr>
        <p:spPr>
          <a:xfrm>
            <a:off x="9258300" y="1790700"/>
            <a:ext cx="609600" cy="609600"/>
          </a:xfrm>
          <a:prstGeom prst="ellipse">
            <a:avLst/>
          </a:prstGeom>
          <a:solidFill>
            <a:srgbClr val="F3DFC0"/>
          </a:solidFill>
          <a:ln>
            <a:noFill/>
          </a:ln>
        </p:spPr>
        <p:txBody>
          <a:bodyPr rtlCol="0" anchor="ctr"/>
          <a:lstStyle/>
          <a:p>
            <a:pPr algn="ctr"/>
          </a:p>
        </p:txBody>
      </p:sp>
      <p:pic>
        <p:nvPicPr>
          <p:cNvPr id="36" name="Icon LuMessagesSquare" descr="lu_LuMessagesSquare_B7792A.png"/>
          <p:cNvPicPr>
            <a:picLocks noChangeAspect="1"/>
          </p:cNvPicPr>
          <p:nvPr/>
        </p:nvPicPr>
        <p:blipFill>
          <a:blip r:embed="rId10"/>
          <a:stretch>
            <a:fillRect/>
          </a:stretch>
        </p:blipFill>
        <p:spPr>
          <a:xfrm>
            <a:off x="9404604" y="1937004"/>
            <a:ext cx="316992" cy="316992"/>
          </a:xfrm>
          <a:prstGeom prst="rect">
            <a:avLst/>
          </a:prstGeom>
        </p:spPr>
      </p:pic>
      <p:sp>
        <p:nvSpPr>
          <p:cNvPr id="37" name="Eyebrow"/>
          <p:cNvSpPr txBox="1"/>
          <p:nvPr/>
        </p:nvSpPr>
        <p:spPr>
          <a:xfrm>
            <a:off x="10007600" y="1816100"/>
            <a:ext cx="1651000" cy="215900"/>
          </a:xfrm>
          <a:prstGeom prst="rect">
            <a:avLst/>
          </a:prstGeom>
          <a:noFill/>
        </p:spPr>
        <p:txBody>
          <a:bodyPr wrap="square" lIns="0" rIns="0" tIns="0" bIns="0" anchor="t">
            <a:noAutofit/>
          </a:bodyPr>
          <a:lstStyle/>
          <a:p>
            <a:pPr algn="l"/>
            <a:r>
              <a:rPr sz="1000" b="1" i="0" spc="220">
                <a:solidFill>
                  <a:srgbClr val="6F7772"/>
                </a:solidFill>
                <a:latin typeface="DM Sans"/>
                <a:ea typeface="DM Sans"/>
                <a:cs typeface="DM Sans"/>
              </a:rPr>
              <a:t>INDIRECT</a:t>
            </a:r>
          </a:p>
        </p:txBody>
      </p:sp>
      <p:sp>
        <p:nvSpPr>
          <p:cNvPr id="38" name="TextBox 37"/>
          <p:cNvSpPr txBox="1"/>
          <p:nvPr/>
        </p:nvSpPr>
        <p:spPr>
          <a:xfrm>
            <a:off x="10007600" y="2006600"/>
            <a:ext cx="1651000" cy="635000"/>
          </a:xfrm>
          <a:prstGeom prst="rect">
            <a:avLst/>
          </a:prstGeom>
          <a:noFill/>
        </p:spPr>
        <p:txBody>
          <a:bodyPr wrap="square" lIns="0" rIns="0" tIns="0" bIns="0" anchor="t">
            <a:noAutofit/>
          </a:bodyPr>
          <a:lstStyle/>
          <a:p>
            <a:pPr algn="l">
              <a:lnSpc>
                <a:spcPct val="98000"/>
              </a:lnSpc>
            </a:pPr>
            <a:r>
              <a:rPr sz="1800" b="0" i="0">
                <a:solidFill>
                  <a:srgbClr val="15201B"/>
                </a:solidFill>
                <a:latin typeface="Newsreader"/>
                <a:ea typeface="Newsreader"/>
                <a:cs typeface="Newsreader"/>
              </a:rPr>
              <a:t>General AI</a:t>
            </a:r>
            <a:br>
              <a:rPr sz="1800"/>
            </a:br>
            <a:r>
              <a:rPr sz="1800" b="0" i="0">
                <a:solidFill>
                  <a:srgbClr val="15201B"/>
                </a:solidFill>
                <a:latin typeface="Newsreader"/>
                <a:ea typeface="Newsreader"/>
                <a:cs typeface="Newsreader"/>
              </a:rPr>
              <a:t>chatbots</a:t>
            </a:r>
          </a:p>
        </p:txBody>
      </p:sp>
      <p:sp>
        <p:nvSpPr>
          <p:cNvPr id="39" name="Logo chip"/>
          <p:cNvSpPr/>
          <p:nvPr/>
        </p:nvSpPr>
        <p:spPr>
          <a:xfrm>
            <a:off x="9245600" y="2755900"/>
            <a:ext cx="2336800" cy="533400"/>
          </a:xfrm>
          <a:prstGeom prst="roundRect">
            <a:avLst>
              <a:gd name="adj" fmla="val 21428"/>
            </a:avLst>
          </a:prstGeom>
          <a:solidFill>
            <a:srgbClr val="FFFFFF"/>
          </a:solidFill>
          <a:ln>
            <a:noFill/>
          </a:ln>
        </p:spPr>
        <p:txBody>
          <a:bodyPr rtlCol="0" anchor="ctr"/>
          <a:lstStyle/>
          <a:p>
            <a:pPr algn="ctr"/>
          </a:p>
        </p:txBody>
      </p:sp>
      <p:pic>
        <p:nvPicPr>
          <p:cNvPr id="40" name="Logo ChatGPT" descr="si_siOpenai_1A1A1A.png"/>
          <p:cNvPicPr>
            <a:picLocks noChangeAspect="1"/>
          </p:cNvPicPr>
          <p:nvPr/>
        </p:nvPicPr>
        <p:blipFill>
          <a:blip r:embed="rId11"/>
          <a:stretch>
            <a:fillRect/>
          </a:stretch>
        </p:blipFill>
        <p:spPr>
          <a:xfrm>
            <a:off x="9481820" y="2914650"/>
            <a:ext cx="215900" cy="215900"/>
          </a:xfrm>
          <a:prstGeom prst="rect">
            <a:avLst/>
          </a:prstGeom>
        </p:spPr>
      </p:pic>
      <p:sp>
        <p:nvSpPr>
          <p:cNvPr id="41" name="ChatGPT"/>
          <p:cNvSpPr txBox="1"/>
          <p:nvPr/>
        </p:nvSpPr>
        <p:spPr>
          <a:xfrm>
            <a:off x="9761220" y="2755900"/>
            <a:ext cx="71374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ChatGPT</a:t>
            </a:r>
          </a:p>
        </p:txBody>
      </p:sp>
      <p:pic>
        <p:nvPicPr>
          <p:cNvPr id="42" name="Logo Claude" descr="si_siClaude_D97757.png"/>
          <p:cNvPicPr>
            <a:picLocks noChangeAspect="1"/>
          </p:cNvPicPr>
          <p:nvPr/>
        </p:nvPicPr>
        <p:blipFill>
          <a:blip r:embed="rId12"/>
          <a:stretch>
            <a:fillRect/>
          </a:stretch>
        </p:blipFill>
        <p:spPr>
          <a:xfrm>
            <a:off x="10563860" y="2914650"/>
            <a:ext cx="215900" cy="215900"/>
          </a:xfrm>
          <a:prstGeom prst="rect">
            <a:avLst/>
          </a:prstGeom>
        </p:spPr>
      </p:pic>
      <p:sp>
        <p:nvSpPr>
          <p:cNvPr id="43" name="Claude"/>
          <p:cNvSpPr txBox="1"/>
          <p:nvPr/>
        </p:nvSpPr>
        <p:spPr>
          <a:xfrm>
            <a:off x="10843260" y="2755900"/>
            <a:ext cx="629920" cy="533400"/>
          </a:xfrm>
          <a:prstGeom prst="rect">
            <a:avLst/>
          </a:prstGeom>
          <a:noFill/>
        </p:spPr>
        <p:txBody>
          <a:bodyPr wrap="square" lIns="0" rIns="0" tIns="0" bIns="0" anchor="ctr">
            <a:noAutofit/>
          </a:bodyPr>
          <a:lstStyle/>
          <a:p>
            <a:pPr algn="l"/>
            <a:r>
              <a:rPr sz="1100" b="1" i="0">
                <a:solidFill>
                  <a:srgbClr val="2A2F2C"/>
                </a:solidFill>
                <a:latin typeface="DM Sans"/>
                <a:ea typeface="DM Sans"/>
                <a:cs typeface="DM Sans"/>
              </a:rPr>
              <a:t>Claude</a:t>
            </a:r>
          </a:p>
        </p:txBody>
      </p:sp>
      <p:sp>
        <p:nvSpPr>
          <p:cNvPr id="44" name="TextBox 43"/>
          <p:cNvSpPr txBox="1"/>
          <p:nvPr/>
        </p:nvSpPr>
        <p:spPr>
          <a:xfrm>
            <a:off x="9321800" y="3594100"/>
            <a:ext cx="2286000" cy="698500"/>
          </a:xfrm>
          <a:prstGeom prst="rect">
            <a:avLst/>
          </a:prstGeom>
          <a:noFill/>
        </p:spPr>
        <p:txBody>
          <a:bodyPr wrap="square" lIns="0" rIns="0" tIns="0" bIns="0" anchor="t">
            <a:noAutofit/>
          </a:bodyPr>
          <a:lstStyle/>
          <a:p>
            <a:pPr algn="l">
              <a:lnSpc>
                <a:spcPct val="115000"/>
              </a:lnSpc>
            </a:pPr>
            <a:r>
              <a:rPr sz="1400" b="0" i="0">
                <a:solidFill>
                  <a:srgbClr val="15201B"/>
                </a:solidFill>
                <a:latin typeface="DM Sans"/>
                <a:ea typeface="DM Sans"/>
                <a:cs typeface="DM Sans"/>
              </a:rPr>
              <a:t>Quick explanations, not</a:t>
            </a:r>
            <a:br>
              <a:rPr sz="1400"/>
            </a:br>
            <a:r>
              <a:rPr sz="1400" b="0" i="0">
                <a:solidFill>
                  <a:srgbClr val="15201B"/>
                </a:solidFill>
                <a:latin typeface="DM Sans"/>
                <a:ea typeface="DM Sans"/>
                <a:cs typeface="DM Sans"/>
              </a:rPr>
              <a:t>tied to course materials</a:t>
            </a:r>
          </a:p>
        </p:txBody>
      </p:sp>
      <p:sp>
        <p:nvSpPr>
          <p:cNvPr id="45" name="Focus band"/>
          <p:cNvSpPr/>
          <p:nvPr/>
        </p:nvSpPr>
        <p:spPr>
          <a:xfrm>
            <a:off x="482600" y="4978400"/>
            <a:ext cx="11277600" cy="952500"/>
          </a:xfrm>
          <a:prstGeom prst="roundRect">
            <a:avLst>
              <a:gd name="adj" fmla="val 16000"/>
            </a:avLst>
          </a:prstGeom>
          <a:solidFill>
            <a:srgbClr val="193E33"/>
          </a:solidFill>
          <a:ln>
            <a:noFill/>
          </a:ln>
        </p:spPr>
        <p:txBody>
          <a:bodyPr rtlCol="0" anchor="ctr"/>
          <a:lstStyle/>
          <a:p>
            <a:pPr algn="ctr"/>
          </a:p>
        </p:txBody>
      </p:sp>
      <p:sp>
        <p:nvSpPr>
          <p:cNvPr id="46" name="TextBox 45"/>
          <p:cNvSpPr txBox="1"/>
          <p:nvPr/>
        </p:nvSpPr>
        <p:spPr>
          <a:xfrm>
            <a:off x="749300" y="5156200"/>
            <a:ext cx="952500" cy="571500"/>
          </a:xfrm>
          <a:prstGeom prst="rect">
            <a:avLst/>
          </a:prstGeom>
          <a:noFill/>
        </p:spPr>
        <p:txBody>
          <a:bodyPr wrap="square" lIns="0" rIns="0" tIns="0" bIns="0" anchor="ctr">
            <a:noAutofit/>
          </a:bodyPr>
          <a:lstStyle/>
          <a:p>
            <a:pPr algn="l">
              <a:lnSpc>
                <a:spcPct val="110000"/>
              </a:lnSpc>
            </a:pPr>
            <a:r>
              <a:rPr sz="1300" b="1" i="0" spc="250">
                <a:solidFill>
                  <a:srgbClr val="A9D9C4"/>
                </a:solidFill>
                <a:latin typeface="DM Sans"/>
                <a:ea typeface="DM Sans"/>
                <a:cs typeface="DM Sans"/>
              </a:rPr>
              <a:t>OUR</a:t>
            </a:r>
            <a:br>
              <a:rPr sz="1300"/>
            </a:br>
            <a:r>
              <a:rPr sz="1300" b="1" i="0" spc="250">
                <a:solidFill>
                  <a:srgbClr val="A9D9C4"/>
                </a:solidFill>
                <a:latin typeface="DM Sans"/>
                <a:ea typeface="DM Sans"/>
                <a:cs typeface="DM Sans"/>
              </a:rPr>
              <a:t>FOCUS</a:t>
            </a:r>
          </a:p>
        </p:txBody>
      </p:sp>
      <p:sp>
        <p:nvSpPr>
          <p:cNvPr id="47" name="Icon tile"/>
          <p:cNvSpPr/>
          <p:nvPr/>
        </p:nvSpPr>
        <p:spPr>
          <a:xfrm>
            <a:off x="1905000" y="5251450"/>
            <a:ext cx="406400" cy="406400"/>
          </a:xfrm>
          <a:prstGeom prst="roundRect">
            <a:avLst>
              <a:gd name="adj" fmla="val 25000"/>
            </a:avLst>
          </a:prstGeom>
          <a:solidFill>
            <a:srgbClr val="CFE6DA"/>
          </a:solidFill>
          <a:ln>
            <a:noFill/>
          </a:ln>
        </p:spPr>
        <p:txBody>
          <a:bodyPr rtlCol="0" anchor="ctr"/>
          <a:lstStyle/>
          <a:p>
            <a:pPr algn="ctr"/>
          </a:p>
        </p:txBody>
      </p:sp>
      <p:pic>
        <p:nvPicPr>
          <p:cNvPr id="48" name="Icon LuMessageSquareText" descr="lu_LuMessageSquareText_193E33.png"/>
          <p:cNvPicPr>
            <a:picLocks noChangeAspect="1"/>
          </p:cNvPicPr>
          <p:nvPr/>
        </p:nvPicPr>
        <p:blipFill>
          <a:blip r:embed="rId13"/>
          <a:stretch>
            <a:fillRect/>
          </a:stretch>
        </p:blipFill>
        <p:spPr>
          <a:xfrm>
            <a:off x="1993900" y="5340350"/>
            <a:ext cx="228600" cy="228600"/>
          </a:xfrm>
          <a:prstGeom prst="rect">
            <a:avLst/>
          </a:prstGeom>
        </p:spPr>
      </p:pic>
      <p:sp>
        <p:nvSpPr>
          <p:cNvPr id="49" name="TextBox 48"/>
          <p:cNvSpPr txBox="1"/>
          <p:nvPr/>
        </p:nvSpPr>
        <p:spPr>
          <a:xfrm>
            <a:off x="2413000" y="5207000"/>
            <a:ext cx="1079500" cy="495300"/>
          </a:xfrm>
          <a:prstGeom prst="rect">
            <a:avLst/>
          </a:prstGeom>
          <a:noFill/>
        </p:spPr>
        <p:txBody>
          <a:bodyPr wrap="square" lIns="0" rIns="0" tIns="0" bIns="0" anchor="ctr">
            <a:noAutofit/>
          </a:bodyPr>
          <a:lstStyle/>
          <a:p>
            <a:pPr algn="l">
              <a:lnSpc>
                <a:spcPct val="105000"/>
              </a:lnSpc>
            </a:pPr>
            <a:r>
              <a:rPr sz="1300" b="0" i="0">
                <a:solidFill>
                  <a:srgbClr val="FFFFFF"/>
                </a:solidFill>
                <a:latin typeface="DM Sans"/>
                <a:ea typeface="DM Sans"/>
                <a:cs typeface="DM Sans"/>
              </a:rPr>
              <a:t>Student</a:t>
            </a:r>
            <a:br>
              <a:rPr sz="1300"/>
            </a:br>
            <a:r>
              <a:rPr sz="1300" b="0" i="0">
                <a:solidFill>
                  <a:srgbClr val="FFFFFF"/>
                </a:solidFill>
                <a:latin typeface="DM Sans"/>
                <a:ea typeface="DM Sans"/>
                <a:cs typeface="DM Sans"/>
              </a:rPr>
              <a:t>reasoning</a:t>
            </a:r>
          </a:p>
        </p:txBody>
      </p:sp>
      <p:sp>
        <p:nvSpPr>
          <p:cNvPr id="50" name="Arrow"/>
          <p:cNvSpPr/>
          <p:nvPr/>
        </p:nvSpPr>
        <p:spPr>
          <a:xfrm>
            <a:off x="3505200" y="5410200"/>
            <a:ext cx="215900" cy="101600"/>
          </a:xfrm>
          <a:prstGeom prst="rightArrow">
            <a:avLst/>
          </a:prstGeom>
          <a:solidFill>
            <a:srgbClr val="A9D9C4"/>
          </a:solidFill>
          <a:ln>
            <a:noFill/>
          </a:ln>
        </p:spPr>
        <p:txBody>
          <a:bodyPr rtlCol="0" anchor="ctr"/>
          <a:lstStyle/>
          <a:p>
            <a:pPr algn="ctr"/>
          </a:p>
        </p:txBody>
      </p:sp>
      <p:sp>
        <p:nvSpPr>
          <p:cNvPr id="51" name="Icon tile"/>
          <p:cNvSpPr/>
          <p:nvPr/>
        </p:nvSpPr>
        <p:spPr>
          <a:xfrm>
            <a:off x="3937000" y="5251450"/>
            <a:ext cx="406400" cy="406400"/>
          </a:xfrm>
          <a:prstGeom prst="roundRect">
            <a:avLst>
              <a:gd name="adj" fmla="val 25000"/>
            </a:avLst>
          </a:prstGeom>
          <a:solidFill>
            <a:srgbClr val="CFE6DA"/>
          </a:solidFill>
          <a:ln>
            <a:noFill/>
          </a:ln>
        </p:spPr>
        <p:txBody>
          <a:bodyPr rtlCol="0" anchor="ctr"/>
          <a:lstStyle/>
          <a:p>
            <a:pPr algn="ctr"/>
          </a:p>
        </p:txBody>
      </p:sp>
      <p:pic>
        <p:nvPicPr>
          <p:cNvPr id="52" name="Icon LuFileChartColumn" descr="lu_LuFileChartColumn_193E33.png"/>
          <p:cNvPicPr>
            <a:picLocks noChangeAspect="1"/>
          </p:cNvPicPr>
          <p:nvPr/>
        </p:nvPicPr>
        <p:blipFill>
          <a:blip r:embed="rId14"/>
          <a:stretch>
            <a:fillRect/>
          </a:stretch>
        </p:blipFill>
        <p:spPr>
          <a:xfrm>
            <a:off x="4025900" y="5340350"/>
            <a:ext cx="228600" cy="228600"/>
          </a:xfrm>
          <a:prstGeom prst="rect">
            <a:avLst/>
          </a:prstGeom>
        </p:spPr>
      </p:pic>
      <p:sp>
        <p:nvSpPr>
          <p:cNvPr id="53" name="TextBox 52"/>
          <p:cNvSpPr txBox="1"/>
          <p:nvPr/>
        </p:nvSpPr>
        <p:spPr>
          <a:xfrm>
            <a:off x="4445000" y="5207000"/>
            <a:ext cx="1079500" cy="495300"/>
          </a:xfrm>
          <a:prstGeom prst="rect">
            <a:avLst/>
          </a:prstGeom>
          <a:noFill/>
        </p:spPr>
        <p:txBody>
          <a:bodyPr wrap="square" lIns="0" rIns="0" tIns="0" bIns="0" anchor="ctr">
            <a:noAutofit/>
          </a:bodyPr>
          <a:lstStyle/>
          <a:p>
            <a:pPr algn="l">
              <a:lnSpc>
                <a:spcPct val="105000"/>
              </a:lnSpc>
            </a:pPr>
            <a:r>
              <a:rPr sz="1300" b="0" i="0">
                <a:solidFill>
                  <a:srgbClr val="FFFFFF"/>
                </a:solidFill>
                <a:latin typeface="DM Sans"/>
                <a:ea typeface="DM Sans"/>
                <a:cs typeface="DM Sans"/>
              </a:rPr>
              <a:t>Evidence</a:t>
            </a:r>
          </a:p>
        </p:txBody>
      </p:sp>
      <p:sp>
        <p:nvSpPr>
          <p:cNvPr id="54" name="Arrow"/>
          <p:cNvSpPr/>
          <p:nvPr/>
        </p:nvSpPr>
        <p:spPr>
          <a:xfrm>
            <a:off x="5537200" y="5410200"/>
            <a:ext cx="215900" cy="101600"/>
          </a:xfrm>
          <a:prstGeom prst="rightArrow">
            <a:avLst/>
          </a:prstGeom>
          <a:solidFill>
            <a:srgbClr val="A9D9C4"/>
          </a:solidFill>
          <a:ln>
            <a:noFill/>
          </a:ln>
        </p:spPr>
        <p:txBody>
          <a:bodyPr rtlCol="0" anchor="ctr"/>
          <a:lstStyle/>
          <a:p>
            <a:pPr algn="ctr"/>
          </a:p>
        </p:txBody>
      </p:sp>
      <p:sp>
        <p:nvSpPr>
          <p:cNvPr id="55" name="Icon tile"/>
          <p:cNvSpPr/>
          <p:nvPr/>
        </p:nvSpPr>
        <p:spPr>
          <a:xfrm>
            <a:off x="5969000" y="5251450"/>
            <a:ext cx="406400" cy="406400"/>
          </a:xfrm>
          <a:prstGeom prst="roundRect">
            <a:avLst>
              <a:gd name="adj" fmla="val 25000"/>
            </a:avLst>
          </a:prstGeom>
          <a:solidFill>
            <a:srgbClr val="CFE6DA"/>
          </a:solidFill>
          <a:ln>
            <a:noFill/>
          </a:ln>
        </p:spPr>
        <p:txBody>
          <a:bodyPr rtlCol="0" anchor="ctr"/>
          <a:lstStyle/>
          <a:p>
            <a:pPr algn="ctr"/>
          </a:p>
        </p:txBody>
      </p:sp>
      <p:pic>
        <p:nvPicPr>
          <p:cNvPr id="56" name="Icon LuPresentation" descr="lu_LuPresentation_193E33.png"/>
          <p:cNvPicPr>
            <a:picLocks noChangeAspect="1"/>
          </p:cNvPicPr>
          <p:nvPr/>
        </p:nvPicPr>
        <p:blipFill>
          <a:blip r:embed="rId15"/>
          <a:stretch>
            <a:fillRect/>
          </a:stretch>
        </p:blipFill>
        <p:spPr>
          <a:xfrm>
            <a:off x="6057900" y="5340350"/>
            <a:ext cx="228600" cy="228600"/>
          </a:xfrm>
          <a:prstGeom prst="rect">
            <a:avLst/>
          </a:prstGeom>
        </p:spPr>
      </p:pic>
      <p:sp>
        <p:nvSpPr>
          <p:cNvPr id="57" name="TextBox 56"/>
          <p:cNvSpPr txBox="1"/>
          <p:nvPr/>
        </p:nvSpPr>
        <p:spPr>
          <a:xfrm>
            <a:off x="6477000" y="5207000"/>
            <a:ext cx="1079500" cy="495300"/>
          </a:xfrm>
          <a:prstGeom prst="rect">
            <a:avLst/>
          </a:prstGeom>
          <a:noFill/>
        </p:spPr>
        <p:txBody>
          <a:bodyPr wrap="square" lIns="0" rIns="0" tIns="0" bIns="0" anchor="ctr">
            <a:noAutofit/>
          </a:bodyPr>
          <a:lstStyle/>
          <a:p>
            <a:pPr algn="l">
              <a:lnSpc>
                <a:spcPct val="105000"/>
              </a:lnSpc>
            </a:pPr>
            <a:r>
              <a:rPr sz="1300" b="0" i="0">
                <a:solidFill>
                  <a:srgbClr val="FFFFFF"/>
                </a:solidFill>
                <a:latin typeface="DM Sans"/>
                <a:ea typeface="DM Sans"/>
                <a:cs typeface="DM Sans"/>
              </a:rPr>
              <a:t>Teacher</a:t>
            </a:r>
            <a:br>
              <a:rPr sz="1300"/>
            </a:br>
            <a:r>
              <a:rPr sz="1300" b="0" i="0">
                <a:solidFill>
                  <a:srgbClr val="FFFFFF"/>
                </a:solidFill>
                <a:latin typeface="DM Sans"/>
                <a:ea typeface="DM Sans"/>
                <a:cs typeface="DM Sans"/>
              </a:rPr>
              <a:t>review</a:t>
            </a:r>
          </a:p>
        </p:txBody>
      </p:sp>
      <p:sp>
        <p:nvSpPr>
          <p:cNvPr id="58" name="Arrow"/>
          <p:cNvSpPr/>
          <p:nvPr/>
        </p:nvSpPr>
        <p:spPr>
          <a:xfrm>
            <a:off x="7569200" y="5410200"/>
            <a:ext cx="215900" cy="101600"/>
          </a:xfrm>
          <a:prstGeom prst="rightArrow">
            <a:avLst/>
          </a:prstGeom>
          <a:solidFill>
            <a:srgbClr val="A9D9C4"/>
          </a:solidFill>
          <a:ln>
            <a:noFill/>
          </a:ln>
        </p:spPr>
        <p:txBody>
          <a:bodyPr rtlCol="0" anchor="ctr"/>
          <a:lstStyle/>
          <a:p>
            <a:pPr algn="ctr"/>
          </a:p>
        </p:txBody>
      </p:sp>
      <p:sp>
        <p:nvSpPr>
          <p:cNvPr id="59" name="Icon tile"/>
          <p:cNvSpPr/>
          <p:nvPr/>
        </p:nvSpPr>
        <p:spPr>
          <a:xfrm>
            <a:off x="8001000" y="5251450"/>
            <a:ext cx="406400" cy="406400"/>
          </a:xfrm>
          <a:prstGeom prst="roundRect">
            <a:avLst>
              <a:gd name="adj" fmla="val 25000"/>
            </a:avLst>
          </a:prstGeom>
          <a:solidFill>
            <a:srgbClr val="CFE6DA"/>
          </a:solidFill>
          <a:ln>
            <a:noFill/>
          </a:ln>
        </p:spPr>
        <p:txBody>
          <a:bodyPr rtlCol="0" anchor="ctr"/>
          <a:lstStyle/>
          <a:p>
            <a:pPr algn="ctr"/>
          </a:p>
        </p:txBody>
      </p:sp>
      <p:pic>
        <p:nvPicPr>
          <p:cNvPr id="60" name="Icon LuClipboardCheck" descr="lu_LuClipboardCheck_193E33.png"/>
          <p:cNvPicPr>
            <a:picLocks noChangeAspect="1"/>
          </p:cNvPicPr>
          <p:nvPr/>
        </p:nvPicPr>
        <p:blipFill>
          <a:blip r:embed="rId16"/>
          <a:stretch>
            <a:fillRect/>
          </a:stretch>
        </p:blipFill>
        <p:spPr>
          <a:xfrm>
            <a:off x="8089900" y="5340350"/>
            <a:ext cx="228600" cy="228600"/>
          </a:xfrm>
          <a:prstGeom prst="rect">
            <a:avLst/>
          </a:prstGeom>
        </p:spPr>
      </p:pic>
      <p:sp>
        <p:nvSpPr>
          <p:cNvPr id="61" name="TextBox 60"/>
          <p:cNvSpPr txBox="1"/>
          <p:nvPr/>
        </p:nvSpPr>
        <p:spPr>
          <a:xfrm>
            <a:off x="8509000" y="5207000"/>
            <a:ext cx="1079500" cy="495300"/>
          </a:xfrm>
          <a:prstGeom prst="rect">
            <a:avLst/>
          </a:prstGeom>
          <a:noFill/>
        </p:spPr>
        <p:txBody>
          <a:bodyPr wrap="square" lIns="0" rIns="0" tIns="0" bIns="0" anchor="ctr">
            <a:noAutofit/>
          </a:bodyPr>
          <a:lstStyle/>
          <a:p>
            <a:pPr algn="l">
              <a:lnSpc>
                <a:spcPct val="105000"/>
              </a:lnSpc>
            </a:pPr>
            <a:r>
              <a:rPr sz="1300" b="0" i="0">
                <a:solidFill>
                  <a:srgbClr val="FFFFFF"/>
                </a:solidFill>
                <a:latin typeface="DM Sans"/>
                <a:ea typeface="DM Sans"/>
                <a:cs typeface="DM Sans"/>
              </a:rPr>
              <a:t>Approved</a:t>
            </a:r>
            <a:br>
              <a:rPr sz="1300"/>
            </a:br>
            <a:r>
              <a:rPr sz="1300" b="0" i="0">
                <a:solidFill>
                  <a:srgbClr val="FFFFFF"/>
                </a:solidFill>
                <a:latin typeface="DM Sans"/>
                <a:ea typeface="DM Sans"/>
                <a:cs typeface="DM Sans"/>
              </a:rPr>
              <a:t>follow-up</a:t>
            </a:r>
          </a:p>
        </p:txBody>
      </p:sp>
      <p:sp>
        <p:nvSpPr>
          <p:cNvPr id="62" name="Arrow"/>
          <p:cNvSpPr/>
          <p:nvPr/>
        </p:nvSpPr>
        <p:spPr>
          <a:xfrm>
            <a:off x="9601200" y="5410200"/>
            <a:ext cx="215900" cy="101600"/>
          </a:xfrm>
          <a:prstGeom prst="rightArrow">
            <a:avLst/>
          </a:prstGeom>
          <a:solidFill>
            <a:srgbClr val="A9D9C4"/>
          </a:solidFill>
          <a:ln>
            <a:noFill/>
          </a:ln>
        </p:spPr>
        <p:txBody>
          <a:bodyPr rtlCol="0" anchor="ctr"/>
          <a:lstStyle/>
          <a:p>
            <a:pPr algn="ctr"/>
          </a:p>
        </p:txBody>
      </p:sp>
      <p:sp>
        <p:nvSpPr>
          <p:cNvPr id="63" name="Icon tile"/>
          <p:cNvSpPr/>
          <p:nvPr/>
        </p:nvSpPr>
        <p:spPr>
          <a:xfrm>
            <a:off x="10033000" y="5251450"/>
            <a:ext cx="406400" cy="406400"/>
          </a:xfrm>
          <a:prstGeom prst="roundRect">
            <a:avLst>
              <a:gd name="adj" fmla="val 25000"/>
            </a:avLst>
          </a:prstGeom>
          <a:solidFill>
            <a:srgbClr val="CFE6DA"/>
          </a:solidFill>
          <a:ln>
            <a:noFill/>
          </a:ln>
        </p:spPr>
        <p:txBody>
          <a:bodyPr rtlCol="0" anchor="ctr"/>
          <a:lstStyle/>
          <a:p>
            <a:pPr algn="ctr"/>
          </a:p>
        </p:txBody>
      </p:sp>
      <p:pic>
        <p:nvPicPr>
          <p:cNvPr id="64" name="Icon LuLayers" descr="lu_LuLayers_193E33.png"/>
          <p:cNvPicPr>
            <a:picLocks noChangeAspect="1"/>
          </p:cNvPicPr>
          <p:nvPr/>
        </p:nvPicPr>
        <p:blipFill>
          <a:blip r:embed="rId17"/>
          <a:stretch>
            <a:fillRect/>
          </a:stretch>
        </p:blipFill>
        <p:spPr>
          <a:xfrm>
            <a:off x="10121900" y="5340350"/>
            <a:ext cx="228600" cy="228600"/>
          </a:xfrm>
          <a:prstGeom prst="rect">
            <a:avLst/>
          </a:prstGeom>
        </p:spPr>
      </p:pic>
      <p:sp>
        <p:nvSpPr>
          <p:cNvPr id="65" name="TextBox 64"/>
          <p:cNvSpPr txBox="1"/>
          <p:nvPr/>
        </p:nvSpPr>
        <p:spPr>
          <a:xfrm>
            <a:off x="10541000" y="5207000"/>
            <a:ext cx="1079500" cy="495300"/>
          </a:xfrm>
          <a:prstGeom prst="rect">
            <a:avLst/>
          </a:prstGeom>
          <a:noFill/>
        </p:spPr>
        <p:txBody>
          <a:bodyPr wrap="square" lIns="0" rIns="0" tIns="0" bIns="0" anchor="ctr">
            <a:noAutofit/>
          </a:bodyPr>
          <a:lstStyle/>
          <a:p>
            <a:pPr algn="l">
              <a:lnSpc>
                <a:spcPct val="105000"/>
              </a:lnSpc>
            </a:pPr>
            <a:r>
              <a:rPr sz="1300" b="0" i="0">
                <a:solidFill>
                  <a:srgbClr val="FFFFFF"/>
                </a:solidFill>
                <a:latin typeface="DM Sans"/>
                <a:ea typeface="DM Sans"/>
                <a:cs typeface="DM Sans"/>
              </a:rPr>
              <a:t>New</a:t>
            </a:r>
            <a:br>
              <a:rPr sz="1300"/>
            </a:br>
            <a:r>
              <a:rPr sz="1300" b="0" i="0">
                <a:solidFill>
                  <a:srgbClr val="FFFFFF"/>
                </a:solidFill>
                <a:latin typeface="DM Sans"/>
                <a:ea typeface="DM Sans"/>
                <a:cs typeface="DM Sans"/>
              </a:rPr>
              <a:t>work</a:t>
            </a:r>
          </a:p>
        </p:txBody>
      </p:sp>
      <p:sp>
        <p:nvSpPr>
          <p:cNvPr id="66"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algn="l"/>
            <a:r>
              <a:rPr sz="3400" b="0" i="0">
                <a:solidFill>
                  <a:srgbClr val="15201B"/>
                </a:solidFill>
                <a:latin typeface="Newsreader"/>
                <a:ea typeface="Newsreader"/>
                <a:cs typeface="Newsreader"/>
              </a:rPr>
              <a:t>Empowering Educators and Students at Scale</a:t>
            </a:r>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TARGET USERS &amp; IMPACT</a:t>
            </a:r>
          </a:p>
        </p:txBody>
      </p:sp>
      <p:sp>
        <p:nvSpPr>
          <p:cNvPr id="5" name="Row"/>
          <p:cNvSpPr/>
          <p:nvPr/>
        </p:nvSpPr>
        <p:spPr>
          <a:xfrm>
            <a:off x="482600" y="1473200"/>
            <a:ext cx="6858000" cy="1244600"/>
          </a:xfrm>
          <a:prstGeom prst="roundRect">
            <a:avLst>
              <a:gd name="adj" fmla="val 1122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pic>
        <p:nvPicPr>
          <p:cNvPr id="6" name="Illustration" descr="p4_teacher.png"/>
          <p:cNvPicPr>
            <a:picLocks noChangeAspect="1"/>
          </p:cNvPicPr>
          <p:nvPr/>
        </p:nvPicPr>
        <p:blipFill>
          <a:blip r:embed="rId4"/>
          <a:stretch>
            <a:fillRect/>
          </a:stretch>
        </p:blipFill>
        <p:spPr>
          <a:xfrm>
            <a:off x="613611" y="1562100"/>
            <a:ext cx="1782679" cy="1066800"/>
          </a:xfrm>
          <a:prstGeom prst="rect">
            <a:avLst/>
          </a:prstGeom>
        </p:spPr>
      </p:pic>
      <p:sp>
        <p:nvSpPr>
          <p:cNvPr id="7" name="Eyebrow"/>
          <p:cNvSpPr txBox="1"/>
          <p:nvPr/>
        </p:nvSpPr>
        <p:spPr>
          <a:xfrm>
            <a:off x="2616200" y="1651000"/>
            <a:ext cx="4445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PRIMARY</a:t>
            </a:r>
          </a:p>
        </p:txBody>
      </p:sp>
      <p:sp>
        <p:nvSpPr>
          <p:cNvPr id="8" name="TextBox 7"/>
          <p:cNvSpPr txBox="1"/>
          <p:nvPr/>
        </p:nvSpPr>
        <p:spPr>
          <a:xfrm>
            <a:off x="2616200" y="1854200"/>
            <a:ext cx="45720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University instructors</a:t>
            </a:r>
          </a:p>
        </p:txBody>
      </p:sp>
      <p:sp>
        <p:nvSpPr>
          <p:cNvPr id="9" name="TextBox 8"/>
          <p:cNvSpPr txBox="1"/>
          <p:nvPr/>
        </p:nvSpPr>
        <p:spPr>
          <a:xfrm>
            <a:off x="2616200" y="2209800"/>
            <a:ext cx="4572000" cy="508000"/>
          </a:xfrm>
          <a:prstGeom prst="rect">
            <a:avLst/>
          </a:prstGeom>
          <a:noFill/>
        </p:spPr>
        <p:txBody>
          <a:bodyPr wrap="square" lIns="0" rIns="0" tIns="0" bIns="0" anchor="t">
            <a:noAutofit/>
          </a:bodyPr>
          <a:lstStyle/>
          <a:p>
            <a:pPr algn="l">
              <a:lnSpc>
                <a:spcPct val="112000"/>
              </a:lnSpc>
            </a:pPr>
            <a:r>
              <a:rPr sz="1350" b="0" i="0">
                <a:solidFill>
                  <a:srgbClr val="5B6561"/>
                </a:solidFill>
                <a:latin typeface="DM Sans"/>
                <a:ea typeface="DM Sans"/>
                <a:cs typeface="DM Sans"/>
              </a:rPr>
              <a:t>Spot misunderstandings early and spend</a:t>
            </a:r>
            <a:br>
              <a:rPr sz="1350"/>
            </a:br>
            <a:r>
              <a:rPr sz="1350" b="0" i="0">
                <a:solidFill>
                  <a:srgbClr val="5B6561"/>
                </a:solidFill>
                <a:latin typeface="DM Sans"/>
                <a:ea typeface="DM Sans"/>
                <a:cs typeface="DM Sans"/>
              </a:rPr>
              <a:t>class time where it matters.</a:t>
            </a:r>
          </a:p>
        </p:txBody>
      </p:sp>
      <p:sp>
        <p:nvSpPr>
          <p:cNvPr id="10" name="Row"/>
          <p:cNvSpPr/>
          <p:nvPr/>
        </p:nvSpPr>
        <p:spPr>
          <a:xfrm>
            <a:off x="482600" y="2832100"/>
            <a:ext cx="6858000" cy="1244600"/>
          </a:xfrm>
          <a:prstGeom prst="roundRect">
            <a:avLst>
              <a:gd name="adj" fmla="val 1122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pic>
        <p:nvPicPr>
          <p:cNvPr id="11" name="Illustration" descr="p4_student.png"/>
          <p:cNvPicPr>
            <a:picLocks noChangeAspect="1"/>
          </p:cNvPicPr>
          <p:nvPr/>
        </p:nvPicPr>
        <p:blipFill>
          <a:blip r:embed="rId5"/>
          <a:stretch>
            <a:fillRect/>
          </a:stretch>
        </p:blipFill>
        <p:spPr>
          <a:xfrm>
            <a:off x="654635" y="2921000"/>
            <a:ext cx="1700631" cy="1066800"/>
          </a:xfrm>
          <a:prstGeom prst="rect">
            <a:avLst/>
          </a:prstGeom>
        </p:spPr>
      </p:pic>
      <p:sp>
        <p:nvSpPr>
          <p:cNvPr id="12" name="Eyebrow"/>
          <p:cNvSpPr txBox="1"/>
          <p:nvPr/>
        </p:nvSpPr>
        <p:spPr>
          <a:xfrm>
            <a:off x="2616200" y="3009900"/>
            <a:ext cx="4445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SECONDARY</a:t>
            </a:r>
          </a:p>
        </p:txBody>
      </p:sp>
      <p:sp>
        <p:nvSpPr>
          <p:cNvPr id="13" name="TextBox 12"/>
          <p:cNvSpPr txBox="1"/>
          <p:nvPr/>
        </p:nvSpPr>
        <p:spPr>
          <a:xfrm>
            <a:off x="2616200" y="3213100"/>
            <a:ext cx="45720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Undergraduate students</a:t>
            </a:r>
          </a:p>
        </p:txBody>
      </p:sp>
      <p:sp>
        <p:nvSpPr>
          <p:cNvPr id="14" name="TextBox 13"/>
          <p:cNvSpPr txBox="1"/>
          <p:nvPr/>
        </p:nvSpPr>
        <p:spPr>
          <a:xfrm>
            <a:off x="2616200" y="3568700"/>
            <a:ext cx="4572000" cy="508000"/>
          </a:xfrm>
          <a:prstGeom prst="rect">
            <a:avLst/>
          </a:prstGeom>
          <a:noFill/>
        </p:spPr>
        <p:txBody>
          <a:bodyPr wrap="square" lIns="0" rIns="0" tIns="0" bIns="0" anchor="t">
            <a:noAutofit/>
          </a:bodyPr>
          <a:lstStyle/>
          <a:p>
            <a:pPr algn="l">
              <a:lnSpc>
                <a:spcPct val="112000"/>
              </a:lnSpc>
            </a:pPr>
            <a:r>
              <a:rPr sz="1350" b="0" i="0">
                <a:solidFill>
                  <a:srgbClr val="5B6561"/>
                </a:solidFill>
                <a:latin typeface="DM Sans"/>
                <a:ea typeface="DM Sans"/>
                <a:cs typeface="DM Sans"/>
              </a:rPr>
              <a:t>Guided explanations, questions and</a:t>
            </a:r>
            <a:br>
              <a:rPr sz="1350"/>
            </a:br>
            <a:r>
              <a:rPr sz="1350" b="0" i="0">
                <a:solidFill>
                  <a:srgbClr val="5B6561"/>
                </a:solidFill>
                <a:latin typeface="DM Sans"/>
                <a:ea typeface="DM Sans"/>
                <a:cs typeface="DM Sans"/>
              </a:rPr>
              <a:t>feedback outside class.</a:t>
            </a:r>
          </a:p>
        </p:txBody>
      </p:sp>
      <p:sp>
        <p:nvSpPr>
          <p:cNvPr id="15" name="Row"/>
          <p:cNvSpPr/>
          <p:nvPr/>
        </p:nvSpPr>
        <p:spPr>
          <a:xfrm>
            <a:off x="482600" y="4191000"/>
            <a:ext cx="6858000" cy="1244600"/>
          </a:xfrm>
          <a:prstGeom prst="roundRect">
            <a:avLst>
              <a:gd name="adj" fmla="val 1122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pic>
        <p:nvPicPr>
          <p:cNvPr id="16" name="Illustration" descr="p4_campus.png"/>
          <p:cNvPicPr>
            <a:picLocks noChangeAspect="1"/>
          </p:cNvPicPr>
          <p:nvPr/>
        </p:nvPicPr>
        <p:blipFill>
          <a:blip r:embed="rId6"/>
          <a:stretch>
            <a:fillRect/>
          </a:stretch>
        </p:blipFill>
        <p:spPr>
          <a:xfrm>
            <a:off x="584200" y="4334800"/>
            <a:ext cx="1841500" cy="957000"/>
          </a:xfrm>
          <a:prstGeom prst="rect">
            <a:avLst/>
          </a:prstGeom>
        </p:spPr>
      </p:pic>
      <p:sp>
        <p:nvSpPr>
          <p:cNvPr id="17" name="Eyebrow"/>
          <p:cNvSpPr txBox="1"/>
          <p:nvPr/>
        </p:nvSpPr>
        <p:spPr>
          <a:xfrm>
            <a:off x="2616200" y="4368800"/>
            <a:ext cx="4445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POTENTIAL ADOPTERS</a:t>
            </a:r>
          </a:p>
        </p:txBody>
      </p:sp>
      <p:sp>
        <p:nvSpPr>
          <p:cNvPr id="18" name="TextBox 17"/>
          <p:cNvSpPr txBox="1"/>
          <p:nvPr/>
        </p:nvSpPr>
        <p:spPr>
          <a:xfrm>
            <a:off x="2616200" y="4572000"/>
            <a:ext cx="4572000" cy="355600"/>
          </a:xfrm>
          <a:prstGeom prst="rect">
            <a:avLst/>
          </a:prstGeom>
          <a:noFill/>
        </p:spPr>
        <p:txBody>
          <a:bodyPr wrap="square" lIns="0" rIns="0" tIns="0" bIns="0" anchor="t">
            <a:noAutofit/>
          </a:bodyPr>
          <a:lstStyle/>
          <a:p>
            <a:pPr algn="l"/>
            <a:r>
              <a:rPr sz="2000" b="0" i="0">
                <a:solidFill>
                  <a:srgbClr val="15201B"/>
                </a:solidFill>
                <a:latin typeface="Newsreader"/>
                <a:ea typeface="Newsreader"/>
                <a:cs typeface="Newsreader"/>
              </a:rPr>
              <a:t>Departments and universities</a:t>
            </a:r>
          </a:p>
        </p:txBody>
      </p:sp>
      <p:sp>
        <p:nvSpPr>
          <p:cNvPr id="19" name="TextBox 18"/>
          <p:cNvSpPr txBox="1"/>
          <p:nvPr/>
        </p:nvSpPr>
        <p:spPr>
          <a:xfrm>
            <a:off x="2616200" y="4927600"/>
            <a:ext cx="4572000" cy="508000"/>
          </a:xfrm>
          <a:prstGeom prst="rect">
            <a:avLst/>
          </a:prstGeom>
          <a:noFill/>
        </p:spPr>
        <p:txBody>
          <a:bodyPr wrap="square" lIns="0" rIns="0" tIns="0" bIns="0" anchor="t">
            <a:noAutofit/>
          </a:bodyPr>
          <a:lstStyle/>
          <a:p>
            <a:pPr algn="l">
              <a:lnSpc>
                <a:spcPct val="112000"/>
              </a:lnSpc>
            </a:pPr>
            <a:r>
              <a:rPr sz="1350" b="0" i="0">
                <a:solidFill>
                  <a:srgbClr val="5B6561"/>
                </a:solidFill>
                <a:latin typeface="DM Sans"/>
                <a:ea typeface="DM Sans"/>
                <a:cs typeface="DM Sans"/>
              </a:rPr>
              <a:t>Including teaching and learning centers.</a:t>
            </a:r>
          </a:p>
        </p:txBody>
      </p:sp>
      <p:sp>
        <p:nvSpPr>
          <p:cNvPr id="20" name="Scale card"/>
          <p:cNvSpPr/>
          <p:nvPr/>
        </p:nvSpPr>
        <p:spPr>
          <a:xfrm>
            <a:off x="7556500" y="1473200"/>
            <a:ext cx="4330700" cy="3962400"/>
          </a:xfrm>
          <a:prstGeom prst="roundRect">
            <a:avLst>
              <a:gd name="adj" fmla="val 4166"/>
            </a:avLst>
          </a:prstGeom>
          <a:solidFill>
            <a:srgbClr val="E2EFE8"/>
          </a:solidFill>
          <a:ln>
            <a:noFill/>
          </a:ln>
        </p:spPr>
        <p:txBody>
          <a:bodyPr rtlCol="0" anchor="ctr"/>
          <a:lstStyle/>
          <a:p>
            <a:pPr algn="ctr"/>
          </a:p>
        </p:txBody>
      </p:sp>
      <p:sp>
        <p:nvSpPr>
          <p:cNvPr id="21" name="Eyebrow"/>
          <p:cNvSpPr txBox="1"/>
          <p:nvPr/>
        </p:nvSpPr>
        <p:spPr>
          <a:xfrm>
            <a:off x="7848600" y="1828800"/>
            <a:ext cx="2540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SCALE CONTEXT</a:t>
            </a:r>
          </a:p>
        </p:txBody>
      </p:sp>
      <p:pic>
        <p:nvPicPr>
          <p:cNvPr id="22" name="Illustration" descr="p4_students.png"/>
          <p:cNvPicPr>
            <a:picLocks noChangeAspect="1"/>
          </p:cNvPicPr>
          <p:nvPr/>
        </p:nvPicPr>
        <p:blipFill>
          <a:blip r:embed="rId7"/>
          <a:stretch>
            <a:fillRect/>
          </a:stretch>
        </p:blipFill>
        <p:spPr>
          <a:xfrm>
            <a:off x="10414000" y="2240343"/>
            <a:ext cx="1371600" cy="929514"/>
          </a:xfrm>
          <a:prstGeom prst="rect">
            <a:avLst/>
          </a:prstGeom>
        </p:spPr>
      </p:pic>
      <p:sp>
        <p:nvSpPr>
          <p:cNvPr id="23" name="Big number"/>
          <p:cNvSpPr txBox="1"/>
          <p:nvPr/>
        </p:nvSpPr>
        <p:spPr>
          <a:xfrm>
            <a:off x="7810500" y="2540000"/>
            <a:ext cx="2667000" cy="1016000"/>
          </a:xfrm>
          <a:prstGeom prst="rect">
            <a:avLst/>
          </a:prstGeom>
          <a:noFill/>
        </p:spPr>
        <p:txBody>
          <a:bodyPr wrap="square" lIns="0" rIns="0" tIns="0" bIns="0" anchor="t">
            <a:noAutofit/>
          </a:bodyPr>
          <a:lstStyle/>
          <a:p>
            <a:pPr algn="l"/>
            <a:r>
              <a:rPr sz="6000" b="0" i="0">
                <a:solidFill>
                  <a:srgbClr val="15201B"/>
                </a:solidFill>
                <a:latin typeface="Newsreader"/>
                <a:ea typeface="Newsreader"/>
                <a:cs typeface="Newsreader"/>
              </a:rPr>
              <a:t>16.2M</a:t>
            </a:r>
          </a:p>
        </p:txBody>
      </p:sp>
      <p:sp>
        <p:nvSpPr>
          <p:cNvPr id="24" name="TextBox 23"/>
          <p:cNvSpPr txBox="1"/>
          <p:nvPr/>
        </p:nvSpPr>
        <p:spPr>
          <a:xfrm>
            <a:off x="7848600" y="3683000"/>
            <a:ext cx="3683000" cy="635000"/>
          </a:xfrm>
          <a:prstGeom prst="rect">
            <a:avLst/>
          </a:prstGeom>
          <a:noFill/>
        </p:spPr>
        <p:txBody>
          <a:bodyPr wrap="square" lIns="0" rIns="0" tIns="0" bIns="0" anchor="t">
            <a:noAutofit/>
          </a:bodyPr>
          <a:lstStyle/>
          <a:p>
            <a:pPr algn="l">
              <a:lnSpc>
                <a:spcPct val="115000"/>
              </a:lnSpc>
            </a:pPr>
            <a:r>
              <a:rPr sz="1600" b="0" i="0">
                <a:solidFill>
                  <a:srgbClr val="15201B"/>
                </a:solidFill>
                <a:latin typeface="DM Sans"/>
                <a:ea typeface="DM Sans"/>
                <a:cs typeface="DM Sans"/>
              </a:rPr>
              <a:t>U.S. undergraduate enrollments</a:t>
            </a:r>
            <a:br>
              <a:rPr sz="1600"/>
            </a:br>
            <a:r>
              <a:rPr sz="1600" b="0" i="0">
                <a:solidFill>
                  <a:srgbClr val="15201B"/>
                </a:solidFill>
                <a:latin typeface="DM Sans"/>
                <a:ea typeface="DM Sans"/>
                <a:cs typeface="DM Sans"/>
              </a:rPr>
              <a:t>in fall 2025</a:t>
            </a:r>
          </a:p>
        </p:txBody>
      </p:sp>
      <p:sp>
        <p:nvSpPr>
          <p:cNvPr id="25" name="TextBox 24"/>
          <p:cNvSpPr txBox="1"/>
          <p:nvPr/>
        </p:nvSpPr>
        <p:spPr>
          <a:xfrm>
            <a:off x="7848600" y="4699000"/>
            <a:ext cx="3810000" cy="508000"/>
          </a:xfrm>
          <a:prstGeom prst="rect">
            <a:avLst/>
          </a:prstGeom>
          <a:noFill/>
        </p:spPr>
        <p:txBody>
          <a:bodyPr wrap="square" lIns="0" rIns="0" tIns="0" bIns="0" anchor="t">
            <a:noAutofit/>
          </a:bodyPr>
          <a:lstStyle/>
          <a:p>
            <a:pPr algn="l">
              <a:lnSpc>
                <a:spcPct val="120000"/>
              </a:lnSpc>
            </a:pPr>
            <a:r>
              <a:rPr sz="1200" b="0" i="0">
                <a:solidFill>
                  <a:srgbClr val="5B6561"/>
                </a:solidFill>
                <a:latin typeface="DM Sans"/>
                <a:ea typeface="DM Sans"/>
                <a:cs typeface="DM Sans"/>
              </a:rPr>
              <a:t>Source: National Student Clearinghouse</a:t>
            </a:r>
            <a:br>
              <a:rPr sz="1200"/>
            </a:br>
            <a:r>
              <a:rPr sz="1200" b="0" i="0">
                <a:solidFill>
                  <a:srgbClr val="5B6561"/>
                </a:solidFill>
                <a:latin typeface="DM Sans"/>
                <a:ea typeface="DM Sans"/>
                <a:cs typeface="DM Sans"/>
              </a:rPr>
              <a:t>Research Center, January 2026.</a:t>
            </a:r>
          </a:p>
        </p:txBody>
      </p:sp>
      <p:sp>
        <p:nvSpPr>
          <p:cNvPr id="26" name="Eyebrow"/>
          <p:cNvSpPr txBox="1"/>
          <p:nvPr/>
        </p:nvSpPr>
        <p:spPr>
          <a:xfrm>
            <a:off x="571500" y="5588000"/>
            <a:ext cx="4445000" cy="215900"/>
          </a:xfrm>
          <a:prstGeom prst="rect">
            <a:avLst/>
          </a:prstGeom>
          <a:noFill/>
        </p:spPr>
        <p:txBody>
          <a:bodyPr wrap="square" lIns="0" rIns="0" tIns="0" bIns="0" anchor="t">
            <a:noAutofit/>
          </a:bodyPr>
          <a:lstStyle/>
          <a:p>
            <a:pPr algn="l"/>
            <a:r>
              <a:rPr sz="1100" b="1" i="0" spc="220">
                <a:solidFill>
                  <a:srgbClr val="2E7A62"/>
                </a:solidFill>
                <a:latin typeface="DM Sans"/>
                <a:ea typeface="DM Sans"/>
                <a:cs typeface="DM Sans"/>
              </a:rPr>
              <a:t>STARTING WITH STEM COURSES</a:t>
            </a:r>
          </a:p>
        </p:txBody>
      </p:sp>
      <p:sp>
        <p:nvSpPr>
          <p:cNvPr id="27" name="Course pill"/>
          <p:cNvSpPr/>
          <p:nvPr/>
        </p:nvSpPr>
        <p:spPr>
          <a:xfrm>
            <a:off x="533400" y="5854700"/>
            <a:ext cx="1714500" cy="482600"/>
          </a:xfrm>
          <a:prstGeom prst="roundRect">
            <a:avLst>
              <a:gd name="adj" fmla="val 50000"/>
            </a:avLst>
          </a:prstGeom>
          <a:solidFill>
            <a:srgbClr val="225347"/>
          </a:solidFill>
          <a:ln>
            <a:noFill/>
          </a:ln>
        </p:spPr>
        <p:txBody>
          <a:bodyPr rtlCol="0" anchor="ctr"/>
          <a:lstStyle/>
          <a:p>
            <a:pPr algn="ctr"/>
          </a:p>
        </p:txBody>
      </p:sp>
      <p:pic>
        <p:nvPicPr>
          <p:cNvPr id="28" name="Icon LuNetwork" descr="lu_LuNetwork_FFFFFF.png"/>
          <p:cNvPicPr>
            <a:picLocks noChangeAspect="1"/>
          </p:cNvPicPr>
          <p:nvPr/>
        </p:nvPicPr>
        <p:blipFill>
          <a:blip r:embed="rId8"/>
          <a:stretch>
            <a:fillRect/>
          </a:stretch>
        </p:blipFill>
        <p:spPr>
          <a:xfrm>
            <a:off x="685800" y="5981700"/>
            <a:ext cx="228600" cy="228600"/>
          </a:xfrm>
          <a:prstGeom prst="rect">
            <a:avLst/>
          </a:prstGeom>
        </p:spPr>
      </p:pic>
      <p:sp>
        <p:nvSpPr>
          <p:cNvPr id="29" name="TextBox 28"/>
          <p:cNvSpPr txBox="1"/>
          <p:nvPr/>
        </p:nvSpPr>
        <p:spPr>
          <a:xfrm>
            <a:off x="990600" y="5854700"/>
            <a:ext cx="1193800" cy="482600"/>
          </a:xfrm>
          <a:prstGeom prst="rect">
            <a:avLst/>
          </a:prstGeom>
          <a:noFill/>
        </p:spPr>
        <p:txBody>
          <a:bodyPr wrap="square" lIns="0" rIns="0" tIns="0" bIns="0" anchor="ctr">
            <a:noAutofit/>
          </a:bodyPr>
          <a:lstStyle/>
          <a:p>
            <a:pPr algn="l">
              <a:lnSpc>
                <a:spcPct val="100000"/>
              </a:lnSpc>
            </a:pPr>
            <a:r>
              <a:rPr sz="1100" b="0" i="0">
                <a:solidFill>
                  <a:srgbClr val="FFFFFF"/>
                </a:solidFill>
                <a:latin typeface="DM Sans"/>
                <a:ea typeface="DM Sans"/>
                <a:cs typeface="DM Sans"/>
              </a:rPr>
              <a:t>Networking:</a:t>
            </a:r>
            <a:br>
              <a:rPr sz="1100"/>
            </a:br>
            <a:r>
              <a:rPr sz="1100" b="0" i="0">
                <a:solidFill>
                  <a:srgbClr val="FFFFFF"/>
                </a:solidFill>
                <a:latin typeface="DM Sans"/>
                <a:ea typeface="DM Sans"/>
                <a:cs typeface="DM Sans"/>
              </a:rPr>
              <a:t>our first lesson</a:t>
            </a:r>
          </a:p>
        </p:txBody>
      </p:sp>
      <p:sp>
        <p:nvSpPr>
          <p:cNvPr id="30" name="Course pill"/>
          <p:cNvSpPr/>
          <p:nvPr/>
        </p:nvSpPr>
        <p:spPr>
          <a:xfrm>
            <a:off x="2349500" y="5854700"/>
            <a:ext cx="1358900" cy="482600"/>
          </a:xfrm>
          <a:prstGeom prst="roundRect">
            <a:avLst>
              <a:gd name="adj" fmla="val 50000"/>
            </a:avLst>
          </a:prstGeom>
          <a:solidFill>
            <a:srgbClr val="D9E9E0"/>
          </a:solidFill>
          <a:ln>
            <a:noFill/>
          </a:ln>
        </p:spPr>
        <p:txBody>
          <a:bodyPr rtlCol="0" anchor="ctr"/>
          <a:lstStyle/>
          <a:p>
            <a:pPr algn="ctr"/>
          </a:p>
        </p:txBody>
      </p:sp>
      <p:pic>
        <p:nvPicPr>
          <p:cNvPr id="31" name="Icon LuLaptop" descr="lu_LuLaptop_225347.png"/>
          <p:cNvPicPr>
            <a:picLocks noChangeAspect="1"/>
          </p:cNvPicPr>
          <p:nvPr/>
        </p:nvPicPr>
        <p:blipFill>
          <a:blip r:embed="rId9"/>
          <a:stretch>
            <a:fillRect/>
          </a:stretch>
        </p:blipFill>
        <p:spPr>
          <a:xfrm>
            <a:off x="2501900" y="5981700"/>
            <a:ext cx="228600" cy="228600"/>
          </a:xfrm>
          <a:prstGeom prst="rect">
            <a:avLst/>
          </a:prstGeom>
        </p:spPr>
      </p:pic>
      <p:sp>
        <p:nvSpPr>
          <p:cNvPr id="32" name="TextBox 31"/>
          <p:cNvSpPr txBox="1"/>
          <p:nvPr/>
        </p:nvSpPr>
        <p:spPr>
          <a:xfrm>
            <a:off x="2806700" y="5854700"/>
            <a:ext cx="838200" cy="482600"/>
          </a:xfrm>
          <a:prstGeom prst="rect">
            <a:avLst/>
          </a:prstGeom>
          <a:noFill/>
        </p:spPr>
        <p:txBody>
          <a:bodyPr wrap="square" lIns="0" rIns="0" tIns="0" bIns="0" anchor="ctr">
            <a:noAutofit/>
          </a:bodyPr>
          <a:lstStyle/>
          <a:p>
            <a:pPr algn="l">
              <a:lnSpc>
                <a:spcPct val="100000"/>
              </a:lnSpc>
            </a:pPr>
            <a:r>
              <a:rPr sz="1100" b="0" i="0">
                <a:solidFill>
                  <a:srgbClr val="1E3D33"/>
                </a:solidFill>
                <a:latin typeface="DM Sans"/>
                <a:ea typeface="DM Sans"/>
                <a:cs typeface="DM Sans"/>
              </a:rPr>
              <a:t>Computer</a:t>
            </a:r>
            <a:br>
              <a:rPr sz="1100"/>
            </a:br>
            <a:r>
              <a:rPr sz="1100" b="0" i="0">
                <a:solidFill>
                  <a:srgbClr val="1E3D33"/>
                </a:solidFill>
                <a:latin typeface="DM Sans"/>
                <a:ea typeface="DM Sans"/>
                <a:cs typeface="DM Sans"/>
              </a:rPr>
              <a:t>science</a:t>
            </a:r>
          </a:p>
        </p:txBody>
      </p:sp>
      <p:sp>
        <p:nvSpPr>
          <p:cNvPr id="33" name="Course pill"/>
          <p:cNvSpPr/>
          <p:nvPr/>
        </p:nvSpPr>
        <p:spPr>
          <a:xfrm>
            <a:off x="3810000" y="5854700"/>
            <a:ext cx="1460500" cy="482600"/>
          </a:xfrm>
          <a:prstGeom prst="roundRect">
            <a:avLst>
              <a:gd name="adj" fmla="val 50000"/>
            </a:avLst>
          </a:prstGeom>
          <a:solidFill>
            <a:srgbClr val="D9E9E0"/>
          </a:solidFill>
          <a:ln>
            <a:noFill/>
          </a:ln>
        </p:spPr>
        <p:txBody>
          <a:bodyPr rtlCol="0" anchor="ctr"/>
          <a:lstStyle/>
          <a:p>
            <a:pPr algn="ctr"/>
          </a:p>
        </p:txBody>
      </p:sp>
      <p:pic>
        <p:nvPicPr>
          <p:cNvPr id="34" name="Icon LuSettings" descr="lu_LuSettings_225347.png"/>
          <p:cNvPicPr>
            <a:picLocks noChangeAspect="1"/>
          </p:cNvPicPr>
          <p:nvPr/>
        </p:nvPicPr>
        <p:blipFill>
          <a:blip r:embed="rId10"/>
          <a:stretch>
            <a:fillRect/>
          </a:stretch>
        </p:blipFill>
        <p:spPr>
          <a:xfrm>
            <a:off x="3962400" y="5981700"/>
            <a:ext cx="228600" cy="228600"/>
          </a:xfrm>
          <a:prstGeom prst="rect">
            <a:avLst/>
          </a:prstGeom>
        </p:spPr>
      </p:pic>
      <p:sp>
        <p:nvSpPr>
          <p:cNvPr id="35" name="TextBox 34"/>
          <p:cNvSpPr txBox="1"/>
          <p:nvPr/>
        </p:nvSpPr>
        <p:spPr>
          <a:xfrm>
            <a:off x="4267200" y="5854700"/>
            <a:ext cx="939800" cy="482600"/>
          </a:xfrm>
          <a:prstGeom prst="rect">
            <a:avLst/>
          </a:prstGeom>
          <a:noFill/>
        </p:spPr>
        <p:txBody>
          <a:bodyPr wrap="square" lIns="0" rIns="0" tIns="0" bIns="0" anchor="ctr">
            <a:noAutofit/>
          </a:bodyPr>
          <a:lstStyle/>
          <a:p>
            <a:pPr algn="l">
              <a:lnSpc>
                <a:spcPct val="100000"/>
              </a:lnSpc>
            </a:pPr>
            <a:r>
              <a:rPr sz="1200" b="0" i="0">
                <a:solidFill>
                  <a:srgbClr val="1E3D33"/>
                </a:solidFill>
                <a:latin typeface="DM Sans"/>
                <a:ea typeface="DM Sans"/>
                <a:cs typeface="DM Sans"/>
              </a:rPr>
              <a:t>Engineering</a:t>
            </a:r>
          </a:p>
        </p:txBody>
      </p:sp>
      <p:sp>
        <p:nvSpPr>
          <p:cNvPr id="36" name="Course pill"/>
          <p:cNvSpPr/>
          <p:nvPr/>
        </p:nvSpPr>
        <p:spPr>
          <a:xfrm>
            <a:off x="5372100" y="5854700"/>
            <a:ext cx="1562100" cy="482600"/>
          </a:xfrm>
          <a:prstGeom prst="roundRect">
            <a:avLst>
              <a:gd name="adj" fmla="val 50000"/>
            </a:avLst>
          </a:prstGeom>
          <a:solidFill>
            <a:srgbClr val="D9E9E0"/>
          </a:solidFill>
          <a:ln>
            <a:noFill/>
          </a:ln>
        </p:spPr>
        <p:txBody>
          <a:bodyPr rtlCol="0" anchor="ctr"/>
          <a:lstStyle/>
          <a:p>
            <a:pPr algn="ctr"/>
          </a:p>
        </p:txBody>
      </p:sp>
      <p:pic>
        <p:nvPicPr>
          <p:cNvPr id="37" name="Icon LuSquareFunction" descr="lu_LuSquareFunction_225347.png"/>
          <p:cNvPicPr>
            <a:picLocks noChangeAspect="1"/>
          </p:cNvPicPr>
          <p:nvPr/>
        </p:nvPicPr>
        <p:blipFill>
          <a:blip r:embed="rId11"/>
          <a:stretch>
            <a:fillRect/>
          </a:stretch>
        </p:blipFill>
        <p:spPr>
          <a:xfrm>
            <a:off x="5524500" y="5981700"/>
            <a:ext cx="228600" cy="228600"/>
          </a:xfrm>
          <a:prstGeom prst="rect">
            <a:avLst/>
          </a:prstGeom>
        </p:spPr>
      </p:pic>
      <p:sp>
        <p:nvSpPr>
          <p:cNvPr id="38" name="TextBox 37"/>
          <p:cNvSpPr txBox="1"/>
          <p:nvPr/>
        </p:nvSpPr>
        <p:spPr>
          <a:xfrm>
            <a:off x="5829300" y="5854700"/>
            <a:ext cx="1041400" cy="482600"/>
          </a:xfrm>
          <a:prstGeom prst="rect">
            <a:avLst/>
          </a:prstGeom>
          <a:noFill/>
        </p:spPr>
        <p:txBody>
          <a:bodyPr wrap="square" lIns="0" rIns="0" tIns="0" bIns="0" anchor="ctr">
            <a:noAutofit/>
          </a:bodyPr>
          <a:lstStyle/>
          <a:p>
            <a:pPr algn="l">
              <a:lnSpc>
                <a:spcPct val="100000"/>
              </a:lnSpc>
            </a:pPr>
            <a:r>
              <a:rPr sz="1200" b="0" i="0">
                <a:solidFill>
                  <a:srgbClr val="1E3D33"/>
                </a:solidFill>
                <a:latin typeface="DM Sans"/>
                <a:ea typeface="DM Sans"/>
                <a:cs typeface="DM Sans"/>
              </a:rPr>
              <a:t>Mathematics</a:t>
            </a:r>
          </a:p>
        </p:txBody>
      </p:sp>
      <p:sp>
        <p:nvSpPr>
          <p:cNvPr id="39" name="Course pill"/>
          <p:cNvSpPr/>
          <p:nvPr/>
        </p:nvSpPr>
        <p:spPr>
          <a:xfrm>
            <a:off x="7035800" y="5854700"/>
            <a:ext cx="1206500" cy="482600"/>
          </a:xfrm>
          <a:prstGeom prst="roundRect">
            <a:avLst>
              <a:gd name="adj" fmla="val 50000"/>
            </a:avLst>
          </a:prstGeom>
          <a:solidFill>
            <a:srgbClr val="D9E9E0"/>
          </a:solidFill>
          <a:ln>
            <a:noFill/>
          </a:ln>
        </p:spPr>
        <p:txBody>
          <a:bodyPr rtlCol="0" anchor="ctr"/>
          <a:lstStyle/>
          <a:p>
            <a:pPr algn="ctr"/>
          </a:p>
        </p:txBody>
      </p:sp>
      <p:pic>
        <p:nvPicPr>
          <p:cNvPr id="40" name="Icon LuAtom" descr="lu_LuAtom_225347.png"/>
          <p:cNvPicPr>
            <a:picLocks noChangeAspect="1"/>
          </p:cNvPicPr>
          <p:nvPr/>
        </p:nvPicPr>
        <p:blipFill>
          <a:blip r:embed="rId12"/>
          <a:stretch>
            <a:fillRect/>
          </a:stretch>
        </p:blipFill>
        <p:spPr>
          <a:xfrm>
            <a:off x="7188200" y="5981700"/>
            <a:ext cx="228600" cy="228600"/>
          </a:xfrm>
          <a:prstGeom prst="rect">
            <a:avLst/>
          </a:prstGeom>
        </p:spPr>
      </p:pic>
      <p:sp>
        <p:nvSpPr>
          <p:cNvPr id="41" name="TextBox 40"/>
          <p:cNvSpPr txBox="1"/>
          <p:nvPr/>
        </p:nvSpPr>
        <p:spPr>
          <a:xfrm>
            <a:off x="7493000" y="5854700"/>
            <a:ext cx="685800" cy="482600"/>
          </a:xfrm>
          <a:prstGeom prst="rect">
            <a:avLst/>
          </a:prstGeom>
          <a:noFill/>
        </p:spPr>
        <p:txBody>
          <a:bodyPr wrap="square" lIns="0" rIns="0" tIns="0" bIns="0" anchor="ctr">
            <a:noAutofit/>
          </a:bodyPr>
          <a:lstStyle/>
          <a:p>
            <a:pPr algn="l">
              <a:lnSpc>
                <a:spcPct val="100000"/>
              </a:lnSpc>
            </a:pPr>
            <a:r>
              <a:rPr sz="1200" b="0" i="0">
                <a:solidFill>
                  <a:srgbClr val="1E3D33"/>
                </a:solidFill>
                <a:latin typeface="DM Sans"/>
                <a:ea typeface="DM Sans"/>
                <a:cs typeface="DM Sans"/>
              </a:rPr>
              <a:t>Physics</a:t>
            </a:r>
          </a:p>
        </p:txBody>
      </p:sp>
      <p:sp>
        <p:nvSpPr>
          <p:cNvPr id="42"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05E28803-8757-9B8C-5E25-67C3FBD9A7A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D47CB59-AD06-97AA-A3B1-82B69FFD5548}"/>
              </a:ext>
            </a:extLst>
          </p:cNvPr>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algn="l"/>
            <a:r>
              <a:rPr sz="3400" b="0" i="0">
                <a:solidFill>
                  <a:srgbClr val="15201B"/>
                </a:solidFill>
                <a:latin typeface="Newsreader"/>
                <a:ea typeface="Newsreader"/>
                <a:cs typeface="Newsreader"/>
              </a:rPr>
              <a:t>Learning Pulse connects both sides of learning</a:t>
            </a:r>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HOW IT WORKS</a:t>
            </a:r>
          </a:p>
        </p:txBody>
      </p:sp>
      <p:sp>
        <p:nvSpPr>
          <p:cNvPr id="5" name="Stage"/>
          <p:cNvSpPr/>
          <p:nvPr/>
        </p:nvSpPr>
        <p:spPr>
          <a:xfrm>
            <a:off x="330200" y="1358900"/>
            <a:ext cx="3556000" cy="3937000"/>
          </a:xfrm>
          <a:prstGeom prst="roundRect">
            <a:avLst>
              <a:gd name="adj" fmla="val 4642"/>
            </a:avLst>
          </a:prstGeom>
          <a:solidFill>
            <a:srgbClr val="EDF2EA"/>
          </a:solidFill>
          <a:ln>
            <a:noFill/>
          </a:ln>
        </p:spPr>
        <p:txBody>
          <a:bodyPr rtlCol="0" anchor="ctr"/>
          <a:lstStyle/>
          <a:p>
            <a:pPr algn="ctr"/>
          </a:p>
        </p:txBody>
      </p:sp>
      <p:sp>
        <p:nvSpPr>
          <p:cNvPr id="6" name="Number"/>
          <p:cNvSpPr/>
          <p:nvPr/>
        </p:nvSpPr>
        <p:spPr>
          <a:xfrm>
            <a:off x="495300" y="1524000"/>
            <a:ext cx="406400" cy="406400"/>
          </a:xfrm>
          <a:prstGeom prst="ellipse">
            <a:avLst/>
          </a:prstGeom>
          <a:solidFill>
            <a:srgbClr val="1F4D3E"/>
          </a:solidFill>
          <a:ln>
            <a:noFill/>
          </a:ln>
        </p:spPr>
        <p:txBody>
          <a:bodyPr rtlCol="0" anchor="ctr"/>
          <a:lstStyle/>
          <a:p>
            <a:pPr algn="ctr"/>
          </a:p>
        </p:txBody>
      </p:sp>
      <p:sp>
        <p:nvSpPr>
          <p:cNvPr id="7" name="TextBox 6"/>
          <p:cNvSpPr txBox="1"/>
          <p:nvPr/>
        </p:nvSpPr>
        <p:spPr>
          <a:xfrm>
            <a:off x="495300" y="1524000"/>
            <a:ext cx="406400" cy="406400"/>
          </a:xfrm>
          <a:prstGeom prst="rect">
            <a:avLst/>
          </a:prstGeom>
          <a:noFill/>
        </p:spPr>
        <p:txBody>
          <a:bodyPr wrap="square" lIns="0" rIns="0" tIns="0" bIns="0" anchor="ctr">
            <a:noAutofit/>
          </a:bodyPr>
          <a:lstStyle/>
          <a:p>
            <a:pPr algn="ctr"/>
            <a:r>
              <a:rPr sz="1500" b="1" i="0">
                <a:solidFill>
                  <a:srgbClr val="FFFFFF"/>
                </a:solidFill>
                <a:latin typeface="DM Sans"/>
                <a:ea typeface="DM Sans"/>
                <a:cs typeface="DM Sans"/>
              </a:rPr>
              <a:t>1</a:t>
            </a:r>
          </a:p>
        </p:txBody>
      </p:sp>
      <p:sp>
        <p:nvSpPr>
          <p:cNvPr id="8" name="Eyebrow"/>
          <p:cNvSpPr txBox="1"/>
          <p:nvPr/>
        </p:nvSpPr>
        <p:spPr>
          <a:xfrm>
            <a:off x="1066800" y="1536700"/>
            <a:ext cx="1905000" cy="215900"/>
          </a:xfrm>
          <a:prstGeom prst="rect">
            <a:avLst/>
          </a:prstGeom>
          <a:noFill/>
        </p:spPr>
        <p:txBody>
          <a:bodyPr wrap="square" lIns="0" rIns="0" tIns="0" bIns="0" anchor="t">
            <a:noAutofit/>
          </a:bodyPr>
          <a:lstStyle/>
          <a:p>
            <a:pPr algn="l"/>
            <a:r>
              <a:rPr sz="1000" b="1" i="0" spc="220">
                <a:solidFill>
                  <a:srgbClr val="3D4A44"/>
                </a:solidFill>
                <a:latin typeface="DM Sans"/>
                <a:ea typeface="DM Sans"/>
                <a:cs typeface="DM Sans"/>
              </a:rPr>
              <a:t>TEACHER</a:t>
            </a:r>
          </a:p>
        </p:txBody>
      </p:sp>
      <p:sp>
        <p:nvSpPr>
          <p:cNvPr id="9" name="TextBox 8"/>
          <p:cNvSpPr txBox="1"/>
          <p:nvPr/>
        </p:nvSpPr>
        <p:spPr>
          <a:xfrm>
            <a:off x="1066800" y="1701800"/>
            <a:ext cx="2413000" cy="381000"/>
          </a:xfrm>
          <a:prstGeom prst="rect">
            <a:avLst/>
          </a:prstGeom>
          <a:noFill/>
        </p:spPr>
        <p:txBody>
          <a:bodyPr wrap="square" lIns="0" rIns="0" tIns="0" bIns="0" anchor="t">
            <a:noAutofit/>
          </a:bodyPr>
          <a:lstStyle/>
          <a:p>
            <a:pPr algn="l"/>
            <a:r>
              <a:rPr sz="2200" b="0" i="0">
                <a:solidFill>
                  <a:srgbClr val="15201B"/>
                </a:solidFill>
                <a:latin typeface="Newsreader"/>
                <a:ea typeface="Newsreader"/>
                <a:cs typeface="Newsreader"/>
              </a:rPr>
              <a:t>Prepares</a:t>
            </a:r>
          </a:p>
        </p:txBody>
      </p:sp>
      <p:sp>
        <p:nvSpPr>
          <p:cNvPr id="10" name="TextBox 9"/>
          <p:cNvSpPr txBox="1"/>
          <p:nvPr/>
        </p:nvSpPr>
        <p:spPr>
          <a:xfrm>
            <a:off x="1066800" y="2095500"/>
            <a:ext cx="2413000" cy="5080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AI proposes material; the</a:t>
            </a:r>
            <a:br>
              <a:rPr sz="1250"/>
            </a:br>
            <a:r>
              <a:rPr sz="1250" b="0" i="0">
                <a:solidFill>
                  <a:srgbClr val="5B6561"/>
                </a:solidFill>
                <a:latin typeface="DM Sans"/>
                <a:ea typeface="DM Sans"/>
                <a:cs typeface="DM Sans"/>
              </a:rPr>
              <a:t>teacher approves it.</a:t>
            </a:r>
          </a:p>
        </p:txBody>
      </p:sp>
      <p:sp>
        <p:nvSpPr>
          <p:cNvPr id="11" name="Stage"/>
          <p:cNvSpPr/>
          <p:nvPr/>
        </p:nvSpPr>
        <p:spPr>
          <a:xfrm>
            <a:off x="4635500" y="1358900"/>
            <a:ext cx="3251200" cy="3937000"/>
          </a:xfrm>
          <a:prstGeom prst="roundRect">
            <a:avLst>
              <a:gd name="adj" fmla="val 5078"/>
            </a:avLst>
          </a:prstGeom>
          <a:solidFill>
            <a:srgbClr val="E9F0F4"/>
          </a:solidFill>
          <a:ln>
            <a:noFill/>
          </a:ln>
        </p:spPr>
        <p:txBody>
          <a:bodyPr rtlCol="0" anchor="ctr"/>
          <a:lstStyle/>
          <a:p>
            <a:pPr algn="ctr"/>
          </a:p>
        </p:txBody>
      </p:sp>
      <p:sp>
        <p:nvSpPr>
          <p:cNvPr id="12" name="Number"/>
          <p:cNvSpPr/>
          <p:nvPr/>
        </p:nvSpPr>
        <p:spPr>
          <a:xfrm>
            <a:off x="4800600" y="1524000"/>
            <a:ext cx="406400" cy="406400"/>
          </a:xfrm>
          <a:prstGeom prst="ellipse">
            <a:avLst/>
          </a:prstGeom>
          <a:solidFill>
            <a:srgbClr val="2F5B78"/>
          </a:solidFill>
          <a:ln>
            <a:noFill/>
          </a:ln>
        </p:spPr>
        <p:txBody>
          <a:bodyPr rtlCol="0" anchor="ctr"/>
          <a:lstStyle/>
          <a:p>
            <a:pPr algn="ctr"/>
          </a:p>
        </p:txBody>
      </p:sp>
      <p:sp>
        <p:nvSpPr>
          <p:cNvPr id="13" name="TextBox 12"/>
          <p:cNvSpPr txBox="1"/>
          <p:nvPr/>
        </p:nvSpPr>
        <p:spPr>
          <a:xfrm>
            <a:off x="4800600" y="1524000"/>
            <a:ext cx="406400" cy="406400"/>
          </a:xfrm>
          <a:prstGeom prst="rect">
            <a:avLst/>
          </a:prstGeom>
          <a:noFill/>
        </p:spPr>
        <p:txBody>
          <a:bodyPr wrap="square" lIns="0" rIns="0" tIns="0" bIns="0" anchor="ctr">
            <a:noAutofit/>
          </a:bodyPr>
          <a:lstStyle/>
          <a:p>
            <a:pPr algn="ctr"/>
            <a:r>
              <a:rPr sz="1500" b="1" i="0">
                <a:solidFill>
                  <a:srgbClr val="FFFFFF"/>
                </a:solidFill>
                <a:latin typeface="DM Sans"/>
                <a:ea typeface="DM Sans"/>
                <a:cs typeface="DM Sans"/>
              </a:rPr>
              <a:t>2</a:t>
            </a:r>
          </a:p>
        </p:txBody>
      </p:sp>
      <p:sp>
        <p:nvSpPr>
          <p:cNvPr id="14" name="Eyebrow"/>
          <p:cNvSpPr txBox="1"/>
          <p:nvPr/>
        </p:nvSpPr>
        <p:spPr>
          <a:xfrm>
            <a:off x="5372100" y="1536700"/>
            <a:ext cx="1905000" cy="215900"/>
          </a:xfrm>
          <a:prstGeom prst="rect">
            <a:avLst/>
          </a:prstGeom>
          <a:noFill/>
        </p:spPr>
        <p:txBody>
          <a:bodyPr wrap="square" lIns="0" rIns="0" tIns="0" bIns="0" anchor="t">
            <a:noAutofit/>
          </a:bodyPr>
          <a:lstStyle/>
          <a:p>
            <a:pPr algn="l"/>
            <a:r>
              <a:rPr sz="1000" b="1" i="0" spc="220">
                <a:solidFill>
                  <a:srgbClr val="3D4A44"/>
                </a:solidFill>
                <a:latin typeface="DM Sans"/>
                <a:ea typeface="DM Sans"/>
                <a:cs typeface="DM Sans"/>
              </a:rPr>
              <a:t>STUDENT</a:t>
            </a:r>
          </a:p>
        </p:txBody>
      </p:sp>
      <p:sp>
        <p:nvSpPr>
          <p:cNvPr id="15" name="TextBox 14"/>
          <p:cNvSpPr txBox="1"/>
          <p:nvPr/>
        </p:nvSpPr>
        <p:spPr>
          <a:xfrm>
            <a:off x="5372100" y="1701800"/>
            <a:ext cx="2413000" cy="381000"/>
          </a:xfrm>
          <a:prstGeom prst="rect">
            <a:avLst/>
          </a:prstGeom>
          <a:noFill/>
        </p:spPr>
        <p:txBody>
          <a:bodyPr wrap="square" lIns="0" rIns="0" tIns="0" bIns="0" anchor="t">
            <a:noAutofit/>
          </a:bodyPr>
          <a:lstStyle/>
          <a:p>
            <a:pPr algn="l"/>
            <a:r>
              <a:rPr sz="2200" b="0" i="0">
                <a:solidFill>
                  <a:srgbClr val="15201B"/>
                </a:solidFill>
                <a:latin typeface="Newsreader"/>
                <a:ea typeface="Newsreader"/>
                <a:cs typeface="Newsreader"/>
              </a:rPr>
              <a:t>Learns</a:t>
            </a:r>
          </a:p>
        </p:txBody>
      </p:sp>
      <p:sp>
        <p:nvSpPr>
          <p:cNvPr id="16" name="TextBox 15"/>
          <p:cNvSpPr txBox="1"/>
          <p:nvPr/>
        </p:nvSpPr>
        <p:spPr>
          <a:xfrm>
            <a:off x="5372100" y="2095500"/>
            <a:ext cx="2413000" cy="5080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Every answer and every hint</a:t>
            </a:r>
            <a:br>
              <a:rPr sz="1250"/>
            </a:br>
            <a:r>
              <a:rPr sz="1250" b="0" i="0">
                <a:solidFill>
                  <a:srgbClr val="5B6561"/>
                </a:solidFill>
                <a:latin typeface="DM Sans"/>
                <a:ea typeface="DM Sans"/>
                <a:cs typeface="DM Sans"/>
              </a:rPr>
              <a:t>shown is recorded.</a:t>
            </a:r>
          </a:p>
        </p:txBody>
      </p:sp>
      <p:sp>
        <p:nvSpPr>
          <p:cNvPr id="17" name="Stage"/>
          <p:cNvSpPr/>
          <p:nvPr/>
        </p:nvSpPr>
        <p:spPr>
          <a:xfrm>
            <a:off x="8636000" y="1358900"/>
            <a:ext cx="3251200" cy="3937000"/>
          </a:xfrm>
          <a:prstGeom prst="roundRect">
            <a:avLst>
              <a:gd name="adj" fmla="val 5078"/>
            </a:avLst>
          </a:prstGeom>
          <a:solidFill>
            <a:srgbClr val="F8EEDF"/>
          </a:solidFill>
          <a:ln>
            <a:noFill/>
          </a:ln>
        </p:spPr>
        <p:txBody>
          <a:bodyPr rtlCol="0" anchor="ctr"/>
          <a:lstStyle/>
          <a:p>
            <a:pPr algn="ctr"/>
          </a:p>
        </p:txBody>
      </p:sp>
      <p:sp>
        <p:nvSpPr>
          <p:cNvPr id="18" name="Number"/>
          <p:cNvSpPr/>
          <p:nvPr/>
        </p:nvSpPr>
        <p:spPr>
          <a:xfrm>
            <a:off x="8801100" y="1524000"/>
            <a:ext cx="406400" cy="406400"/>
          </a:xfrm>
          <a:prstGeom prst="ellipse">
            <a:avLst/>
          </a:prstGeom>
          <a:solidFill>
            <a:srgbClr val="8A5E1F"/>
          </a:solidFill>
          <a:ln>
            <a:noFill/>
          </a:ln>
        </p:spPr>
        <p:txBody>
          <a:bodyPr rtlCol="0" anchor="ctr"/>
          <a:lstStyle/>
          <a:p>
            <a:pPr algn="ctr"/>
          </a:p>
        </p:txBody>
      </p:sp>
      <p:sp>
        <p:nvSpPr>
          <p:cNvPr id="19" name="TextBox 18"/>
          <p:cNvSpPr txBox="1"/>
          <p:nvPr/>
        </p:nvSpPr>
        <p:spPr>
          <a:xfrm>
            <a:off x="8801100" y="1524000"/>
            <a:ext cx="406400" cy="406400"/>
          </a:xfrm>
          <a:prstGeom prst="rect">
            <a:avLst/>
          </a:prstGeom>
          <a:noFill/>
        </p:spPr>
        <p:txBody>
          <a:bodyPr wrap="square" lIns="0" rIns="0" tIns="0" bIns="0" anchor="ctr">
            <a:noAutofit/>
          </a:bodyPr>
          <a:lstStyle/>
          <a:p>
            <a:pPr algn="ctr"/>
            <a:r>
              <a:rPr sz="1500" b="1" i="0">
                <a:solidFill>
                  <a:srgbClr val="FFFFFF"/>
                </a:solidFill>
                <a:latin typeface="DM Sans"/>
                <a:ea typeface="DM Sans"/>
                <a:cs typeface="DM Sans"/>
              </a:rPr>
              <a:t>3</a:t>
            </a:r>
          </a:p>
        </p:txBody>
      </p:sp>
      <p:sp>
        <p:nvSpPr>
          <p:cNvPr id="20" name="Eyebrow"/>
          <p:cNvSpPr txBox="1"/>
          <p:nvPr/>
        </p:nvSpPr>
        <p:spPr>
          <a:xfrm>
            <a:off x="9372600" y="1536700"/>
            <a:ext cx="1905000" cy="215900"/>
          </a:xfrm>
          <a:prstGeom prst="rect">
            <a:avLst/>
          </a:prstGeom>
          <a:noFill/>
        </p:spPr>
        <p:txBody>
          <a:bodyPr wrap="square" lIns="0" rIns="0" tIns="0" bIns="0" anchor="t">
            <a:noAutofit/>
          </a:bodyPr>
          <a:lstStyle/>
          <a:p>
            <a:pPr algn="l"/>
            <a:r>
              <a:rPr sz="1000" b="1" i="0" spc="220">
                <a:solidFill>
                  <a:srgbClr val="3D4A44"/>
                </a:solidFill>
                <a:latin typeface="DM Sans"/>
                <a:ea typeface="DM Sans"/>
                <a:cs typeface="DM Sans"/>
              </a:rPr>
              <a:t>TEACHER</a:t>
            </a:r>
          </a:p>
        </p:txBody>
      </p:sp>
      <p:sp>
        <p:nvSpPr>
          <p:cNvPr id="21" name="TextBox 20"/>
          <p:cNvSpPr txBox="1"/>
          <p:nvPr/>
        </p:nvSpPr>
        <p:spPr>
          <a:xfrm>
            <a:off x="9372600" y="1701800"/>
            <a:ext cx="2413000" cy="381000"/>
          </a:xfrm>
          <a:prstGeom prst="rect">
            <a:avLst/>
          </a:prstGeom>
          <a:noFill/>
        </p:spPr>
        <p:txBody>
          <a:bodyPr wrap="square" lIns="0" rIns="0" tIns="0" bIns="0" anchor="t">
            <a:noAutofit/>
          </a:bodyPr>
          <a:lstStyle/>
          <a:p>
            <a:pPr algn="l"/>
            <a:r>
              <a:rPr sz="2200" b="0" i="0">
                <a:solidFill>
                  <a:srgbClr val="15201B"/>
                </a:solidFill>
                <a:latin typeface="Newsreader"/>
                <a:ea typeface="Newsreader"/>
                <a:cs typeface="Newsreader"/>
              </a:rPr>
              <a:t>Investigates</a:t>
            </a:r>
          </a:p>
        </p:txBody>
      </p:sp>
      <p:sp>
        <p:nvSpPr>
          <p:cNvPr id="22" name="TextBox 21"/>
          <p:cNvSpPr txBox="1"/>
          <p:nvPr/>
        </p:nvSpPr>
        <p:spPr>
          <a:xfrm>
            <a:off x="9372600" y="2095500"/>
            <a:ext cx="2413000" cy="5080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Reviews the evidence and</a:t>
            </a:r>
            <a:br>
              <a:rPr sz="1250"/>
            </a:br>
            <a:r>
              <a:rPr sz="1250" b="0" i="0">
                <a:solidFill>
                  <a:srgbClr val="5B6561"/>
                </a:solidFill>
                <a:latin typeface="DM Sans"/>
                <a:ea typeface="DM Sans"/>
                <a:cs typeface="DM Sans"/>
              </a:rPr>
              <a:t>approves a follow-up.</a:t>
            </a:r>
          </a:p>
        </p:txBody>
      </p:sp>
      <p:cxnSp>
        <p:nvCxnSpPr>
          <p:cNvPr id="23" name="Connector 22"/>
          <p:cNvCxnSpPr/>
          <p:nvPr/>
        </p:nvCxnSpPr>
        <p:spPr>
          <a:xfrm>
            <a:off x="3911600" y="3302000"/>
            <a:ext cx="6858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873500" y="2844800"/>
            <a:ext cx="762000" cy="406400"/>
          </a:xfrm>
          <a:prstGeom prst="rect">
            <a:avLst/>
          </a:prstGeom>
          <a:noFill/>
        </p:spPr>
        <p:txBody>
          <a:bodyPr wrap="square" lIns="0" rIns="0" tIns="0" bIns="0" anchor="t">
            <a:noAutofit/>
          </a:bodyPr>
          <a:lstStyle/>
          <a:p>
            <a:pPr algn="ctr">
              <a:lnSpc>
                <a:spcPct val="105000"/>
              </a:lnSpc>
            </a:pPr>
            <a:r>
              <a:rPr sz="1100" b="0" i="0">
                <a:solidFill>
                  <a:srgbClr val="2E7A62"/>
                </a:solidFill>
                <a:latin typeface="DM Sans"/>
                <a:ea typeface="DM Sans"/>
                <a:cs typeface="DM Sans"/>
              </a:rPr>
              <a:t>Approved</a:t>
            </a:r>
            <a:br>
              <a:rPr sz="1100"/>
            </a:br>
            <a:r>
              <a:rPr sz="1100" b="0" i="0">
                <a:solidFill>
                  <a:srgbClr val="2E7A62"/>
                </a:solidFill>
                <a:latin typeface="DM Sans"/>
                <a:ea typeface="DM Sans"/>
                <a:cs typeface="DM Sans"/>
              </a:rPr>
              <a:t>lesson</a:t>
            </a:r>
          </a:p>
        </p:txBody>
      </p:sp>
      <p:cxnSp>
        <p:nvCxnSpPr>
          <p:cNvPr id="25" name="Connector 24"/>
          <p:cNvCxnSpPr/>
          <p:nvPr/>
        </p:nvCxnSpPr>
        <p:spPr>
          <a:xfrm>
            <a:off x="7912100" y="3302000"/>
            <a:ext cx="6858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74000" y="2844800"/>
            <a:ext cx="762000" cy="406400"/>
          </a:xfrm>
          <a:prstGeom prst="rect">
            <a:avLst/>
          </a:prstGeom>
          <a:noFill/>
        </p:spPr>
        <p:txBody>
          <a:bodyPr wrap="square" lIns="0" rIns="0" tIns="0" bIns="0" anchor="t">
            <a:noAutofit/>
          </a:bodyPr>
          <a:lstStyle/>
          <a:p>
            <a:pPr algn="ctr">
              <a:lnSpc>
                <a:spcPct val="105000"/>
              </a:lnSpc>
            </a:pPr>
            <a:r>
              <a:rPr sz="1100" b="0" i="0">
                <a:solidFill>
                  <a:srgbClr val="2E7A62"/>
                </a:solidFill>
                <a:latin typeface="DM Sans"/>
                <a:ea typeface="DM Sans"/>
                <a:cs typeface="DM Sans"/>
              </a:rPr>
              <a:t>Learning</a:t>
            </a:r>
            <a:br>
              <a:rPr sz="1100"/>
            </a:br>
            <a:r>
              <a:rPr sz="1100" b="0" i="0">
                <a:solidFill>
                  <a:srgbClr val="2E7A62"/>
                </a:solidFill>
                <a:latin typeface="DM Sans"/>
                <a:ea typeface="DM Sans"/>
                <a:cs typeface="DM Sans"/>
              </a:rPr>
              <a:t>evidence</a:t>
            </a:r>
          </a:p>
        </p:txBody>
      </p:sp>
      <p:sp>
        <p:nvSpPr>
          <p:cNvPr id="27" name="Panel"/>
          <p:cNvSpPr/>
          <p:nvPr/>
        </p:nvSpPr>
        <p:spPr>
          <a:xfrm>
            <a:off x="431800" y="2667000"/>
            <a:ext cx="3352800" cy="2527300"/>
          </a:xfrm>
          <a:prstGeom prst="roundRect">
            <a:avLst>
              <a:gd name="adj" fmla="val 4522"/>
            </a:avLst>
          </a:prstGeom>
          <a:solidFill>
            <a:srgbClr val="FFFFFF"/>
          </a:solidFill>
          <a:ln>
            <a:noFill/>
          </a:ln>
        </p:spPr>
        <p:txBody>
          <a:bodyPr rtlCol="0" anchor="ctr"/>
          <a:lstStyle/>
          <a:p>
            <a:pPr algn="ctr"/>
          </a:p>
        </p:txBody>
      </p:sp>
      <p:sp>
        <p:nvSpPr>
          <p:cNvPr id="28" name="TextBox 27"/>
          <p:cNvSpPr txBox="1"/>
          <p:nvPr/>
        </p:nvSpPr>
        <p:spPr>
          <a:xfrm>
            <a:off x="546100" y="2768600"/>
            <a:ext cx="1270000" cy="177800"/>
          </a:xfrm>
          <a:prstGeom prst="rect">
            <a:avLst/>
          </a:prstGeom>
          <a:noFill/>
        </p:spPr>
        <p:txBody>
          <a:bodyPr wrap="square" lIns="0" rIns="0" tIns="0" bIns="0" anchor="t">
            <a:noAutofit/>
          </a:bodyPr>
          <a:lstStyle/>
          <a:p>
            <a:pPr algn="l"/>
            <a:r>
              <a:rPr sz="1000" b="1" i="0">
                <a:solidFill>
                  <a:srgbClr val="15201B"/>
                </a:solidFill>
                <a:latin typeface="DM Sans"/>
                <a:ea typeface="DM Sans"/>
                <a:cs typeface="DM Sans"/>
              </a:rPr>
              <a:t>Course materials</a:t>
            </a:r>
          </a:p>
        </p:txBody>
      </p:sp>
      <p:sp>
        <p:nvSpPr>
          <p:cNvPr id="29" name="Materials box"/>
          <p:cNvSpPr/>
          <p:nvPr/>
        </p:nvSpPr>
        <p:spPr>
          <a:xfrm>
            <a:off x="520700" y="2997200"/>
            <a:ext cx="1308100" cy="2095500"/>
          </a:xfrm>
          <a:prstGeom prst="roundRect">
            <a:avLst>
              <a:gd name="adj" fmla="val 6796"/>
            </a:avLst>
          </a:prstGeom>
          <a:noFill/>
          <a:ln w="14287">
            <a:solidFill>
              <a:srgbClr val="C7D3CC"/>
            </a:solidFill>
            <a:prstDash val="dash"/>
          </a:ln>
        </p:spPr>
        <p:txBody>
          <a:bodyPr rtlCol="0" anchor="ctr"/>
          <a:lstStyle/>
          <a:p>
            <a:pPr algn="ctr"/>
          </a:p>
        </p:txBody>
      </p:sp>
      <p:pic>
        <p:nvPicPr>
          <p:cNvPr id="30" name="Icon LuFileText" descr="lu_LuFileText_2E7A62.png"/>
          <p:cNvPicPr>
            <a:picLocks noChangeAspect="1"/>
          </p:cNvPicPr>
          <p:nvPr/>
        </p:nvPicPr>
        <p:blipFill>
          <a:blip r:embed="rId4"/>
          <a:stretch>
            <a:fillRect/>
          </a:stretch>
        </p:blipFill>
        <p:spPr>
          <a:xfrm>
            <a:off x="622300" y="3124200"/>
            <a:ext cx="190500" cy="190500"/>
          </a:xfrm>
          <a:prstGeom prst="rect">
            <a:avLst/>
          </a:prstGeom>
        </p:spPr>
      </p:pic>
      <p:sp>
        <p:nvSpPr>
          <p:cNvPr id="31" name="TextBox 30"/>
          <p:cNvSpPr txBox="1"/>
          <p:nvPr/>
        </p:nvSpPr>
        <p:spPr>
          <a:xfrm>
            <a:off x="876300" y="3111500"/>
            <a:ext cx="927100" cy="2159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Syllabus</a:t>
            </a:r>
          </a:p>
        </p:txBody>
      </p:sp>
      <p:pic>
        <p:nvPicPr>
          <p:cNvPr id="32" name="Icon LuPresentation" descr="lu_LuPresentation_C0533A.png"/>
          <p:cNvPicPr>
            <a:picLocks noChangeAspect="1"/>
          </p:cNvPicPr>
          <p:nvPr/>
        </p:nvPicPr>
        <p:blipFill>
          <a:blip r:embed="rId5"/>
          <a:stretch>
            <a:fillRect/>
          </a:stretch>
        </p:blipFill>
        <p:spPr>
          <a:xfrm>
            <a:off x="622300" y="3606800"/>
            <a:ext cx="190500" cy="190500"/>
          </a:xfrm>
          <a:prstGeom prst="rect">
            <a:avLst/>
          </a:prstGeom>
        </p:spPr>
      </p:pic>
      <p:sp>
        <p:nvSpPr>
          <p:cNvPr id="33" name="TextBox 32"/>
          <p:cNvSpPr txBox="1"/>
          <p:nvPr/>
        </p:nvSpPr>
        <p:spPr>
          <a:xfrm>
            <a:off x="876300" y="3594100"/>
            <a:ext cx="927100" cy="2159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Lecture slides</a:t>
            </a:r>
          </a:p>
        </p:txBody>
      </p:sp>
      <p:pic>
        <p:nvPicPr>
          <p:cNvPr id="34" name="Icon LuBookOpen" descr="lu_LuBookOpen_3F6684.png"/>
          <p:cNvPicPr>
            <a:picLocks noChangeAspect="1"/>
          </p:cNvPicPr>
          <p:nvPr/>
        </p:nvPicPr>
        <p:blipFill>
          <a:blip r:embed="rId6"/>
          <a:stretch>
            <a:fillRect/>
          </a:stretch>
        </p:blipFill>
        <p:spPr>
          <a:xfrm>
            <a:off x="622300" y="4089400"/>
            <a:ext cx="190500" cy="190500"/>
          </a:xfrm>
          <a:prstGeom prst="rect">
            <a:avLst/>
          </a:prstGeom>
        </p:spPr>
      </p:pic>
      <p:sp>
        <p:nvSpPr>
          <p:cNvPr id="35" name="TextBox 34"/>
          <p:cNvSpPr txBox="1"/>
          <p:nvPr/>
        </p:nvSpPr>
        <p:spPr>
          <a:xfrm>
            <a:off x="876300" y="4076700"/>
            <a:ext cx="927100" cy="2159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Readings</a:t>
            </a:r>
          </a:p>
        </p:txBody>
      </p:sp>
      <p:pic>
        <p:nvPicPr>
          <p:cNvPr id="36" name="Icon LuLink" descr="lu_LuLink_5B6561.png"/>
          <p:cNvPicPr>
            <a:picLocks noChangeAspect="1"/>
          </p:cNvPicPr>
          <p:nvPr/>
        </p:nvPicPr>
        <p:blipFill>
          <a:blip r:embed="rId7"/>
          <a:stretch>
            <a:fillRect/>
          </a:stretch>
        </p:blipFill>
        <p:spPr>
          <a:xfrm>
            <a:off x="622300" y="4572000"/>
            <a:ext cx="190500" cy="190500"/>
          </a:xfrm>
          <a:prstGeom prst="rect">
            <a:avLst/>
          </a:prstGeom>
        </p:spPr>
      </p:pic>
      <p:sp>
        <p:nvSpPr>
          <p:cNvPr id="37" name="TextBox 36"/>
          <p:cNvSpPr txBox="1"/>
          <p:nvPr/>
        </p:nvSpPr>
        <p:spPr>
          <a:xfrm>
            <a:off x="876300" y="4559300"/>
            <a:ext cx="927100" cy="2159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Other resources</a:t>
            </a:r>
          </a:p>
        </p:txBody>
      </p:sp>
      <p:sp>
        <p:nvSpPr>
          <p:cNvPr id="38" name="TextBox 37"/>
          <p:cNvSpPr txBox="1"/>
          <p:nvPr/>
        </p:nvSpPr>
        <p:spPr>
          <a:xfrm>
            <a:off x="1981200" y="2768600"/>
            <a:ext cx="1778000" cy="177800"/>
          </a:xfrm>
          <a:prstGeom prst="rect">
            <a:avLst/>
          </a:prstGeom>
          <a:noFill/>
        </p:spPr>
        <p:txBody>
          <a:bodyPr wrap="square" lIns="0" rIns="0" tIns="0" bIns="0" anchor="t">
            <a:noAutofit/>
          </a:bodyPr>
          <a:lstStyle/>
          <a:p>
            <a:pPr algn="l"/>
            <a:r>
              <a:rPr sz="1000" b="1" i="0">
                <a:solidFill>
                  <a:srgbClr val="15201B"/>
                </a:solidFill>
                <a:latin typeface="DM Sans"/>
                <a:ea typeface="DM Sans"/>
                <a:cs typeface="DM Sans"/>
              </a:rPr>
              <a:t>AI generates (editable)</a:t>
            </a:r>
          </a:p>
        </p:txBody>
      </p:sp>
      <p:sp>
        <p:nvSpPr>
          <p:cNvPr id="39" name="AI item"/>
          <p:cNvSpPr/>
          <p:nvPr/>
        </p:nvSpPr>
        <p:spPr>
          <a:xfrm>
            <a:off x="1943100" y="2997200"/>
            <a:ext cx="1752600" cy="393700"/>
          </a:xfrm>
          <a:prstGeom prst="roundRect">
            <a:avLst>
              <a:gd name="adj" fmla="val 19354"/>
            </a:avLst>
          </a:prstGeom>
          <a:solidFill>
            <a:srgbClr val="EEF2EC"/>
          </a:solidFill>
          <a:ln>
            <a:noFill/>
          </a:ln>
        </p:spPr>
        <p:txBody>
          <a:bodyPr rtlCol="0" anchor="ctr"/>
          <a:lstStyle/>
          <a:p>
            <a:pPr algn="ctr"/>
          </a:p>
        </p:txBody>
      </p:sp>
      <p:sp>
        <p:nvSpPr>
          <p:cNvPr id="40" name="Oval 39"/>
          <p:cNvSpPr/>
          <p:nvPr/>
        </p:nvSpPr>
        <p:spPr>
          <a:xfrm>
            <a:off x="2006600" y="3060700"/>
            <a:ext cx="266700" cy="266700"/>
          </a:xfrm>
          <a:prstGeom prst="ellipse">
            <a:avLst/>
          </a:prstGeom>
          <a:solidFill>
            <a:srgbClr val="FFFFFF"/>
          </a:solidFill>
          <a:ln>
            <a:noFill/>
          </a:ln>
        </p:spPr>
        <p:txBody>
          <a:bodyPr rtlCol="0" anchor="ctr"/>
          <a:lstStyle/>
          <a:p>
            <a:pPr algn="ctr"/>
          </a:p>
        </p:txBody>
      </p:sp>
      <p:pic>
        <p:nvPicPr>
          <p:cNvPr id="41" name="Icon LuTarget" descr="lu_LuTarget_2E7A62.png"/>
          <p:cNvPicPr>
            <a:picLocks noChangeAspect="1"/>
          </p:cNvPicPr>
          <p:nvPr/>
        </p:nvPicPr>
        <p:blipFill>
          <a:blip r:embed="rId8"/>
          <a:stretch>
            <a:fillRect/>
          </a:stretch>
        </p:blipFill>
        <p:spPr>
          <a:xfrm>
            <a:off x="2063750" y="3117850"/>
            <a:ext cx="152400" cy="152400"/>
          </a:xfrm>
          <a:prstGeom prst="rect">
            <a:avLst/>
          </a:prstGeom>
        </p:spPr>
      </p:pic>
      <p:sp>
        <p:nvSpPr>
          <p:cNvPr id="42" name="TextBox 41"/>
          <p:cNvSpPr txBox="1"/>
          <p:nvPr/>
        </p:nvSpPr>
        <p:spPr>
          <a:xfrm>
            <a:off x="2336800" y="2997200"/>
            <a:ext cx="1333500" cy="3937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Learning objectives</a:t>
            </a:r>
          </a:p>
        </p:txBody>
      </p:sp>
      <p:sp>
        <p:nvSpPr>
          <p:cNvPr id="43" name="AI item"/>
          <p:cNvSpPr/>
          <p:nvPr/>
        </p:nvSpPr>
        <p:spPr>
          <a:xfrm>
            <a:off x="1943100" y="3479800"/>
            <a:ext cx="1752600" cy="393700"/>
          </a:xfrm>
          <a:prstGeom prst="roundRect">
            <a:avLst>
              <a:gd name="adj" fmla="val 19354"/>
            </a:avLst>
          </a:prstGeom>
          <a:solidFill>
            <a:srgbClr val="EEF2EC"/>
          </a:solidFill>
          <a:ln>
            <a:noFill/>
          </a:ln>
        </p:spPr>
        <p:txBody>
          <a:bodyPr rtlCol="0" anchor="ctr"/>
          <a:lstStyle/>
          <a:p>
            <a:pPr algn="ctr"/>
          </a:p>
        </p:txBody>
      </p:sp>
      <p:sp>
        <p:nvSpPr>
          <p:cNvPr id="44" name="Oval 43"/>
          <p:cNvSpPr/>
          <p:nvPr/>
        </p:nvSpPr>
        <p:spPr>
          <a:xfrm>
            <a:off x="2006600" y="3543300"/>
            <a:ext cx="266700" cy="266700"/>
          </a:xfrm>
          <a:prstGeom prst="ellipse">
            <a:avLst/>
          </a:prstGeom>
          <a:solidFill>
            <a:srgbClr val="FFFFFF"/>
          </a:solidFill>
          <a:ln>
            <a:noFill/>
          </a:ln>
        </p:spPr>
        <p:txBody>
          <a:bodyPr rtlCol="0" anchor="ctr"/>
          <a:lstStyle/>
          <a:p>
            <a:pPr algn="ctr"/>
          </a:p>
        </p:txBody>
      </p:sp>
      <p:pic>
        <p:nvPicPr>
          <p:cNvPr id="45" name="Icon LuFileQuestion" descr="lu_LuFileQuestion_3F6684.png"/>
          <p:cNvPicPr>
            <a:picLocks noChangeAspect="1"/>
          </p:cNvPicPr>
          <p:nvPr/>
        </p:nvPicPr>
        <p:blipFill>
          <a:blip r:embed="rId9"/>
          <a:stretch>
            <a:fillRect/>
          </a:stretch>
        </p:blipFill>
        <p:spPr>
          <a:xfrm>
            <a:off x="2063750" y="3600450"/>
            <a:ext cx="152400" cy="152400"/>
          </a:xfrm>
          <a:prstGeom prst="rect">
            <a:avLst/>
          </a:prstGeom>
        </p:spPr>
      </p:pic>
      <p:sp>
        <p:nvSpPr>
          <p:cNvPr id="46" name="TextBox 45"/>
          <p:cNvSpPr txBox="1"/>
          <p:nvPr/>
        </p:nvSpPr>
        <p:spPr>
          <a:xfrm>
            <a:off x="2336800" y="3479800"/>
            <a:ext cx="1333500" cy="3937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Practice questions</a:t>
            </a:r>
          </a:p>
        </p:txBody>
      </p:sp>
      <p:sp>
        <p:nvSpPr>
          <p:cNvPr id="47" name="AI item"/>
          <p:cNvSpPr/>
          <p:nvPr/>
        </p:nvSpPr>
        <p:spPr>
          <a:xfrm>
            <a:off x="1943100" y="3962400"/>
            <a:ext cx="1752600" cy="393700"/>
          </a:xfrm>
          <a:prstGeom prst="roundRect">
            <a:avLst>
              <a:gd name="adj" fmla="val 19354"/>
            </a:avLst>
          </a:prstGeom>
          <a:solidFill>
            <a:srgbClr val="EEF2EC"/>
          </a:solidFill>
          <a:ln>
            <a:noFill/>
          </a:ln>
        </p:spPr>
        <p:txBody>
          <a:bodyPr rtlCol="0" anchor="ctr"/>
          <a:lstStyle/>
          <a:p>
            <a:pPr algn="ctr"/>
          </a:p>
        </p:txBody>
      </p:sp>
      <p:sp>
        <p:nvSpPr>
          <p:cNvPr id="48" name="Oval 47"/>
          <p:cNvSpPr/>
          <p:nvPr/>
        </p:nvSpPr>
        <p:spPr>
          <a:xfrm>
            <a:off x="2006600" y="4025900"/>
            <a:ext cx="266700" cy="266700"/>
          </a:xfrm>
          <a:prstGeom prst="ellipse">
            <a:avLst/>
          </a:prstGeom>
          <a:solidFill>
            <a:srgbClr val="FFFFFF"/>
          </a:solidFill>
          <a:ln>
            <a:noFill/>
          </a:ln>
        </p:spPr>
        <p:txBody>
          <a:bodyPr rtlCol="0" anchor="ctr"/>
          <a:lstStyle/>
          <a:p>
            <a:pPr algn="ctr"/>
          </a:p>
        </p:txBody>
      </p:sp>
      <p:pic>
        <p:nvPicPr>
          <p:cNvPr id="49" name="Icon LuLightbulb" descr="lu_LuLightbulb_C9902E.png"/>
          <p:cNvPicPr>
            <a:picLocks noChangeAspect="1"/>
          </p:cNvPicPr>
          <p:nvPr/>
        </p:nvPicPr>
        <p:blipFill>
          <a:blip r:embed="rId10"/>
          <a:stretch>
            <a:fillRect/>
          </a:stretch>
        </p:blipFill>
        <p:spPr>
          <a:xfrm>
            <a:off x="2063750" y="4083050"/>
            <a:ext cx="152400" cy="152400"/>
          </a:xfrm>
          <a:prstGeom prst="rect">
            <a:avLst/>
          </a:prstGeom>
        </p:spPr>
      </p:pic>
      <p:sp>
        <p:nvSpPr>
          <p:cNvPr id="50" name="TextBox 49"/>
          <p:cNvSpPr txBox="1"/>
          <p:nvPr/>
        </p:nvSpPr>
        <p:spPr>
          <a:xfrm>
            <a:off x="2336800" y="3962400"/>
            <a:ext cx="1333500" cy="393700"/>
          </a:xfrm>
          <a:prstGeom prst="rect">
            <a:avLst/>
          </a:prstGeom>
          <a:noFill/>
        </p:spPr>
        <p:txBody>
          <a:bodyPr wrap="square" lIns="0" rIns="0" tIns="0" bIns="0" anchor="ctr">
            <a:noAutofit/>
          </a:bodyPr>
          <a:lstStyle/>
          <a:p>
            <a:pPr algn="l"/>
            <a:r>
              <a:rPr sz="1000" b="0" i="0">
                <a:solidFill>
                  <a:srgbClr val="15201B"/>
                </a:solidFill>
                <a:latin typeface="DM Sans"/>
                <a:ea typeface="DM Sans"/>
                <a:cs typeface="DM Sans"/>
              </a:rPr>
              <a:t>Explanations &amp; hints</a:t>
            </a:r>
          </a:p>
        </p:txBody>
      </p:sp>
      <p:cxnSp>
        <p:nvCxnSpPr>
          <p:cNvPr id="51" name="Connector 50"/>
          <p:cNvCxnSpPr/>
          <p:nvPr/>
        </p:nvCxnSpPr>
        <p:spPr>
          <a:xfrm>
            <a:off x="1841500" y="4044950"/>
            <a:ext cx="88900" cy="0"/>
          </a:xfrm>
          <a:prstGeom prst="line">
            <a:avLst/>
          </a:prstGeom>
          <a:ln w="19050">
            <a:solidFill>
              <a:srgbClr val="9DB3A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Button"/>
          <p:cNvSpPr/>
          <p:nvPr/>
        </p:nvSpPr>
        <p:spPr>
          <a:xfrm>
            <a:off x="2070100" y="4584700"/>
            <a:ext cx="1625600" cy="381000"/>
          </a:xfrm>
          <a:prstGeom prst="roundRect">
            <a:avLst>
              <a:gd name="adj" fmla="val 23333"/>
            </a:avLst>
          </a:prstGeom>
          <a:solidFill>
            <a:srgbClr val="1B4236"/>
          </a:solidFill>
          <a:ln>
            <a:noFill/>
          </a:ln>
        </p:spPr>
        <p:txBody>
          <a:bodyPr rtlCol="0" anchor="ctr"/>
          <a:lstStyle/>
          <a:p>
            <a:pPr algn="ctr"/>
          </a:p>
        </p:txBody>
      </p:sp>
      <p:pic>
        <p:nvPicPr>
          <p:cNvPr id="53" name="Icon LuCircleCheckBig" descr="lu_LuCircleCheckBig_FFFFFF.png"/>
          <p:cNvPicPr>
            <a:picLocks noChangeAspect="1"/>
          </p:cNvPicPr>
          <p:nvPr/>
        </p:nvPicPr>
        <p:blipFill>
          <a:blip r:embed="rId11"/>
          <a:stretch>
            <a:fillRect/>
          </a:stretch>
        </p:blipFill>
        <p:spPr>
          <a:xfrm>
            <a:off x="2184400" y="4686300"/>
            <a:ext cx="177800" cy="177800"/>
          </a:xfrm>
          <a:prstGeom prst="rect">
            <a:avLst/>
          </a:prstGeom>
        </p:spPr>
      </p:pic>
      <p:sp>
        <p:nvSpPr>
          <p:cNvPr id="54" name="TextBox 53"/>
          <p:cNvSpPr txBox="1"/>
          <p:nvPr/>
        </p:nvSpPr>
        <p:spPr>
          <a:xfrm>
            <a:off x="2413000" y="4584700"/>
            <a:ext cx="1244600" cy="381000"/>
          </a:xfrm>
          <a:prstGeom prst="rect">
            <a:avLst/>
          </a:prstGeom>
          <a:noFill/>
        </p:spPr>
        <p:txBody>
          <a:bodyPr wrap="square" lIns="0" rIns="0" tIns="0" bIns="0" anchor="ctr">
            <a:noAutofit/>
          </a:bodyPr>
          <a:lstStyle/>
          <a:p>
            <a:pPr algn="l"/>
            <a:r>
              <a:rPr sz="1050" b="1" i="0">
                <a:solidFill>
                  <a:srgbClr val="FFFFFF"/>
                </a:solidFill>
                <a:latin typeface="DM Sans"/>
                <a:ea typeface="DM Sans"/>
                <a:cs typeface="DM Sans"/>
              </a:rPr>
              <a:t>Teacher approves</a:t>
            </a:r>
          </a:p>
        </p:txBody>
      </p:sp>
      <p:sp>
        <p:nvSpPr>
          <p:cNvPr id="55" name="Panel"/>
          <p:cNvSpPr/>
          <p:nvPr/>
        </p:nvSpPr>
        <p:spPr>
          <a:xfrm>
            <a:off x="4737100" y="2667000"/>
            <a:ext cx="3048000" cy="2527300"/>
          </a:xfrm>
          <a:prstGeom prst="roundRect">
            <a:avLst>
              <a:gd name="adj" fmla="val 4522"/>
            </a:avLst>
          </a:prstGeom>
          <a:solidFill>
            <a:srgbClr val="FFFFFF"/>
          </a:solidFill>
          <a:ln>
            <a:noFill/>
          </a:ln>
        </p:spPr>
        <p:txBody>
          <a:bodyPr rtlCol="0" anchor="ctr"/>
          <a:lstStyle/>
          <a:p>
            <a:pPr algn="ctr"/>
          </a:p>
        </p:txBody>
      </p:sp>
      <p:sp>
        <p:nvSpPr>
          <p:cNvPr id="56" name="Oval 55"/>
          <p:cNvSpPr/>
          <p:nvPr/>
        </p:nvSpPr>
        <p:spPr>
          <a:xfrm>
            <a:off x="4826000" y="2781300"/>
            <a:ext cx="330200" cy="330200"/>
          </a:xfrm>
          <a:prstGeom prst="ellipse">
            <a:avLst/>
          </a:prstGeom>
          <a:solidFill>
            <a:srgbClr val="F3E3CF"/>
          </a:solidFill>
          <a:ln>
            <a:noFill/>
          </a:ln>
        </p:spPr>
        <p:txBody>
          <a:bodyPr rtlCol="0" anchor="ctr"/>
          <a:lstStyle/>
          <a:p>
            <a:pPr algn="ctr"/>
          </a:p>
        </p:txBody>
      </p:sp>
      <p:pic>
        <p:nvPicPr>
          <p:cNvPr id="57" name="Icon LuUser" descr="lu_LuUser_8A5E1F.png"/>
          <p:cNvPicPr>
            <a:picLocks noChangeAspect="1"/>
          </p:cNvPicPr>
          <p:nvPr/>
        </p:nvPicPr>
        <p:blipFill>
          <a:blip r:embed="rId12"/>
          <a:stretch>
            <a:fillRect/>
          </a:stretch>
        </p:blipFill>
        <p:spPr>
          <a:xfrm>
            <a:off x="4902200" y="2857500"/>
            <a:ext cx="177800" cy="177800"/>
          </a:xfrm>
          <a:prstGeom prst="rect">
            <a:avLst/>
          </a:prstGeom>
        </p:spPr>
      </p:pic>
      <p:sp>
        <p:nvSpPr>
          <p:cNvPr id="58" name="Student message"/>
          <p:cNvSpPr/>
          <p:nvPr/>
        </p:nvSpPr>
        <p:spPr>
          <a:xfrm>
            <a:off x="5232400" y="2755900"/>
            <a:ext cx="2463800" cy="533400"/>
          </a:xfrm>
          <a:prstGeom prst="roundRect">
            <a:avLst>
              <a:gd name="adj" fmla="val 16666"/>
            </a:avLst>
          </a:prstGeom>
          <a:solidFill>
            <a:srgbClr val="F1F3F1"/>
          </a:solidFill>
          <a:ln>
            <a:noFill/>
          </a:ln>
        </p:spPr>
        <p:txBody>
          <a:bodyPr rtlCol="0" anchor="ctr"/>
          <a:lstStyle/>
          <a:p>
            <a:pPr algn="ctr"/>
          </a:p>
        </p:txBody>
      </p:sp>
      <p:sp>
        <p:nvSpPr>
          <p:cNvPr id="59" name="TextBox 58"/>
          <p:cNvSpPr txBox="1"/>
          <p:nvPr/>
        </p:nvSpPr>
        <p:spPr>
          <a:xfrm>
            <a:off x="5334000" y="2755900"/>
            <a:ext cx="2286000" cy="533400"/>
          </a:xfrm>
          <a:prstGeom prst="rect">
            <a:avLst/>
          </a:prstGeom>
          <a:noFill/>
        </p:spPr>
        <p:txBody>
          <a:bodyPr wrap="square" lIns="0" rIns="0" tIns="0" bIns="0" anchor="ctr">
            <a:noAutofit/>
          </a:bodyPr>
          <a:lstStyle/>
          <a:p>
            <a:pPr algn="l">
              <a:lnSpc>
                <a:spcPct val="110000"/>
              </a:lnSpc>
            </a:pPr>
            <a:r>
              <a:rPr sz="1000" b="0" i="0">
                <a:solidFill>
                  <a:srgbClr val="15201B"/>
                </a:solidFill>
                <a:latin typeface="DM Sans"/>
                <a:ea typeface="DM Sans"/>
                <a:cs typeface="DM Sans"/>
              </a:rPr>
              <a:t>I’m confused about what transmission</a:t>
            </a:r>
            <a:br>
              <a:rPr sz="1000"/>
            </a:br>
            <a:r>
              <a:rPr sz="1000" b="0" i="0">
                <a:solidFill>
                  <a:srgbClr val="15201B"/>
                </a:solidFill>
                <a:latin typeface="DM Sans"/>
                <a:ea typeface="DM Sans"/>
                <a:cs typeface="DM Sans"/>
              </a:rPr>
              <a:t>delay actually means.</a:t>
            </a:r>
          </a:p>
        </p:txBody>
      </p:sp>
      <p:sp>
        <p:nvSpPr>
          <p:cNvPr id="60" name="Tutor message"/>
          <p:cNvSpPr/>
          <p:nvPr/>
        </p:nvSpPr>
        <p:spPr>
          <a:xfrm>
            <a:off x="4826000" y="3378200"/>
            <a:ext cx="2463800" cy="698500"/>
          </a:xfrm>
          <a:prstGeom prst="roundRect">
            <a:avLst>
              <a:gd name="adj" fmla="val 12727"/>
            </a:avLst>
          </a:prstGeom>
          <a:solidFill>
            <a:srgbClr val="E7EFF4"/>
          </a:solidFill>
          <a:ln>
            <a:noFill/>
          </a:ln>
        </p:spPr>
        <p:txBody>
          <a:bodyPr rtlCol="0" anchor="ctr"/>
          <a:lstStyle/>
          <a:p>
            <a:pPr algn="ctr"/>
          </a:p>
        </p:txBody>
      </p:sp>
      <p:sp>
        <p:nvSpPr>
          <p:cNvPr id="61" name="TextBox 60"/>
          <p:cNvSpPr txBox="1"/>
          <p:nvPr/>
        </p:nvSpPr>
        <p:spPr>
          <a:xfrm>
            <a:off x="4927600" y="3378200"/>
            <a:ext cx="2286000" cy="698500"/>
          </a:xfrm>
          <a:prstGeom prst="rect">
            <a:avLst/>
          </a:prstGeom>
          <a:noFill/>
        </p:spPr>
        <p:txBody>
          <a:bodyPr wrap="square" lIns="0" rIns="0" tIns="0" bIns="0" anchor="ctr">
            <a:noAutofit/>
          </a:bodyPr>
          <a:lstStyle/>
          <a:p>
            <a:pPr algn="l">
              <a:lnSpc>
                <a:spcPct val="110000"/>
              </a:lnSpc>
            </a:pPr>
            <a:r>
              <a:rPr sz="1000" b="0" i="0">
                <a:solidFill>
                  <a:srgbClr val="15201B"/>
                </a:solidFill>
                <a:latin typeface="DM Sans"/>
                <a:ea typeface="DM Sans"/>
                <a:cs typeface="DM Sans"/>
              </a:rPr>
              <a:t>It can help to separate sending the bits from the bits travelling along the link.</a:t>
            </a:r>
          </a:p>
        </p:txBody>
      </p:sp>
      <p:sp>
        <p:nvSpPr>
          <p:cNvPr id="62" name="Oval 61"/>
          <p:cNvSpPr/>
          <p:nvPr/>
        </p:nvSpPr>
        <p:spPr>
          <a:xfrm>
            <a:off x="7353300" y="3556000"/>
            <a:ext cx="330200" cy="330200"/>
          </a:xfrm>
          <a:prstGeom prst="ellipse">
            <a:avLst/>
          </a:prstGeom>
          <a:solidFill>
            <a:srgbClr val="DCE8F0"/>
          </a:solidFill>
          <a:ln>
            <a:noFill/>
          </a:ln>
        </p:spPr>
        <p:txBody>
          <a:bodyPr rtlCol="0" anchor="ctr"/>
          <a:lstStyle/>
          <a:p>
            <a:pPr algn="ctr"/>
          </a:p>
        </p:txBody>
      </p:sp>
      <p:pic>
        <p:nvPicPr>
          <p:cNvPr id="63" name="Icon LuBot" descr="lu_LuBot_2F5B78.png"/>
          <p:cNvPicPr>
            <a:picLocks noChangeAspect="1"/>
          </p:cNvPicPr>
          <p:nvPr/>
        </p:nvPicPr>
        <p:blipFill>
          <a:blip r:embed="rId13"/>
          <a:stretch>
            <a:fillRect/>
          </a:stretch>
        </p:blipFill>
        <p:spPr>
          <a:xfrm>
            <a:off x="7429500" y="3632200"/>
            <a:ext cx="177800" cy="177800"/>
          </a:xfrm>
          <a:prstGeom prst="rect">
            <a:avLst/>
          </a:prstGeom>
        </p:spPr>
      </p:pic>
      <p:sp>
        <p:nvSpPr>
          <p:cNvPr id="64" name="Evidence tile"/>
          <p:cNvSpPr/>
          <p:nvPr/>
        </p:nvSpPr>
        <p:spPr>
          <a:xfrm>
            <a:off x="4826000" y="4203700"/>
            <a:ext cx="889000" cy="901700"/>
          </a:xfrm>
          <a:prstGeom prst="roundRect">
            <a:avLst>
              <a:gd name="adj" fmla="val 8571"/>
            </a:avLst>
          </a:prstGeom>
          <a:solidFill>
            <a:srgbClr val="F4F7F6"/>
          </a:solidFill>
          <a:ln>
            <a:noFill/>
          </a:ln>
        </p:spPr>
        <p:txBody>
          <a:bodyPr rtlCol="0" anchor="ctr"/>
          <a:lstStyle/>
          <a:p>
            <a:pPr algn="ctr"/>
          </a:p>
        </p:txBody>
      </p:sp>
      <p:pic>
        <p:nvPicPr>
          <p:cNvPr id="65" name="Icon LuFileText" descr="lu_LuFileText_3F6684.png"/>
          <p:cNvPicPr>
            <a:picLocks noChangeAspect="1"/>
          </p:cNvPicPr>
          <p:nvPr/>
        </p:nvPicPr>
        <p:blipFill>
          <a:blip r:embed="rId14"/>
          <a:stretch>
            <a:fillRect/>
          </a:stretch>
        </p:blipFill>
        <p:spPr>
          <a:xfrm>
            <a:off x="5156200" y="4318000"/>
            <a:ext cx="228600" cy="228600"/>
          </a:xfrm>
          <a:prstGeom prst="rect">
            <a:avLst/>
          </a:prstGeom>
        </p:spPr>
      </p:pic>
      <p:sp>
        <p:nvSpPr>
          <p:cNvPr id="66" name="TextBox 65"/>
          <p:cNvSpPr txBox="1"/>
          <p:nvPr/>
        </p:nvSpPr>
        <p:spPr>
          <a:xfrm>
            <a:off x="4851400" y="4597400"/>
            <a:ext cx="838200" cy="419100"/>
          </a:xfrm>
          <a:prstGeom prst="rect">
            <a:avLst/>
          </a:prstGeom>
          <a:noFill/>
        </p:spPr>
        <p:txBody>
          <a:bodyPr wrap="square" lIns="0" rIns="0" tIns="0" bIns="0" anchor="t">
            <a:noAutofit/>
          </a:bodyPr>
          <a:lstStyle/>
          <a:p>
            <a:pPr algn="ctr">
              <a:lnSpc>
                <a:spcPct val="105000"/>
              </a:lnSpc>
            </a:pPr>
            <a:r>
              <a:rPr sz="950" b="0" i="0">
                <a:solidFill>
                  <a:srgbClr val="15201B"/>
                </a:solidFill>
                <a:latin typeface="DM Sans"/>
                <a:ea typeface="DM Sans"/>
                <a:cs typeface="DM Sans"/>
              </a:rPr>
              <a:t>Student</a:t>
            </a:r>
            <a:br>
              <a:rPr sz="950"/>
            </a:br>
            <a:r>
              <a:rPr sz="950" b="0" i="0">
                <a:solidFill>
                  <a:srgbClr val="15201B"/>
                </a:solidFill>
                <a:latin typeface="DM Sans"/>
                <a:ea typeface="DM Sans"/>
                <a:cs typeface="DM Sans"/>
              </a:rPr>
              <a:t>responses</a:t>
            </a:r>
          </a:p>
        </p:txBody>
      </p:sp>
      <p:sp>
        <p:nvSpPr>
          <p:cNvPr id="67" name="Evidence tile"/>
          <p:cNvSpPr/>
          <p:nvPr/>
        </p:nvSpPr>
        <p:spPr>
          <a:xfrm>
            <a:off x="5791200" y="4203700"/>
            <a:ext cx="889000" cy="901700"/>
          </a:xfrm>
          <a:prstGeom prst="roundRect">
            <a:avLst>
              <a:gd name="adj" fmla="val 8571"/>
            </a:avLst>
          </a:prstGeom>
          <a:solidFill>
            <a:srgbClr val="F4F7F6"/>
          </a:solidFill>
          <a:ln>
            <a:noFill/>
          </a:ln>
        </p:spPr>
        <p:txBody>
          <a:bodyPr rtlCol="0" anchor="ctr"/>
          <a:lstStyle/>
          <a:p>
            <a:pPr algn="ctr"/>
          </a:p>
        </p:txBody>
      </p:sp>
      <p:pic>
        <p:nvPicPr>
          <p:cNvPr id="68" name="Icon LuLightbulb" descr="lu_LuLightbulb_C9902E.png"/>
          <p:cNvPicPr>
            <a:picLocks noChangeAspect="1"/>
          </p:cNvPicPr>
          <p:nvPr/>
        </p:nvPicPr>
        <p:blipFill>
          <a:blip r:embed="rId10"/>
          <a:stretch>
            <a:fillRect/>
          </a:stretch>
        </p:blipFill>
        <p:spPr>
          <a:xfrm>
            <a:off x="6121400" y="4318000"/>
            <a:ext cx="228600" cy="228600"/>
          </a:xfrm>
          <a:prstGeom prst="rect">
            <a:avLst/>
          </a:prstGeom>
        </p:spPr>
      </p:pic>
      <p:sp>
        <p:nvSpPr>
          <p:cNvPr id="69" name="TextBox 68"/>
          <p:cNvSpPr txBox="1"/>
          <p:nvPr/>
        </p:nvSpPr>
        <p:spPr>
          <a:xfrm>
            <a:off x="5816600" y="4597400"/>
            <a:ext cx="838200" cy="419100"/>
          </a:xfrm>
          <a:prstGeom prst="rect">
            <a:avLst/>
          </a:prstGeom>
          <a:noFill/>
        </p:spPr>
        <p:txBody>
          <a:bodyPr wrap="square" lIns="0" rIns="0" tIns="0" bIns="0" anchor="t">
            <a:noAutofit/>
          </a:bodyPr>
          <a:lstStyle/>
          <a:p>
            <a:pPr algn="ctr">
              <a:lnSpc>
                <a:spcPct val="105000"/>
              </a:lnSpc>
            </a:pPr>
            <a:r>
              <a:rPr sz="950" b="0" i="0">
                <a:solidFill>
                  <a:srgbClr val="15201B"/>
                </a:solidFill>
                <a:latin typeface="DM Sans"/>
                <a:ea typeface="DM Sans"/>
                <a:cs typeface="DM Sans"/>
              </a:rPr>
              <a:t>Hints</a:t>
            </a:r>
            <a:br>
              <a:rPr sz="950"/>
            </a:br>
            <a:r>
              <a:rPr sz="950" b="0" i="0">
                <a:solidFill>
                  <a:srgbClr val="15201B"/>
                </a:solidFill>
                <a:latin typeface="DM Sans"/>
                <a:ea typeface="DM Sans"/>
                <a:cs typeface="DM Sans"/>
              </a:rPr>
              <a:t>shown</a:t>
            </a:r>
          </a:p>
        </p:txBody>
      </p:sp>
      <p:sp>
        <p:nvSpPr>
          <p:cNvPr id="70" name="Evidence tile"/>
          <p:cNvSpPr/>
          <p:nvPr/>
        </p:nvSpPr>
        <p:spPr>
          <a:xfrm>
            <a:off x="6756400" y="4203700"/>
            <a:ext cx="889000" cy="901700"/>
          </a:xfrm>
          <a:prstGeom prst="roundRect">
            <a:avLst>
              <a:gd name="adj" fmla="val 8571"/>
            </a:avLst>
          </a:prstGeom>
          <a:solidFill>
            <a:srgbClr val="F4F7F6"/>
          </a:solidFill>
          <a:ln>
            <a:noFill/>
          </a:ln>
        </p:spPr>
        <p:txBody>
          <a:bodyPr rtlCol="0" anchor="ctr"/>
          <a:lstStyle/>
          <a:p>
            <a:pPr algn="ctr"/>
          </a:p>
        </p:txBody>
      </p:sp>
      <p:pic>
        <p:nvPicPr>
          <p:cNvPr id="71" name="Icon LuChartColumn" descr="lu_LuChartColumn_3F6684.png"/>
          <p:cNvPicPr>
            <a:picLocks noChangeAspect="1"/>
          </p:cNvPicPr>
          <p:nvPr/>
        </p:nvPicPr>
        <p:blipFill>
          <a:blip r:embed="rId15"/>
          <a:stretch>
            <a:fillRect/>
          </a:stretch>
        </p:blipFill>
        <p:spPr>
          <a:xfrm>
            <a:off x="7086600" y="4318000"/>
            <a:ext cx="228600" cy="228600"/>
          </a:xfrm>
          <a:prstGeom prst="rect">
            <a:avLst/>
          </a:prstGeom>
        </p:spPr>
      </p:pic>
      <p:sp>
        <p:nvSpPr>
          <p:cNvPr id="72" name="TextBox 71"/>
          <p:cNvSpPr txBox="1"/>
          <p:nvPr/>
        </p:nvSpPr>
        <p:spPr>
          <a:xfrm>
            <a:off x="6781800" y="4597400"/>
            <a:ext cx="838200" cy="419100"/>
          </a:xfrm>
          <a:prstGeom prst="rect">
            <a:avLst/>
          </a:prstGeom>
          <a:noFill/>
        </p:spPr>
        <p:txBody>
          <a:bodyPr wrap="square" lIns="0" rIns="0" tIns="0" bIns="0" anchor="t">
            <a:noAutofit/>
          </a:bodyPr>
          <a:lstStyle/>
          <a:p>
            <a:pPr algn="ctr">
              <a:lnSpc>
                <a:spcPct val="105000"/>
              </a:lnSpc>
            </a:pPr>
            <a:r>
              <a:rPr sz="950" b="0" i="0">
                <a:solidFill>
                  <a:srgbClr val="15201B"/>
                </a:solidFill>
                <a:latin typeface="DM Sans"/>
                <a:ea typeface="DM Sans"/>
                <a:cs typeface="DM Sans"/>
              </a:rPr>
              <a:t>Time spent</a:t>
            </a:r>
            <a:br>
              <a:rPr sz="950"/>
            </a:br>
            <a:r>
              <a:rPr sz="950" b="0" i="0">
                <a:solidFill>
                  <a:srgbClr val="15201B"/>
                </a:solidFill>
                <a:latin typeface="DM Sans"/>
                <a:ea typeface="DM Sans"/>
                <a:cs typeface="DM Sans"/>
              </a:rPr>
              <a:t>&amp; attempts</a:t>
            </a:r>
          </a:p>
        </p:txBody>
      </p:sp>
      <p:sp>
        <p:nvSpPr>
          <p:cNvPr id="73" name="Panel"/>
          <p:cNvSpPr/>
          <p:nvPr/>
        </p:nvSpPr>
        <p:spPr>
          <a:xfrm>
            <a:off x="8737600" y="2667000"/>
            <a:ext cx="3048000" cy="1473200"/>
          </a:xfrm>
          <a:prstGeom prst="roundRect">
            <a:avLst>
              <a:gd name="adj" fmla="val 7758"/>
            </a:avLst>
          </a:prstGeom>
          <a:solidFill>
            <a:srgbClr val="FFFFFF"/>
          </a:solidFill>
          <a:ln>
            <a:noFill/>
          </a:ln>
        </p:spPr>
        <p:txBody>
          <a:bodyPr rtlCol="0" anchor="ctr"/>
          <a:lstStyle/>
          <a:p>
            <a:pPr algn="ctr"/>
          </a:p>
        </p:txBody>
      </p:sp>
      <p:pic>
        <p:nvPicPr>
          <p:cNvPr id="74" name="Icon LuUsers" descr="lu_LuUsers_2E7A62.png"/>
          <p:cNvPicPr>
            <a:picLocks noChangeAspect="1"/>
          </p:cNvPicPr>
          <p:nvPr/>
        </p:nvPicPr>
        <p:blipFill>
          <a:blip r:embed="rId16"/>
          <a:stretch>
            <a:fillRect/>
          </a:stretch>
        </p:blipFill>
        <p:spPr>
          <a:xfrm>
            <a:off x="8851900" y="2755900"/>
            <a:ext cx="177800" cy="177800"/>
          </a:xfrm>
          <a:prstGeom prst="rect">
            <a:avLst/>
          </a:prstGeom>
        </p:spPr>
      </p:pic>
      <p:sp>
        <p:nvSpPr>
          <p:cNvPr id="75" name="TextBox 74"/>
          <p:cNvSpPr txBox="1"/>
          <p:nvPr/>
        </p:nvSpPr>
        <p:spPr>
          <a:xfrm>
            <a:off x="9093200" y="2743200"/>
            <a:ext cx="2540000" cy="203200"/>
          </a:xfrm>
          <a:prstGeom prst="rect">
            <a:avLst/>
          </a:prstGeom>
          <a:noFill/>
        </p:spPr>
        <p:txBody>
          <a:bodyPr wrap="square" lIns="0" rIns="0" tIns="0" bIns="0" anchor="ctr">
            <a:noAutofit/>
          </a:bodyPr>
          <a:lstStyle/>
          <a:p>
            <a:pPr algn="l"/>
            <a:r>
              <a:rPr sz="1050" b="1" i="0">
                <a:solidFill>
                  <a:srgbClr val="15201B"/>
                </a:solidFill>
                <a:latin typeface="DM Sans"/>
                <a:ea typeface="DM Sans"/>
                <a:cs typeface="DM Sans"/>
              </a:rPr>
              <a:t>Class evidence by idea</a:t>
            </a:r>
          </a:p>
        </p:txBody>
      </p:sp>
      <p:pic>
        <p:nvPicPr>
          <p:cNvPr id="76" name="Roster screenshot" descr="roster_small.png"/>
          <p:cNvPicPr>
            <a:picLocks noChangeAspect="1"/>
          </p:cNvPicPr>
          <p:nvPr/>
        </p:nvPicPr>
        <p:blipFill>
          <a:blip r:embed="rId17"/>
          <a:stretch>
            <a:fillRect/>
          </a:stretch>
        </p:blipFill>
        <p:spPr>
          <a:xfrm>
            <a:off x="8987960" y="2984500"/>
            <a:ext cx="2547281" cy="1092200"/>
          </a:xfrm>
          <a:prstGeom prst="rect">
            <a:avLst/>
          </a:prstGeom>
        </p:spPr>
      </p:pic>
      <p:sp>
        <p:nvSpPr>
          <p:cNvPr id="77" name="Panel"/>
          <p:cNvSpPr/>
          <p:nvPr/>
        </p:nvSpPr>
        <p:spPr>
          <a:xfrm>
            <a:off x="8737600" y="4216400"/>
            <a:ext cx="3048000" cy="977900"/>
          </a:xfrm>
          <a:prstGeom prst="roundRect">
            <a:avLst>
              <a:gd name="adj" fmla="val 11688"/>
            </a:avLst>
          </a:prstGeom>
          <a:solidFill>
            <a:srgbClr val="FFFFFF"/>
          </a:solidFill>
          <a:ln>
            <a:noFill/>
          </a:ln>
        </p:spPr>
        <p:txBody>
          <a:bodyPr rtlCol="0" anchor="ctr"/>
          <a:lstStyle/>
          <a:p>
            <a:pPr algn="ctr"/>
          </a:p>
        </p:txBody>
      </p:sp>
      <p:pic>
        <p:nvPicPr>
          <p:cNvPr id="78" name="Icon LuSparkles" descr="lu_LuSparkles_B7792A.png"/>
          <p:cNvPicPr>
            <a:picLocks noChangeAspect="1"/>
          </p:cNvPicPr>
          <p:nvPr/>
        </p:nvPicPr>
        <p:blipFill>
          <a:blip r:embed="rId18"/>
          <a:stretch>
            <a:fillRect/>
          </a:stretch>
        </p:blipFill>
        <p:spPr>
          <a:xfrm>
            <a:off x="8851900" y="4292600"/>
            <a:ext cx="165100" cy="165100"/>
          </a:xfrm>
          <a:prstGeom prst="rect">
            <a:avLst/>
          </a:prstGeom>
        </p:spPr>
      </p:pic>
      <p:sp>
        <p:nvSpPr>
          <p:cNvPr id="79" name="TextBox 78"/>
          <p:cNvSpPr txBox="1"/>
          <p:nvPr/>
        </p:nvSpPr>
        <p:spPr>
          <a:xfrm>
            <a:off x="9080500" y="4267200"/>
            <a:ext cx="2540000" cy="203200"/>
          </a:xfrm>
          <a:prstGeom prst="rect">
            <a:avLst/>
          </a:prstGeom>
          <a:noFill/>
        </p:spPr>
        <p:txBody>
          <a:bodyPr wrap="square" lIns="0" rIns="0" tIns="0" bIns="0" anchor="ctr">
            <a:noAutofit/>
          </a:bodyPr>
          <a:lstStyle/>
          <a:p>
            <a:pPr algn="l"/>
            <a:r>
              <a:rPr sz="1050" b="1" i="0">
                <a:solidFill>
                  <a:srgbClr val="15201B"/>
                </a:solidFill>
                <a:latin typeface="DM Sans"/>
                <a:ea typeface="DM Sans"/>
                <a:cs typeface="DM Sans"/>
              </a:rPr>
              <a:t>AI-drafted follow-up</a:t>
            </a:r>
          </a:p>
        </p:txBody>
      </p:sp>
      <p:pic>
        <p:nvPicPr>
          <p:cNvPr id="80" name="Icon LuCircleCheck" descr="lu_LuCircleCheck_7FA894.png"/>
          <p:cNvPicPr>
            <a:picLocks noChangeAspect="1"/>
          </p:cNvPicPr>
          <p:nvPr/>
        </p:nvPicPr>
        <p:blipFill>
          <a:blip r:embed="rId19"/>
          <a:stretch>
            <a:fillRect/>
          </a:stretch>
        </p:blipFill>
        <p:spPr>
          <a:xfrm>
            <a:off x="8864600" y="4546600"/>
            <a:ext cx="127000" cy="127000"/>
          </a:xfrm>
          <a:prstGeom prst="rect">
            <a:avLst/>
          </a:prstGeom>
        </p:spPr>
      </p:pic>
      <p:sp>
        <p:nvSpPr>
          <p:cNvPr id="81" name="TextBox 80"/>
          <p:cNvSpPr txBox="1"/>
          <p:nvPr/>
        </p:nvSpPr>
        <p:spPr>
          <a:xfrm>
            <a:off x="9042400" y="4521200"/>
            <a:ext cx="1714500" cy="1778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Choose the answers to use</a:t>
            </a:r>
          </a:p>
        </p:txBody>
      </p:sp>
      <p:pic>
        <p:nvPicPr>
          <p:cNvPr id="82" name="Icon LuCircleCheck" descr="lu_LuCircleCheck_7FA894.png"/>
          <p:cNvPicPr>
            <a:picLocks noChangeAspect="1"/>
          </p:cNvPicPr>
          <p:nvPr/>
        </p:nvPicPr>
        <p:blipFill>
          <a:blip r:embed="rId19"/>
          <a:stretch>
            <a:fillRect/>
          </a:stretch>
        </p:blipFill>
        <p:spPr>
          <a:xfrm>
            <a:off x="8864600" y="4749800"/>
            <a:ext cx="127000" cy="127000"/>
          </a:xfrm>
          <a:prstGeom prst="rect">
            <a:avLst/>
          </a:prstGeom>
        </p:spPr>
      </p:pic>
      <p:sp>
        <p:nvSpPr>
          <p:cNvPr id="83" name="TextBox 82"/>
          <p:cNvSpPr txBox="1"/>
          <p:nvPr/>
        </p:nvSpPr>
        <p:spPr>
          <a:xfrm>
            <a:off x="9042400" y="4724400"/>
            <a:ext cx="1714500" cy="1778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Save a private draft</a:t>
            </a:r>
          </a:p>
        </p:txBody>
      </p:sp>
      <p:pic>
        <p:nvPicPr>
          <p:cNvPr id="84" name="Icon LuCircleCheck" descr="lu_LuCircleCheck_7FA894.png"/>
          <p:cNvPicPr>
            <a:picLocks noChangeAspect="1"/>
          </p:cNvPicPr>
          <p:nvPr/>
        </p:nvPicPr>
        <p:blipFill>
          <a:blip r:embed="rId19"/>
          <a:stretch>
            <a:fillRect/>
          </a:stretch>
        </p:blipFill>
        <p:spPr>
          <a:xfrm>
            <a:off x="8864600" y="4953000"/>
            <a:ext cx="127000" cy="127000"/>
          </a:xfrm>
          <a:prstGeom prst="rect">
            <a:avLst/>
          </a:prstGeom>
        </p:spPr>
      </p:pic>
      <p:sp>
        <p:nvSpPr>
          <p:cNvPr id="85" name="TextBox 84"/>
          <p:cNvSpPr txBox="1"/>
          <p:nvPr/>
        </p:nvSpPr>
        <p:spPr>
          <a:xfrm>
            <a:off x="9042400" y="4927600"/>
            <a:ext cx="1714500" cy="1778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Choose the students</a:t>
            </a:r>
          </a:p>
        </p:txBody>
      </p:sp>
      <p:sp>
        <p:nvSpPr>
          <p:cNvPr id="86" name="Button"/>
          <p:cNvSpPr/>
          <p:nvPr/>
        </p:nvSpPr>
        <p:spPr>
          <a:xfrm>
            <a:off x="10795000" y="4711700"/>
            <a:ext cx="901700" cy="317500"/>
          </a:xfrm>
          <a:prstGeom prst="roundRect">
            <a:avLst>
              <a:gd name="adj" fmla="val 24000"/>
            </a:avLst>
          </a:prstGeom>
          <a:solidFill>
            <a:srgbClr val="1B4236"/>
          </a:solidFill>
          <a:ln>
            <a:noFill/>
          </a:ln>
        </p:spPr>
        <p:txBody>
          <a:bodyPr rtlCol="0" anchor="ctr"/>
          <a:lstStyle/>
          <a:p>
            <a:pPr algn="ctr"/>
          </a:p>
        </p:txBody>
      </p:sp>
      <p:pic>
        <p:nvPicPr>
          <p:cNvPr id="87" name="Icon LuCircleCheckBig" descr="lu_LuCircleCheckBig_FFFFFF.png"/>
          <p:cNvPicPr>
            <a:picLocks noChangeAspect="1"/>
          </p:cNvPicPr>
          <p:nvPr/>
        </p:nvPicPr>
        <p:blipFill>
          <a:blip r:embed="rId11"/>
          <a:stretch>
            <a:fillRect/>
          </a:stretch>
        </p:blipFill>
        <p:spPr>
          <a:xfrm>
            <a:off x="10883900" y="4787900"/>
            <a:ext cx="165100" cy="165100"/>
          </a:xfrm>
          <a:prstGeom prst="rect">
            <a:avLst/>
          </a:prstGeom>
        </p:spPr>
      </p:pic>
      <p:sp>
        <p:nvSpPr>
          <p:cNvPr id="88" name="TextBox 87"/>
          <p:cNvSpPr txBox="1"/>
          <p:nvPr/>
        </p:nvSpPr>
        <p:spPr>
          <a:xfrm>
            <a:off x="11087100" y="4711700"/>
            <a:ext cx="571500" cy="317500"/>
          </a:xfrm>
          <a:prstGeom prst="rect">
            <a:avLst/>
          </a:prstGeom>
          <a:noFill/>
        </p:spPr>
        <p:txBody>
          <a:bodyPr wrap="square" lIns="0" rIns="0" tIns="0" bIns="0" anchor="ctr">
            <a:noAutofit/>
          </a:bodyPr>
          <a:lstStyle/>
          <a:p>
            <a:pPr algn="l"/>
            <a:r>
              <a:rPr sz="1000" b="1" i="0">
                <a:solidFill>
                  <a:srgbClr val="FFFFFF"/>
                </a:solidFill>
                <a:latin typeface="DM Sans"/>
                <a:ea typeface="DM Sans"/>
                <a:cs typeface="DM Sans"/>
              </a:rPr>
              <a:t>Approve</a:t>
            </a:r>
          </a:p>
        </p:txBody>
      </p:sp>
      <p:sp>
        <p:nvSpPr>
          <p:cNvPr id="89" name="Loop pill"/>
          <p:cNvSpPr/>
          <p:nvPr/>
        </p:nvSpPr>
        <p:spPr>
          <a:xfrm>
            <a:off x="3810000" y="5588000"/>
            <a:ext cx="4699000" cy="495300"/>
          </a:xfrm>
          <a:prstGeom prst="roundRect">
            <a:avLst>
              <a:gd name="adj" fmla="val 50000"/>
            </a:avLst>
          </a:prstGeom>
          <a:solidFill>
            <a:srgbClr val="DFEEE3"/>
          </a:solidFill>
          <a:ln w="19050">
            <a:solidFill>
              <a:srgbClr val="1B4236"/>
            </a:solidFill>
          </a:ln>
        </p:spPr>
        <p:txBody>
          <a:bodyPr rtlCol="0" anchor="ctr"/>
          <a:lstStyle/>
          <a:p>
            <a:pPr algn="ctr"/>
          </a:p>
        </p:txBody>
      </p:sp>
      <p:pic>
        <p:nvPicPr>
          <p:cNvPr id="90" name="Icon LuFilePlus" descr="lu_LuFilePlus_1B4236.png"/>
          <p:cNvPicPr>
            <a:picLocks noChangeAspect="1"/>
          </p:cNvPicPr>
          <p:nvPr/>
        </p:nvPicPr>
        <p:blipFill>
          <a:blip r:embed="rId20"/>
          <a:stretch>
            <a:fillRect/>
          </a:stretch>
        </p:blipFill>
        <p:spPr>
          <a:xfrm>
            <a:off x="4038600" y="5727700"/>
            <a:ext cx="215900" cy="215900"/>
          </a:xfrm>
          <a:prstGeom prst="rect">
            <a:avLst/>
          </a:prstGeom>
        </p:spPr>
      </p:pic>
      <p:sp>
        <p:nvSpPr>
          <p:cNvPr id="91" name="TextBox 90"/>
          <p:cNvSpPr txBox="1"/>
          <p:nvPr/>
        </p:nvSpPr>
        <p:spPr>
          <a:xfrm>
            <a:off x="4343400" y="5588000"/>
            <a:ext cx="4064000" cy="495300"/>
          </a:xfrm>
          <a:prstGeom prst="rect">
            <a:avLst/>
          </a:prstGeom>
          <a:noFill/>
        </p:spPr>
        <p:txBody>
          <a:bodyPr wrap="square" lIns="0" rIns="0" tIns="0" bIns="0" anchor="ctr">
            <a:noAutofit/>
          </a:bodyPr>
          <a:lstStyle/>
          <a:p>
            <a:pPr algn="l"/>
            <a:r>
              <a:rPr sz="1200" b="0" i="0">
                <a:solidFill>
                  <a:srgbClr val="1B4236"/>
                </a:solidFill>
                <a:latin typeface="DM Sans"/>
                <a:ea typeface="DM Sans"/>
                <a:cs typeface="DM Sans"/>
              </a:rPr>
              <a:t>The approved follow-up becomes new student work</a:t>
            </a:r>
          </a:p>
        </p:txBody>
      </p:sp>
      <p:cxnSp>
        <p:nvCxnSpPr>
          <p:cNvPr id="92" name="Connector 91"/>
          <p:cNvCxnSpPr/>
          <p:nvPr/>
        </p:nvCxnSpPr>
        <p:spPr>
          <a:xfrm flipH="1">
            <a:off x="2108200" y="5835650"/>
            <a:ext cx="1701800" cy="0"/>
          </a:xfrm>
          <a:prstGeom prst="line">
            <a:avLst/>
          </a:prstGeom>
          <a:ln w="28575">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108200" y="5295900"/>
            <a:ext cx="0" cy="53975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261100" y="5295900"/>
            <a:ext cx="0" cy="29210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261600" y="5295900"/>
            <a:ext cx="0" cy="539750"/>
          </a:xfrm>
          <a:prstGeom prst="line">
            <a:avLst/>
          </a:prstGeom>
          <a:ln w="28575">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8509000" y="5835650"/>
            <a:ext cx="17526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05</a:t>
            </a:r>
          </a:p>
        </p:txBody>
      </p:sp>
    </p:spTree>
    <p:extLst>
      <p:ext uri="{BB962C8B-B14F-4D97-AF65-F5344CB8AC3E}">
        <p14:creationId xmlns:p14="http://schemas.microsoft.com/office/powerpoint/2010/main" val="1923842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The teacher sets the source of truth</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STEP 1 · TEACHER PREPARES</a:t>
            </a:r>
          </a:p>
        </p:txBody>
      </p:sp>
      <p:sp>
        <p:nvSpPr>
          <p:cNvPr id="5" name="Lead"/>
          <p:cNvSpPr txBox="1"/>
          <p:nvPr/>
        </p:nvSpPr>
        <p:spPr>
          <a:xfrm>
            <a:off x="558800" y="1193800"/>
            <a:ext cx="5715000" cy="355600"/>
          </a:xfrm>
          <a:prstGeom prst="rect">
            <a:avLst/>
          </a:prstGeom>
          <a:noFill/>
        </p:spPr>
        <p:txBody>
          <a:bodyPr wrap="square" lIns="0" rIns="0" tIns="0" bIns="0" anchor="t">
            <a:noAutofit/>
          </a:bodyPr>
          <a:lstStyle/>
          <a:p>
            <a:pPr algn="l"/>
            <a:r>
              <a:rPr sz="2000" b="0" i="1">
                <a:solidFill>
                  <a:srgbClr val="2E7A62"/>
                </a:solidFill>
                <a:latin typeface="Newsreader"/>
                <a:ea typeface="Newsreader"/>
                <a:cs typeface="Newsreader"/>
              </a:rPr>
              <a:t>AI proposes. The teacher approves.</a:t>
            </a:r>
          </a:p>
        </p:txBody>
      </p:sp>
      <p:sp>
        <p:nvSpPr>
          <p:cNvPr id="6" name="Row"/>
          <p:cNvSpPr/>
          <p:nvPr/>
        </p:nvSpPr>
        <p:spPr>
          <a:xfrm>
            <a:off x="482600" y="1727200"/>
            <a:ext cx="5461000" cy="1333500"/>
          </a:xfrm>
          <a:prstGeom prst="roundRect">
            <a:avLst>
              <a:gd name="adj" fmla="val 11428"/>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7" name="Icon circle"/>
          <p:cNvSpPr/>
          <p:nvPr/>
        </p:nvSpPr>
        <p:spPr>
          <a:xfrm>
            <a:off x="685800" y="1917700"/>
            <a:ext cx="952500" cy="952500"/>
          </a:xfrm>
          <a:prstGeom prst="ellipse">
            <a:avLst/>
          </a:prstGeom>
          <a:solidFill>
            <a:srgbClr val="E1EEE6"/>
          </a:solidFill>
          <a:ln>
            <a:noFill/>
          </a:ln>
        </p:spPr>
        <p:txBody>
          <a:bodyPr rtlCol="0" anchor="ctr"/>
          <a:lstStyle/>
          <a:p>
            <a:pPr algn="ctr"/>
          </a:p>
        </p:txBody>
      </p:sp>
      <p:pic>
        <p:nvPicPr>
          <p:cNvPr id="8" name="Icon LuFileUp" descr="lu_LuFileUp_2E7A62.png"/>
          <p:cNvPicPr>
            <a:picLocks noChangeAspect="1"/>
          </p:cNvPicPr>
          <p:nvPr/>
        </p:nvPicPr>
        <p:blipFill>
          <a:blip r:embed="rId5"/>
          <a:stretch>
            <a:fillRect/>
          </a:stretch>
        </p:blipFill>
        <p:spPr>
          <a:xfrm>
            <a:off x="942975" y="2174875"/>
            <a:ext cx="438150" cy="438150"/>
          </a:xfrm>
          <a:prstGeom prst="rect">
            <a:avLst/>
          </a:prstGeom>
        </p:spPr>
      </p:pic>
      <p:sp>
        <p:nvSpPr>
          <p:cNvPr id="9" name="TextBox 8"/>
          <p:cNvSpPr txBox="1"/>
          <p:nvPr/>
        </p:nvSpPr>
        <p:spPr>
          <a:xfrm>
            <a:off x="1854200" y="1905000"/>
            <a:ext cx="4000500" cy="355600"/>
          </a:xfrm>
          <a:prstGeom prst="rect">
            <a:avLst/>
          </a:prstGeom>
          <a:noFill/>
        </p:spPr>
        <p:txBody>
          <a:bodyPr wrap="square" lIns="0" rIns="0" tIns="0" bIns="0" anchor="t">
            <a:noAutofit/>
          </a:bodyPr>
          <a:lstStyle/>
          <a:p>
            <a:pPr algn="l"/>
            <a:r>
              <a:rPr sz="1900" b="0" i="0">
                <a:solidFill>
                  <a:srgbClr val="15201B"/>
                </a:solidFill>
                <a:latin typeface="Newsreader"/>
                <a:ea typeface="Newsreader"/>
                <a:cs typeface="Newsreader"/>
              </a:rPr>
              <a:t>Bring in course material</a:t>
            </a:r>
          </a:p>
        </p:txBody>
      </p:sp>
      <p:sp>
        <p:nvSpPr>
          <p:cNvPr id="10" name="TextBox 9"/>
          <p:cNvSpPr txBox="1"/>
          <p:nvPr/>
        </p:nvSpPr>
        <p:spPr>
          <a:xfrm>
            <a:off x="1854200" y="2260600"/>
            <a:ext cx="4000500" cy="762000"/>
          </a:xfrm>
          <a:prstGeom prst="rect">
            <a:avLst/>
          </a:prstGeom>
          <a:noFill/>
        </p:spPr>
        <p:txBody>
          <a:bodyPr wrap="square" lIns="0" rIns="0" tIns="0" bIns="0" anchor="t">
            <a:noAutofit/>
          </a:bodyPr>
          <a:lstStyle/>
          <a:p>
            <a:pPr algn="l">
              <a:lnSpc>
                <a:spcPct val="112000"/>
              </a:lnSpc>
            </a:pPr>
            <a:r>
              <a:rPr sz="1300" b="0" i="0">
                <a:solidFill>
                  <a:srgbClr val="5B6561"/>
                </a:solidFill>
                <a:latin typeface="DM Sans"/>
                <a:ea typeface="DM Sans"/>
                <a:cs typeface="DM Sans"/>
              </a:rPr>
              <a:t>Upload lecture slides, readings or notes.</a:t>
            </a:r>
            <a:br>
              <a:rPr sz="1300"/>
            </a:br>
            <a:r>
              <a:rPr sz="1300" b="0" i="0">
                <a:solidFill>
                  <a:srgbClr val="5B6561"/>
                </a:solidFill>
                <a:latin typeface="DM Sans"/>
                <a:ea typeface="DM Sans"/>
                <a:cs typeface="DM Sans"/>
              </a:rPr>
              <a:t>Learning Pulse organizes them into</a:t>
            </a:r>
            <a:br>
              <a:rPr sz="1300"/>
            </a:br>
            <a:r>
              <a:rPr sz="1300" b="0" i="0">
                <a:solidFill>
                  <a:srgbClr val="5B6561"/>
                </a:solidFill>
                <a:latin typeface="DM Sans"/>
                <a:ea typeface="DM Sans"/>
                <a:cs typeface="DM Sans"/>
              </a:rPr>
              <a:t>citable source passages.</a:t>
            </a:r>
          </a:p>
        </p:txBody>
      </p:sp>
      <p:sp>
        <p:nvSpPr>
          <p:cNvPr id="11" name="Row"/>
          <p:cNvSpPr/>
          <p:nvPr/>
        </p:nvSpPr>
        <p:spPr>
          <a:xfrm>
            <a:off x="482600" y="3175000"/>
            <a:ext cx="5461000" cy="1333500"/>
          </a:xfrm>
          <a:prstGeom prst="roundRect">
            <a:avLst>
              <a:gd name="adj" fmla="val 11428"/>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12" name="Icon circle"/>
          <p:cNvSpPr/>
          <p:nvPr/>
        </p:nvSpPr>
        <p:spPr>
          <a:xfrm>
            <a:off x="685800" y="3365500"/>
            <a:ext cx="952500" cy="952500"/>
          </a:xfrm>
          <a:prstGeom prst="ellipse">
            <a:avLst/>
          </a:prstGeom>
          <a:solidFill>
            <a:srgbClr val="E1EEE6"/>
          </a:solidFill>
          <a:ln>
            <a:noFill/>
          </a:ln>
        </p:spPr>
        <p:txBody>
          <a:bodyPr rtlCol="0" anchor="ctr"/>
          <a:lstStyle/>
          <a:p>
            <a:pPr algn="ctr"/>
          </a:p>
        </p:txBody>
      </p:sp>
      <p:pic>
        <p:nvPicPr>
          <p:cNvPr id="13" name="Icon LuWandSparkles" descr="lu_LuWandSparkles_2E7A62.png"/>
          <p:cNvPicPr>
            <a:picLocks noChangeAspect="1"/>
          </p:cNvPicPr>
          <p:nvPr/>
        </p:nvPicPr>
        <p:blipFill>
          <a:blip r:embed="rId6"/>
          <a:stretch>
            <a:fillRect/>
          </a:stretch>
        </p:blipFill>
        <p:spPr>
          <a:xfrm>
            <a:off x="942975" y="3622675"/>
            <a:ext cx="438150" cy="438150"/>
          </a:xfrm>
          <a:prstGeom prst="rect">
            <a:avLst/>
          </a:prstGeom>
        </p:spPr>
      </p:pic>
      <p:sp>
        <p:nvSpPr>
          <p:cNvPr id="14" name="TextBox 13"/>
          <p:cNvSpPr txBox="1"/>
          <p:nvPr/>
        </p:nvSpPr>
        <p:spPr>
          <a:xfrm>
            <a:off x="1854200" y="3352800"/>
            <a:ext cx="4000500" cy="355600"/>
          </a:xfrm>
          <a:prstGeom prst="rect">
            <a:avLst/>
          </a:prstGeom>
          <a:noFill/>
        </p:spPr>
        <p:txBody>
          <a:bodyPr wrap="square" lIns="0" rIns="0" tIns="0" bIns="0" anchor="t">
            <a:noAutofit/>
          </a:bodyPr>
          <a:lstStyle/>
          <a:p>
            <a:pPr algn="l"/>
            <a:r>
              <a:rPr sz="1900" b="0" i="0">
                <a:solidFill>
                  <a:srgbClr val="15201B"/>
                </a:solidFill>
                <a:latin typeface="Newsreader"/>
                <a:ea typeface="Newsreader"/>
                <a:cs typeface="Newsreader"/>
              </a:rPr>
              <a:t>Review what AI suggests</a:t>
            </a:r>
          </a:p>
        </p:txBody>
      </p:sp>
      <p:sp>
        <p:nvSpPr>
          <p:cNvPr id="15" name="TextBox 14"/>
          <p:cNvSpPr txBox="1"/>
          <p:nvPr/>
        </p:nvSpPr>
        <p:spPr>
          <a:xfrm>
            <a:off x="1854200" y="3708400"/>
            <a:ext cx="4000500" cy="762000"/>
          </a:xfrm>
          <a:prstGeom prst="rect">
            <a:avLst/>
          </a:prstGeom>
          <a:noFill/>
        </p:spPr>
        <p:txBody>
          <a:bodyPr wrap="square" lIns="0" rIns="0" tIns="0" bIns="0" anchor="t">
            <a:noAutofit/>
          </a:bodyPr>
          <a:lstStyle/>
          <a:p>
            <a:pPr algn="l">
              <a:lnSpc>
                <a:spcPct val="112000"/>
              </a:lnSpc>
            </a:pPr>
            <a:r>
              <a:rPr sz="1300" b="0" i="0">
                <a:solidFill>
                  <a:srgbClr val="5B6561"/>
                </a:solidFill>
                <a:latin typeface="DM Sans"/>
                <a:ea typeface="DM Sans"/>
                <a:cs typeface="DM Sans"/>
              </a:rPr>
              <a:t>AI drafts learning objectives and</a:t>
            </a:r>
            <a:br>
              <a:rPr sz="1300"/>
            </a:br>
            <a:r>
              <a:rPr sz="1300" b="0" i="0">
                <a:solidFill>
                  <a:srgbClr val="5B6561"/>
                </a:solidFill>
                <a:latin typeface="DM Sans"/>
                <a:ea typeface="DM Sans"/>
                <a:cs typeface="DM Sans"/>
              </a:rPr>
              <a:t>practice questions, all editable by</a:t>
            </a:r>
            <a:br>
              <a:rPr sz="1300"/>
            </a:br>
            <a:r>
              <a:rPr sz="1300" b="0" i="0">
                <a:solidFill>
                  <a:srgbClr val="5B6561"/>
                </a:solidFill>
                <a:latin typeface="DM Sans"/>
                <a:ea typeface="DM Sans"/>
                <a:cs typeface="DM Sans"/>
              </a:rPr>
              <a:t>the teacher.</a:t>
            </a:r>
          </a:p>
        </p:txBody>
      </p:sp>
      <p:sp>
        <p:nvSpPr>
          <p:cNvPr id="16" name="Row"/>
          <p:cNvSpPr/>
          <p:nvPr/>
        </p:nvSpPr>
        <p:spPr>
          <a:xfrm>
            <a:off x="482600" y="4622800"/>
            <a:ext cx="5461000" cy="1333500"/>
          </a:xfrm>
          <a:prstGeom prst="roundRect">
            <a:avLst>
              <a:gd name="adj" fmla="val 11428"/>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17" name="Icon circle"/>
          <p:cNvSpPr/>
          <p:nvPr/>
        </p:nvSpPr>
        <p:spPr>
          <a:xfrm>
            <a:off x="685800" y="4813300"/>
            <a:ext cx="952500" cy="952500"/>
          </a:xfrm>
          <a:prstGeom prst="ellipse">
            <a:avLst/>
          </a:prstGeom>
          <a:solidFill>
            <a:srgbClr val="E1EEE6"/>
          </a:solidFill>
          <a:ln>
            <a:noFill/>
          </a:ln>
        </p:spPr>
        <p:txBody>
          <a:bodyPr rtlCol="0" anchor="ctr"/>
          <a:lstStyle/>
          <a:p>
            <a:pPr algn="ctr"/>
          </a:p>
        </p:txBody>
      </p:sp>
      <p:pic>
        <p:nvPicPr>
          <p:cNvPr id="18" name="Icon LuBadgeCheck" descr="lu_LuBadgeCheck_2E7A62.png"/>
          <p:cNvPicPr>
            <a:picLocks noChangeAspect="1"/>
          </p:cNvPicPr>
          <p:nvPr/>
        </p:nvPicPr>
        <p:blipFill>
          <a:blip r:embed="rId7"/>
          <a:stretch>
            <a:fillRect/>
          </a:stretch>
        </p:blipFill>
        <p:spPr>
          <a:xfrm>
            <a:off x="942975" y="5070475"/>
            <a:ext cx="438150" cy="438150"/>
          </a:xfrm>
          <a:prstGeom prst="rect">
            <a:avLst/>
          </a:prstGeom>
        </p:spPr>
      </p:pic>
      <p:sp>
        <p:nvSpPr>
          <p:cNvPr id="19" name="TextBox 18"/>
          <p:cNvSpPr txBox="1"/>
          <p:nvPr/>
        </p:nvSpPr>
        <p:spPr>
          <a:xfrm>
            <a:off x="1854200" y="4800600"/>
            <a:ext cx="4000500" cy="355600"/>
          </a:xfrm>
          <a:prstGeom prst="rect">
            <a:avLst/>
          </a:prstGeom>
          <a:noFill/>
        </p:spPr>
        <p:txBody>
          <a:bodyPr wrap="square" lIns="0" rIns="0" tIns="0" bIns="0" anchor="t">
            <a:noAutofit/>
          </a:bodyPr>
          <a:lstStyle/>
          <a:p>
            <a:pPr algn="l"/>
            <a:r>
              <a:rPr sz="1900" b="0" i="0">
                <a:solidFill>
                  <a:srgbClr val="15201B"/>
                </a:solidFill>
                <a:latin typeface="Newsreader"/>
                <a:ea typeface="Newsreader"/>
                <a:cs typeface="Newsreader"/>
              </a:rPr>
              <a:t>Publish a fixed lesson version</a:t>
            </a:r>
          </a:p>
        </p:txBody>
      </p:sp>
      <p:sp>
        <p:nvSpPr>
          <p:cNvPr id="20" name="TextBox 19"/>
          <p:cNvSpPr txBox="1"/>
          <p:nvPr/>
        </p:nvSpPr>
        <p:spPr>
          <a:xfrm>
            <a:off x="1854200" y="5156200"/>
            <a:ext cx="4000500" cy="762000"/>
          </a:xfrm>
          <a:prstGeom prst="rect">
            <a:avLst/>
          </a:prstGeom>
          <a:noFill/>
        </p:spPr>
        <p:txBody>
          <a:bodyPr wrap="square" lIns="0" rIns="0" tIns="0" bIns="0" anchor="t">
            <a:noAutofit/>
          </a:bodyPr>
          <a:lstStyle/>
          <a:p>
            <a:pPr algn="l">
              <a:lnSpc>
                <a:spcPct val="112000"/>
              </a:lnSpc>
            </a:pPr>
            <a:r>
              <a:rPr sz="1300" b="0" i="0">
                <a:solidFill>
                  <a:srgbClr val="5B6561"/>
                </a:solidFill>
                <a:latin typeface="DM Sans"/>
                <a:ea typeface="DM Sans"/>
                <a:cs typeface="DM Sans"/>
              </a:rPr>
              <a:t>Students get the approved lesson,</a:t>
            </a:r>
            <a:br>
              <a:rPr sz="1300"/>
            </a:br>
            <a:r>
              <a:rPr sz="1300" b="0" i="0">
                <a:solidFill>
                  <a:srgbClr val="5B6561"/>
                </a:solidFill>
                <a:latin typeface="DM Sans"/>
                <a:ea typeface="DM Sans"/>
                <a:cs typeface="DM Sans"/>
              </a:rPr>
              <a:t>and every answer stays tied to it.</a:t>
            </a:r>
          </a:p>
        </p:txBody>
      </p:sp>
      <p:sp>
        <p:nvSpPr>
          <p:cNvPr id="21" name="Screenshot frame"/>
          <p:cNvSpPr/>
          <p:nvPr/>
        </p:nvSpPr>
        <p:spPr>
          <a:xfrm>
            <a:off x="6146800" y="1422400"/>
            <a:ext cx="5740400" cy="3937000"/>
          </a:xfrm>
          <a:prstGeom prst="roundRect">
            <a:avLst>
              <a:gd name="adj" fmla="val 3870"/>
            </a:avLst>
          </a:prstGeom>
          <a:solidFill>
            <a:srgbClr val="E3EEE7"/>
          </a:solidFill>
          <a:ln>
            <a:noFill/>
          </a:ln>
        </p:spPr>
        <p:txBody>
          <a:bodyPr rtlCol="0" anchor="ctr"/>
          <a:lstStyle/>
          <a:p>
            <a:pPr algn="ctr"/>
          </a:p>
        </p:txBody>
      </p:sp>
      <p:pic>
        <p:nvPicPr>
          <p:cNvPr id="22" name="Lesson editor screenshot" descr="editor.png"/>
          <p:cNvPicPr>
            <a:picLocks noChangeAspect="1"/>
          </p:cNvPicPr>
          <p:nvPr/>
        </p:nvPicPr>
        <p:blipFill>
          <a:blip r:embed="rId8"/>
          <a:stretch>
            <a:fillRect/>
          </a:stretch>
        </p:blipFill>
        <p:spPr>
          <a:xfrm>
            <a:off x="6416494" y="1524000"/>
            <a:ext cx="5201011" cy="3733800"/>
          </a:xfrm>
          <a:prstGeom prst="rect">
            <a:avLst/>
          </a:prstGeom>
          <a:effectLst>
            <a:outerShdw blurRad="228600" dist="38100" dir="5400000" algn="t" rotWithShape="0">
              <a:srgbClr val="1B3A30">
                <a:alpha val="10000"/>
              </a:srgbClr>
            </a:outerShdw>
          </a:effectLst>
        </p:spPr>
      </p:pic>
      <p:sp>
        <p:nvSpPr>
          <p:cNvPr id="23" name="Flow step"/>
          <p:cNvSpPr/>
          <p:nvPr/>
        </p:nvSpPr>
        <p:spPr>
          <a:xfrm>
            <a:off x="6146800" y="5511800"/>
            <a:ext cx="1676400" cy="584200"/>
          </a:xfrm>
          <a:prstGeom prst="roundRect">
            <a:avLst>
              <a:gd name="adj" fmla="val 19565"/>
            </a:avLst>
          </a:prstGeom>
          <a:solidFill>
            <a:srgbClr val="F7EAD9"/>
          </a:solidFill>
          <a:ln>
            <a:noFill/>
          </a:ln>
        </p:spPr>
        <p:txBody>
          <a:bodyPr rtlCol="0" anchor="ctr"/>
          <a:lstStyle/>
          <a:p>
            <a:pPr algn="ctr"/>
          </a:p>
        </p:txBody>
      </p:sp>
      <p:sp>
        <p:nvSpPr>
          <p:cNvPr id="24" name="Oval 23"/>
          <p:cNvSpPr/>
          <p:nvPr/>
        </p:nvSpPr>
        <p:spPr>
          <a:xfrm>
            <a:off x="6248400" y="5638800"/>
            <a:ext cx="330200" cy="330200"/>
          </a:xfrm>
          <a:prstGeom prst="ellipse">
            <a:avLst/>
          </a:prstGeom>
          <a:solidFill>
            <a:srgbClr val="FFFFFF"/>
          </a:solidFill>
          <a:ln>
            <a:noFill/>
          </a:ln>
        </p:spPr>
        <p:txBody>
          <a:bodyPr rtlCol="0" anchor="ctr"/>
          <a:lstStyle/>
          <a:p>
            <a:pPr algn="ctr"/>
          </a:p>
        </p:txBody>
      </p:sp>
      <p:pic>
        <p:nvPicPr>
          <p:cNvPr id="25" name="Icon LuFileText" descr="lu_LuFileText_8A5E1F.png"/>
          <p:cNvPicPr>
            <a:picLocks noChangeAspect="1"/>
          </p:cNvPicPr>
          <p:nvPr/>
        </p:nvPicPr>
        <p:blipFill>
          <a:blip r:embed="rId9"/>
          <a:stretch>
            <a:fillRect/>
          </a:stretch>
        </p:blipFill>
        <p:spPr>
          <a:xfrm>
            <a:off x="6324600" y="5715000"/>
            <a:ext cx="177800" cy="177800"/>
          </a:xfrm>
          <a:prstGeom prst="rect">
            <a:avLst/>
          </a:prstGeom>
        </p:spPr>
      </p:pic>
      <p:sp>
        <p:nvSpPr>
          <p:cNvPr id="26" name="TextBox 25"/>
          <p:cNvSpPr txBox="1"/>
          <p:nvPr/>
        </p:nvSpPr>
        <p:spPr>
          <a:xfrm>
            <a:off x="6654800" y="5511800"/>
            <a:ext cx="1143000" cy="584200"/>
          </a:xfrm>
          <a:prstGeom prst="rect">
            <a:avLst/>
          </a:prstGeom>
          <a:noFill/>
        </p:spPr>
        <p:txBody>
          <a:bodyPr wrap="square" lIns="0" rIns="0" tIns="0" bIns="0" anchor="ctr">
            <a:noAutofit/>
          </a:bodyPr>
          <a:lstStyle/>
          <a:p>
            <a:pPr algn="l">
              <a:lnSpc>
                <a:spcPct val="110000"/>
              </a:lnSpc>
            </a:pPr>
            <a:r>
              <a:rPr sz="1000" b="1" i="0">
                <a:solidFill>
                  <a:srgbClr val="15201B"/>
                </a:solidFill>
                <a:latin typeface="DM Sans"/>
                <a:ea typeface="DM Sans"/>
                <a:cs typeface="DM Sans"/>
              </a:rPr>
              <a:t>Course material</a:t>
            </a:r>
          </a:p>
          <a:p>
            <a:pPr algn="l">
              <a:lnSpc>
                <a:spcPct val="110000"/>
              </a:lnSpc>
            </a:pPr>
            <a:r>
              <a:rPr sz="1000" b="0" i="0">
                <a:solidFill>
                  <a:srgbClr val="5B6561"/>
                </a:solidFill>
                <a:latin typeface="DM Sans"/>
                <a:ea typeface="DM Sans"/>
                <a:cs typeface="DM Sans"/>
              </a:rPr>
              <a:t>(teacher upload)</a:t>
            </a:r>
          </a:p>
        </p:txBody>
      </p:sp>
      <p:sp>
        <p:nvSpPr>
          <p:cNvPr id="27" name="Arrow"/>
          <p:cNvSpPr/>
          <p:nvPr/>
        </p:nvSpPr>
        <p:spPr>
          <a:xfrm>
            <a:off x="7861300" y="5740400"/>
            <a:ext cx="190500" cy="114300"/>
          </a:xfrm>
          <a:prstGeom prst="rightArrow">
            <a:avLst/>
          </a:prstGeom>
          <a:solidFill>
            <a:srgbClr val="2E7A62"/>
          </a:solidFill>
          <a:ln>
            <a:noFill/>
          </a:ln>
        </p:spPr>
        <p:txBody>
          <a:bodyPr rtlCol="0" anchor="ctr"/>
          <a:lstStyle/>
          <a:p>
            <a:pPr algn="ctr"/>
          </a:p>
        </p:txBody>
      </p:sp>
      <p:sp>
        <p:nvSpPr>
          <p:cNvPr id="28" name="Flow step"/>
          <p:cNvSpPr/>
          <p:nvPr/>
        </p:nvSpPr>
        <p:spPr>
          <a:xfrm>
            <a:off x="8178800" y="5511800"/>
            <a:ext cx="1676400" cy="584200"/>
          </a:xfrm>
          <a:prstGeom prst="roundRect">
            <a:avLst>
              <a:gd name="adj" fmla="val 19565"/>
            </a:avLst>
          </a:prstGeom>
          <a:solidFill>
            <a:srgbClr val="E3EFE7"/>
          </a:solidFill>
          <a:ln>
            <a:noFill/>
          </a:ln>
        </p:spPr>
        <p:txBody>
          <a:bodyPr rtlCol="0" anchor="ctr"/>
          <a:lstStyle/>
          <a:p>
            <a:pPr algn="ctr"/>
          </a:p>
        </p:txBody>
      </p:sp>
      <p:sp>
        <p:nvSpPr>
          <p:cNvPr id="29" name="Oval 28"/>
          <p:cNvSpPr/>
          <p:nvPr/>
        </p:nvSpPr>
        <p:spPr>
          <a:xfrm>
            <a:off x="8280400" y="5638800"/>
            <a:ext cx="330200" cy="330200"/>
          </a:xfrm>
          <a:prstGeom prst="ellipse">
            <a:avLst/>
          </a:prstGeom>
          <a:solidFill>
            <a:srgbClr val="FFFFFF"/>
          </a:solidFill>
          <a:ln>
            <a:noFill/>
          </a:ln>
        </p:spPr>
        <p:txBody>
          <a:bodyPr rtlCol="0" anchor="ctr"/>
          <a:lstStyle/>
          <a:p>
            <a:pPr algn="ctr"/>
          </a:p>
        </p:txBody>
      </p:sp>
      <p:pic>
        <p:nvPicPr>
          <p:cNvPr id="30" name="Icon LuSparkles" descr="lu_LuSparkles_2E7A62.png"/>
          <p:cNvPicPr>
            <a:picLocks noChangeAspect="1"/>
          </p:cNvPicPr>
          <p:nvPr/>
        </p:nvPicPr>
        <p:blipFill>
          <a:blip r:embed="rId10"/>
          <a:stretch>
            <a:fillRect/>
          </a:stretch>
        </p:blipFill>
        <p:spPr>
          <a:xfrm>
            <a:off x="8356600" y="5715000"/>
            <a:ext cx="177800" cy="177800"/>
          </a:xfrm>
          <a:prstGeom prst="rect">
            <a:avLst/>
          </a:prstGeom>
        </p:spPr>
      </p:pic>
      <p:sp>
        <p:nvSpPr>
          <p:cNvPr id="31" name="TextBox 30"/>
          <p:cNvSpPr txBox="1"/>
          <p:nvPr/>
        </p:nvSpPr>
        <p:spPr>
          <a:xfrm>
            <a:off x="8686800" y="5511800"/>
            <a:ext cx="1143000" cy="584200"/>
          </a:xfrm>
          <a:prstGeom prst="rect">
            <a:avLst/>
          </a:prstGeom>
          <a:noFill/>
        </p:spPr>
        <p:txBody>
          <a:bodyPr wrap="square" lIns="0" rIns="0" tIns="0" bIns="0" anchor="ctr">
            <a:noAutofit/>
          </a:bodyPr>
          <a:lstStyle/>
          <a:p>
            <a:pPr algn="l">
              <a:lnSpc>
                <a:spcPct val="110000"/>
              </a:lnSpc>
            </a:pPr>
            <a:r>
              <a:rPr sz="1000" b="1" i="0">
                <a:solidFill>
                  <a:srgbClr val="15201B"/>
                </a:solidFill>
                <a:latin typeface="DM Sans"/>
                <a:ea typeface="DM Sans"/>
                <a:cs typeface="DM Sans"/>
              </a:rPr>
              <a:t>AI proposes</a:t>
            </a:r>
          </a:p>
          <a:p>
            <a:pPr algn="l">
              <a:lnSpc>
                <a:spcPct val="110000"/>
              </a:lnSpc>
            </a:pPr>
            <a:r>
              <a:rPr sz="1000" b="0" i="0">
                <a:solidFill>
                  <a:srgbClr val="5B6561"/>
                </a:solidFill>
                <a:latin typeface="DM Sans"/>
                <a:ea typeface="DM Sans"/>
                <a:cs typeface="DM Sans"/>
              </a:rPr>
              <a:t>(teacher reviews)</a:t>
            </a:r>
          </a:p>
        </p:txBody>
      </p:sp>
      <p:sp>
        <p:nvSpPr>
          <p:cNvPr id="32" name="Arrow"/>
          <p:cNvSpPr/>
          <p:nvPr/>
        </p:nvSpPr>
        <p:spPr>
          <a:xfrm>
            <a:off x="9893300" y="5740400"/>
            <a:ext cx="190500" cy="114300"/>
          </a:xfrm>
          <a:prstGeom prst="rightArrow">
            <a:avLst/>
          </a:prstGeom>
          <a:solidFill>
            <a:srgbClr val="2E7A62"/>
          </a:solidFill>
          <a:ln>
            <a:noFill/>
          </a:ln>
        </p:spPr>
        <p:txBody>
          <a:bodyPr rtlCol="0" anchor="ctr"/>
          <a:lstStyle/>
          <a:p>
            <a:pPr algn="ctr"/>
          </a:p>
        </p:txBody>
      </p:sp>
      <p:sp>
        <p:nvSpPr>
          <p:cNvPr id="33" name="Flow step"/>
          <p:cNvSpPr/>
          <p:nvPr/>
        </p:nvSpPr>
        <p:spPr>
          <a:xfrm>
            <a:off x="10210800" y="5511800"/>
            <a:ext cx="1676400" cy="584200"/>
          </a:xfrm>
          <a:prstGeom prst="roundRect">
            <a:avLst>
              <a:gd name="adj" fmla="val 19565"/>
            </a:avLst>
          </a:prstGeom>
          <a:solidFill>
            <a:srgbClr val="CFE3D7"/>
          </a:solidFill>
          <a:ln>
            <a:noFill/>
          </a:ln>
        </p:spPr>
        <p:txBody>
          <a:bodyPr rtlCol="0" anchor="ctr"/>
          <a:lstStyle/>
          <a:p>
            <a:pPr algn="ctr"/>
          </a:p>
        </p:txBody>
      </p:sp>
      <p:sp>
        <p:nvSpPr>
          <p:cNvPr id="34" name="Oval 33"/>
          <p:cNvSpPr/>
          <p:nvPr/>
        </p:nvSpPr>
        <p:spPr>
          <a:xfrm>
            <a:off x="10312400" y="5638800"/>
            <a:ext cx="330200" cy="330200"/>
          </a:xfrm>
          <a:prstGeom prst="ellipse">
            <a:avLst/>
          </a:prstGeom>
          <a:solidFill>
            <a:srgbClr val="FFFFFF"/>
          </a:solidFill>
          <a:ln>
            <a:noFill/>
          </a:ln>
        </p:spPr>
        <p:txBody>
          <a:bodyPr rtlCol="0" anchor="ctr"/>
          <a:lstStyle/>
          <a:p>
            <a:pPr algn="ctr"/>
          </a:p>
        </p:txBody>
      </p:sp>
      <p:pic>
        <p:nvPicPr>
          <p:cNvPr id="35" name="Icon LuCircleCheckBig" descr="lu_LuCircleCheckBig_1B4236.png"/>
          <p:cNvPicPr>
            <a:picLocks noChangeAspect="1"/>
          </p:cNvPicPr>
          <p:nvPr/>
        </p:nvPicPr>
        <p:blipFill>
          <a:blip r:embed="rId11"/>
          <a:stretch>
            <a:fillRect/>
          </a:stretch>
        </p:blipFill>
        <p:spPr>
          <a:xfrm>
            <a:off x="10388600" y="5715000"/>
            <a:ext cx="177800" cy="177800"/>
          </a:xfrm>
          <a:prstGeom prst="rect">
            <a:avLst/>
          </a:prstGeom>
        </p:spPr>
      </p:pic>
      <p:sp>
        <p:nvSpPr>
          <p:cNvPr id="36" name="TextBox 35"/>
          <p:cNvSpPr txBox="1"/>
          <p:nvPr/>
        </p:nvSpPr>
        <p:spPr>
          <a:xfrm>
            <a:off x="10718800" y="5511800"/>
            <a:ext cx="1143000" cy="584200"/>
          </a:xfrm>
          <a:prstGeom prst="rect">
            <a:avLst/>
          </a:prstGeom>
          <a:noFill/>
        </p:spPr>
        <p:txBody>
          <a:bodyPr wrap="square" lIns="0" rIns="0" tIns="0" bIns="0" anchor="ctr">
            <a:noAutofit/>
          </a:bodyPr>
          <a:lstStyle/>
          <a:p>
            <a:pPr algn="l">
              <a:lnSpc>
                <a:spcPct val="110000"/>
              </a:lnSpc>
            </a:pPr>
            <a:r>
              <a:rPr sz="1000" b="1" i="0">
                <a:solidFill>
                  <a:srgbClr val="15201B"/>
                </a:solidFill>
                <a:latin typeface="DM Sans"/>
                <a:ea typeface="DM Sans"/>
                <a:cs typeface="DM Sans"/>
              </a:rPr>
              <a:t>Approved lesson</a:t>
            </a:r>
          </a:p>
          <a:p>
            <a:pPr algn="l">
              <a:lnSpc>
                <a:spcPct val="110000"/>
              </a:lnSpc>
            </a:pPr>
            <a:r>
              <a:rPr sz="1000" b="0" i="0">
                <a:solidFill>
                  <a:srgbClr val="5B6561"/>
                </a:solidFill>
                <a:latin typeface="DM Sans"/>
                <a:ea typeface="DM Sans"/>
                <a:cs typeface="DM Sans"/>
              </a:rPr>
              <a:t>(for students)</a:t>
            </a:r>
          </a:p>
        </p:txBody>
      </p:sp>
      <p:sp>
        <p:nvSpPr>
          <p:cNvPr id="37"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Sam works through the question with a tutor</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STEP 2 · STUDENT LEARNS</a:t>
            </a:r>
          </a:p>
        </p:txBody>
      </p:sp>
      <p:sp>
        <p:nvSpPr>
          <p:cNvPr id="5" name="Subtitle"/>
          <p:cNvSpPr txBox="1"/>
          <p:nvPr/>
        </p:nvSpPr>
        <p:spPr>
          <a:xfrm>
            <a:off x="558800" y="1219200"/>
            <a:ext cx="11049000" cy="292100"/>
          </a:xfrm>
          <a:prstGeom prst="rect">
            <a:avLst/>
          </a:prstGeom>
          <a:noFill/>
        </p:spPr>
        <p:txBody>
          <a:bodyPr wrap="square" lIns="0" rIns="0" tIns="0" bIns="0" anchor="t">
            <a:noAutofit/>
          </a:bodyPr>
          <a:lstStyle/>
          <a:p>
            <a:pPr algn="l"/>
            <a:r>
              <a:rPr sz="1500" b="0" i="0">
                <a:solidFill>
                  <a:srgbClr val="7D8783"/>
                </a:solidFill>
                <a:latin typeface="DM Sans"/>
                <a:ea typeface="DM Sans"/>
                <a:cs typeface="DM Sans"/>
              </a:rPr>
              <a:t>An AI tutor guides Sam with hints, not answers, and records the learning process.</a:t>
            </a:r>
          </a:p>
        </p:txBody>
      </p:sp>
      <p:sp>
        <p:nvSpPr>
          <p:cNvPr id="6" name="Row"/>
          <p:cNvSpPr/>
          <p:nvPr/>
        </p:nvSpPr>
        <p:spPr>
          <a:xfrm>
            <a:off x="279400" y="1752600"/>
            <a:ext cx="3937000" cy="1295400"/>
          </a:xfrm>
          <a:prstGeom prst="roundRect">
            <a:avLst>
              <a:gd name="adj" fmla="val 1078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7" name="Icon circle"/>
          <p:cNvSpPr/>
          <p:nvPr/>
        </p:nvSpPr>
        <p:spPr>
          <a:xfrm>
            <a:off x="444500" y="1981200"/>
            <a:ext cx="838200" cy="838200"/>
          </a:xfrm>
          <a:prstGeom prst="ellipse">
            <a:avLst/>
          </a:prstGeom>
          <a:solidFill>
            <a:srgbClr val="E3EFE8"/>
          </a:solidFill>
          <a:ln>
            <a:noFill/>
          </a:ln>
        </p:spPr>
        <p:txBody>
          <a:bodyPr rtlCol="0" anchor="ctr"/>
          <a:lstStyle/>
          <a:p>
            <a:pPr algn="ctr"/>
          </a:p>
        </p:txBody>
      </p:sp>
      <p:pic>
        <p:nvPicPr>
          <p:cNvPr id="8" name="Icon LuMessagesSquare" descr="lu_LuMessagesSquare_2E7A62.png"/>
          <p:cNvPicPr>
            <a:picLocks noChangeAspect="1"/>
          </p:cNvPicPr>
          <p:nvPr/>
        </p:nvPicPr>
        <p:blipFill>
          <a:blip r:embed="rId6"/>
          <a:stretch>
            <a:fillRect/>
          </a:stretch>
        </p:blipFill>
        <p:spPr>
          <a:xfrm>
            <a:off x="670814" y="2207514"/>
            <a:ext cx="385572" cy="385572"/>
          </a:xfrm>
          <a:prstGeom prst="rect">
            <a:avLst/>
          </a:prstGeom>
        </p:spPr>
      </p:pic>
      <p:sp>
        <p:nvSpPr>
          <p:cNvPr id="9" name="TextBox 8"/>
          <p:cNvSpPr txBox="1"/>
          <p:nvPr/>
        </p:nvSpPr>
        <p:spPr>
          <a:xfrm>
            <a:off x="1447800" y="1968500"/>
            <a:ext cx="2667000" cy="317500"/>
          </a:xfrm>
          <a:prstGeom prst="rect">
            <a:avLst/>
          </a:prstGeom>
          <a:noFill/>
        </p:spPr>
        <p:txBody>
          <a:bodyPr wrap="square" lIns="0" rIns="0" tIns="0" bIns="0" anchor="t">
            <a:noAutofit/>
          </a:bodyPr>
          <a:lstStyle/>
          <a:p>
            <a:pPr algn="l"/>
            <a:r>
              <a:rPr sz="1800" b="0" i="0">
                <a:solidFill>
                  <a:srgbClr val="15201B"/>
                </a:solidFill>
                <a:latin typeface="Newsreader"/>
                <a:ea typeface="Newsreader"/>
                <a:cs typeface="Newsreader"/>
              </a:rPr>
              <a:t>Ask or answer</a:t>
            </a:r>
          </a:p>
        </p:txBody>
      </p:sp>
      <p:sp>
        <p:nvSpPr>
          <p:cNvPr id="10" name="TextBox 9"/>
          <p:cNvSpPr txBox="1"/>
          <p:nvPr/>
        </p:nvSpPr>
        <p:spPr>
          <a:xfrm>
            <a:off x="1447800" y="2298700"/>
            <a:ext cx="2667000" cy="6985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The tutor tells a help request from</a:t>
            </a:r>
            <a:br>
              <a:rPr sz="1250"/>
            </a:br>
            <a:r>
              <a:rPr sz="1250" b="0" i="0">
                <a:solidFill>
                  <a:srgbClr val="5B6561"/>
                </a:solidFill>
                <a:latin typeface="DM Sans"/>
                <a:ea typeface="DM Sans"/>
                <a:cs typeface="DM Sans"/>
              </a:rPr>
              <a:t>an answer, and asks if it’s unclear.</a:t>
            </a:r>
          </a:p>
        </p:txBody>
      </p:sp>
      <p:sp>
        <p:nvSpPr>
          <p:cNvPr id="11" name="Row"/>
          <p:cNvSpPr/>
          <p:nvPr/>
        </p:nvSpPr>
        <p:spPr>
          <a:xfrm>
            <a:off x="279400" y="3175000"/>
            <a:ext cx="3937000" cy="1295400"/>
          </a:xfrm>
          <a:prstGeom prst="roundRect">
            <a:avLst>
              <a:gd name="adj" fmla="val 1078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12" name="Icon circle"/>
          <p:cNvSpPr/>
          <p:nvPr/>
        </p:nvSpPr>
        <p:spPr>
          <a:xfrm>
            <a:off x="444500" y="3403600"/>
            <a:ext cx="838200" cy="838200"/>
          </a:xfrm>
          <a:prstGeom prst="ellipse">
            <a:avLst/>
          </a:prstGeom>
          <a:solidFill>
            <a:srgbClr val="E3EFE8"/>
          </a:solidFill>
          <a:ln>
            <a:noFill/>
          </a:ln>
        </p:spPr>
        <p:txBody>
          <a:bodyPr rtlCol="0" anchor="ctr"/>
          <a:lstStyle/>
          <a:p>
            <a:pPr algn="ctr"/>
          </a:p>
        </p:txBody>
      </p:sp>
      <p:pic>
        <p:nvPicPr>
          <p:cNvPr id="13" name="Icon LuLightbulb" descr="lu_LuLightbulb_C9902E.png"/>
          <p:cNvPicPr>
            <a:picLocks noChangeAspect="1"/>
          </p:cNvPicPr>
          <p:nvPr/>
        </p:nvPicPr>
        <p:blipFill>
          <a:blip r:embed="rId7"/>
          <a:stretch>
            <a:fillRect/>
          </a:stretch>
        </p:blipFill>
        <p:spPr>
          <a:xfrm>
            <a:off x="670814" y="3629914"/>
            <a:ext cx="385572" cy="385572"/>
          </a:xfrm>
          <a:prstGeom prst="rect">
            <a:avLst/>
          </a:prstGeom>
        </p:spPr>
      </p:pic>
      <p:sp>
        <p:nvSpPr>
          <p:cNvPr id="14" name="TextBox 13"/>
          <p:cNvSpPr txBox="1"/>
          <p:nvPr/>
        </p:nvSpPr>
        <p:spPr>
          <a:xfrm>
            <a:off x="1447800" y="3390900"/>
            <a:ext cx="2667000" cy="317500"/>
          </a:xfrm>
          <a:prstGeom prst="rect">
            <a:avLst/>
          </a:prstGeom>
          <a:noFill/>
        </p:spPr>
        <p:txBody>
          <a:bodyPr wrap="square" lIns="0" rIns="0" tIns="0" bIns="0" anchor="t">
            <a:noAutofit/>
          </a:bodyPr>
          <a:lstStyle/>
          <a:p>
            <a:pPr algn="l"/>
            <a:r>
              <a:rPr sz="1800" b="0" i="0">
                <a:solidFill>
                  <a:srgbClr val="15201B"/>
                </a:solidFill>
                <a:latin typeface="Newsreader"/>
                <a:ea typeface="Newsreader"/>
                <a:cs typeface="Newsreader"/>
              </a:rPr>
              <a:t>Hints, not answers</a:t>
            </a:r>
          </a:p>
        </p:txBody>
      </p:sp>
      <p:sp>
        <p:nvSpPr>
          <p:cNvPr id="15" name="TextBox 14"/>
          <p:cNvSpPr txBox="1"/>
          <p:nvPr/>
        </p:nvSpPr>
        <p:spPr>
          <a:xfrm>
            <a:off x="1447800" y="3721100"/>
            <a:ext cx="2667000" cy="6985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It separates the two ideas and</a:t>
            </a:r>
            <a:br>
              <a:rPr sz="1250"/>
            </a:br>
            <a:r>
              <a:rPr sz="1250" b="0" i="0">
                <a:solidFill>
                  <a:srgbClr val="5B6561"/>
                </a:solidFill>
                <a:latin typeface="DM Sans"/>
                <a:ea typeface="DM Sans"/>
                <a:cs typeface="DM Sans"/>
              </a:rPr>
              <a:t>points Sam back to the reading.</a:t>
            </a:r>
          </a:p>
        </p:txBody>
      </p:sp>
      <p:sp>
        <p:nvSpPr>
          <p:cNvPr id="16" name="Row"/>
          <p:cNvSpPr/>
          <p:nvPr/>
        </p:nvSpPr>
        <p:spPr>
          <a:xfrm>
            <a:off x="279400" y="4597400"/>
            <a:ext cx="3937000" cy="1295400"/>
          </a:xfrm>
          <a:prstGeom prst="roundRect">
            <a:avLst>
              <a:gd name="adj" fmla="val 10784"/>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17" name="Icon circle"/>
          <p:cNvSpPr/>
          <p:nvPr/>
        </p:nvSpPr>
        <p:spPr>
          <a:xfrm>
            <a:off x="444500" y="4826000"/>
            <a:ext cx="838200" cy="838200"/>
          </a:xfrm>
          <a:prstGeom prst="ellipse">
            <a:avLst/>
          </a:prstGeom>
          <a:solidFill>
            <a:srgbClr val="E3EFE8"/>
          </a:solidFill>
          <a:ln>
            <a:noFill/>
          </a:ln>
        </p:spPr>
        <p:txBody>
          <a:bodyPr rtlCol="0" anchor="ctr"/>
          <a:lstStyle/>
          <a:p>
            <a:pPr algn="ctr"/>
          </a:p>
        </p:txBody>
      </p:sp>
      <p:pic>
        <p:nvPicPr>
          <p:cNvPr id="18" name="Icon LuFiles" descr="lu_LuFiles_2E7A62.png"/>
          <p:cNvPicPr>
            <a:picLocks noChangeAspect="1"/>
          </p:cNvPicPr>
          <p:nvPr/>
        </p:nvPicPr>
        <p:blipFill>
          <a:blip r:embed="rId8"/>
          <a:stretch>
            <a:fillRect/>
          </a:stretch>
        </p:blipFill>
        <p:spPr>
          <a:xfrm>
            <a:off x="670814" y="5052314"/>
            <a:ext cx="385572" cy="385572"/>
          </a:xfrm>
          <a:prstGeom prst="rect">
            <a:avLst/>
          </a:prstGeom>
        </p:spPr>
      </p:pic>
      <p:sp>
        <p:nvSpPr>
          <p:cNvPr id="19" name="TextBox 18"/>
          <p:cNvSpPr txBox="1"/>
          <p:nvPr/>
        </p:nvSpPr>
        <p:spPr>
          <a:xfrm>
            <a:off x="1447800" y="4813300"/>
            <a:ext cx="2667000" cy="317500"/>
          </a:xfrm>
          <a:prstGeom prst="rect">
            <a:avLst/>
          </a:prstGeom>
          <a:noFill/>
        </p:spPr>
        <p:txBody>
          <a:bodyPr wrap="square" lIns="0" rIns="0" tIns="0" bIns="0" anchor="t">
            <a:noAutofit/>
          </a:bodyPr>
          <a:lstStyle/>
          <a:p>
            <a:pPr algn="l"/>
            <a:r>
              <a:rPr sz="1800" b="0" i="0">
                <a:solidFill>
                  <a:srgbClr val="15201B"/>
                </a:solidFill>
                <a:latin typeface="Newsreader"/>
                <a:ea typeface="Newsreader"/>
                <a:cs typeface="Newsreader"/>
              </a:rPr>
              <a:t>Everything is saved</a:t>
            </a:r>
          </a:p>
        </p:txBody>
      </p:sp>
      <p:sp>
        <p:nvSpPr>
          <p:cNvPr id="20" name="TextBox 19"/>
          <p:cNvSpPr txBox="1"/>
          <p:nvPr/>
        </p:nvSpPr>
        <p:spPr>
          <a:xfrm>
            <a:off x="1447800" y="5143500"/>
            <a:ext cx="2667000" cy="698500"/>
          </a:xfrm>
          <a:prstGeom prst="rect">
            <a:avLst/>
          </a:prstGeom>
          <a:noFill/>
        </p:spPr>
        <p:txBody>
          <a:bodyPr wrap="square" lIns="0" rIns="0" tIns="0" bIns="0" anchor="t">
            <a:noAutofit/>
          </a:bodyPr>
          <a:lstStyle/>
          <a:p>
            <a:pPr algn="l">
              <a:lnSpc>
                <a:spcPct val="112000"/>
              </a:lnSpc>
            </a:pPr>
            <a:r>
              <a:rPr sz="1250" b="0" i="0">
                <a:solidFill>
                  <a:srgbClr val="5B6561"/>
                </a:solidFill>
                <a:latin typeface="DM Sans"/>
                <a:ea typeface="DM Sans"/>
                <a:cs typeface="DM Sans"/>
              </a:rPr>
              <a:t>Sam’s own words and the help</a:t>
            </a:r>
            <a:br>
              <a:rPr sz="1250"/>
            </a:br>
            <a:r>
              <a:rPr sz="1250" b="0" i="0">
                <a:solidFill>
                  <a:srgbClr val="5B6561"/>
                </a:solidFill>
                <a:latin typeface="DM Sans"/>
                <a:ea typeface="DM Sans"/>
                <a:cs typeface="DM Sans"/>
              </a:rPr>
              <a:t>actually shown are recorded</a:t>
            </a:r>
            <a:br>
              <a:rPr sz="1250"/>
            </a:br>
            <a:r>
              <a:rPr sz="1250" b="0" i="0">
                <a:solidFill>
                  <a:srgbClr val="5B6561"/>
                </a:solidFill>
                <a:latin typeface="DM Sans"/>
                <a:ea typeface="DM Sans"/>
                <a:cs typeface="DM Sans"/>
              </a:rPr>
              <a:t>as evidence.</a:t>
            </a:r>
          </a:p>
        </p:txBody>
      </p:sp>
      <p:sp>
        <p:nvSpPr>
          <p:cNvPr id="21" name="Label pill"/>
          <p:cNvSpPr/>
          <p:nvPr/>
        </p:nvSpPr>
        <p:spPr>
          <a:xfrm>
            <a:off x="4470400" y="1600200"/>
            <a:ext cx="1714500" cy="342900"/>
          </a:xfrm>
          <a:prstGeom prst="roundRect">
            <a:avLst>
              <a:gd name="adj" fmla="val 50000"/>
            </a:avLst>
          </a:prstGeom>
          <a:solidFill>
            <a:srgbClr val="DCEDE3"/>
          </a:solidFill>
          <a:ln>
            <a:noFill/>
          </a:ln>
        </p:spPr>
        <p:txBody>
          <a:bodyPr rtlCol="0" anchor="ctr"/>
          <a:lstStyle/>
          <a:p>
            <a:pPr algn="ctr"/>
          </a:p>
        </p:txBody>
      </p:sp>
      <p:sp>
        <p:nvSpPr>
          <p:cNvPr id="22" name="Oval 21"/>
          <p:cNvSpPr/>
          <p:nvPr/>
        </p:nvSpPr>
        <p:spPr>
          <a:xfrm>
            <a:off x="4508500" y="1631950"/>
            <a:ext cx="279400" cy="279400"/>
          </a:xfrm>
          <a:prstGeom prst="ellipse">
            <a:avLst/>
          </a:prstGeom>
          <a:solidFill>
            <a:srgbClr val="1F4D3E"/>
          </a:solidFill>
          <a:ln>
            <a:noFill/>
          </a:ln>
        </p:spPr>
        <p:txBody>
          <a:bodyPr rtlCol="0" anchor="ctr"/>
          <a:lstStyle/>
          <a:p>
            <a:pPr algn="ctr"/>
          </a:p>
        </p:txBody>
      </p:sp>
      <p:pic>
        <p:nvPicPr>
          <p:cNvPr id="23" name="Icon LuUser" descr="lu_LuUser_FFFFFF.png"/>
          <p:cNvPicPr>
            <a:picLocks noChangeAspect="1"/>
          </p:cNvPicPr>
          <p:nvPr/>
        </p:nvPicPr>
        <p:blipFill>
          <a:blip r:embed="rId9"/>
          <a:stretch>
            <a:fillRect/>
          </a:stretch>
        </p:blipFill>
        <p:spPr>
          <a:xfrm>
            <a:off x="4572000" y="1695450"/>
            <a:ext cx="152400" cy="152400"/>
          </a:xfrm>
          <a:prstGeom prst="rect">
            <a:avLst/>
          </a:prstGeom>
        </p:spPr>
      </p:pic>
      <p:sp>
        <p:nvSpPr>
          <p:cNvPr id="24" name="TextBox 23"/>
          <p:cNvSpPr txBox="1"/>
          <p:nvPr/>
        </p:nvSpPr>
        <p:spPr>
          <a:xfrm>
            <a:off x="4851400" y="1600200"/>
            <a:ext cx="1270000" cy="342900"/>
          </a:xfrm>
          <a:prstGeom prst="rect">
            <a:avLst/>
          </a:prstGeom>
          <a:noFill/>
        </p:spPr>
        <p:txBody>
          <a:bodyPr wrap="square" lIns="0" rIns="0" tIns="0" bIns="0" anchor="ctr">
            <a:noAutofit/>
          </a:bodyPr>
          <a:lstStyle/>
          <a:p>
            <a:pPr algn="l"/>
            <a:r>
              <a:rPr sz="1050" b="1" i="0" spc="150">
                <a:solidFill>
                  <a:srgbClr val="1B4236"/>
                </a:solidFill>
                <a:latin typeface="DM Sans"/>
                <a:ea typeface="DM Sans"/>
                <a:cs typeface="DM Sans"/>
              </a:rPr>
              <a:t>STUDENT VIEW</a:t>
            </a:r>
          </a:p>
        </p:txBody>
      </p:sp>
      <p:sp>
        <p:nvSpPr>
          <p:cNvPr id="25" name="Screenshot frame"/>
          <p:cNvSpPr/>
          <p:nvPr/>
        </p:nvSpPr>
        <p:spPr>
          <a:xfrm>
            <a:off x="4445000" y="2019300"/>
            <a:ext cx="4000500" cy="3683000"/>
          </a:xfrm>
          <a:prstGeom prst="roundRect">
            <a:avLst>
              <a:gd name="adj" fmla="val 3448"/>
            </a:avLst>
          </a:prstGeom>
          <a:solidFill>
            <a:srgbClr val="FFFFFF"/>
          </a:solidFill>
          <a:ln>
            <a:noFill/>
          </a:ln>
          <a:effectLst>
            <a:outerShdw blurRad="279400" dist="50800" dir="5400000" algn="t" rotWithShape="0">
              <a:srgbClr val="1B3A30">
                <a:alpha val="9000"/>
              </a:srgbClr>
            </a:outerShdw>
          </a:effectLst>
        </p:spPr>
        <p:txBody>
          <a:bodyPr rtlCol="0" anchor="ctr"/>
          <a:lstStyle/>
          <a:p>
            <a:pPr algn="ctr"/>
          </a:p>
        </p:txBody>
      </p:sp>
      <p:pic>
        <p:nvPicPr>
          <p:cNvPr id="26" name="Student question screenshot" descr="question.png"/>
          <p:cNvPicPr>
            <a:picLocks noChangeAspect="1"/>
          </p:cNvPicPr>
          <p:nvPr/>
        </p:nvPicPr>
        <p:blipFill>
          <a:blip r:embed="rId10"/>
          <a:stretch>
            <a:fillRect/>
          </a:stretch>
        </p:blipFill>
        <p:spPr>
          <a:xfrm>
            <a:off x="4612378" y="2120900"/>
            <a:ext cx="3665744" cy="3479800"/>
          </a:xfrm>
          <a:prstGeom prst="rect">
            <a:avLst/>
          </a:prstGeom>
        </p:spPr>
      </p:pic>
      <p:sp>
        <p:nvSpPr>
          <p:cNvPr id="27" name="Label pill"/>
          <p:cNvSpPr/>
          <p:nvPr/>
        </p:nvSpPr>
        <p:spPr>
          <a:xfrm>
            <a:off x="8547100" y="1600200"/>
            <a:ext cx="3175000" cy="342900"/>
          </a:xfrm>
          <a:prstGeom prst="roundRect">
            <a:avLst>
              <a:gd name="adj" fmla="val 50000"/>
            </a:avLst>
          </a:prstGeom>
          <a:solidFill>
            <a:srgbClr val="F6E5C6"/>
          </a:solidFill>
          <a:ln>
            <a:noFill/>
          </a:ln>
        </p:spPr>
        <p:txBody>
          <a:bodyPr rtlCol="0" anchor="ctr"/>
          <a:lstStyle/>
          <a:p>
            <a:pPr algn="ctr"/>
          </a:p>
        </p:txBody>
      </p:sp>
      <p:sp>
        <p:nvSpPr>
          <p:cNvPr id="28" name="Oval 27"/>
          <p:cNvSpPr/>
          <p:nvPr/>
        </p:nvSpPr>
        <p:spPr>
          <a:xfrm>
            <a:off x="8610600" y="1631950"/>
            <a:ext cx="279400" cy="279400"/>
          </a:xfrm>
          <a:prstGeom prst="ellipse">
            <a:avLst/>
          </a:prstGeom>
          <a:solidFill>
            <a:srgbClr val="B7792A"/>
          </a:solidFill>
          <a:ln>
            <a:noFill/>
          </a:ln>
        </p:spPr>
        <p:txBody>
          <a:bodyPr rtlCol="0" anchor="ctr"/>
          <a:lstStyle/>
          <a:p>
            <a:pPr algn="ctr"/>
          </a:p>
        </p:txBody>
      </p:sp>
      <p:pic>
        <p:nvPicPr>
          <p:cNvPr id="29" name="Icon LuNotebookPen" descr="lu_LuNotebookPen_FFFFFF.png"/>
          <p:cNvPicPr>
            <a:picLocks noChangeAspect="1"/>
          </p:cNvPicPr>
          <p:nvPr/>
        </p:nvPicPr>
        <p:blipFill>
          <a:blip r:embed="rId11"/>
          <a:stretch>
            <a:fillRect/>
          </a:stretch>
        </p:blipFill>
        <p:spPr>
          <a:xfrm>
            <a:off x="8674100" y="1695450"/>
            <a:ext cx="152400" cy="152400"/>
          </a:xfrm>
          <a:prstGeom prst="rect">
            <a:avLst/>
          </a:prstGeom>
        </p:spPr>
      </p:pic>
      <p:sp>
        <p:nvSpPr>
          <p:cNvPr id="30" name="TextBox 29"/>
          <p:cNvSpPr txBox="1"/>
          <p:nvPr/>
        </p:nvSpPr>
        <p:spPr>
          <a:xfrm>
            <a:off x="8953500" y="1600200"/>
            <a:ext cx="2730500" cy="342900"/>
          </a:xfrm>
          <a:prstGeom prst="rect">
            <a:avLst/>
          </a:prstGeom>
          <a:noFill/>
        </p:spPr>
        <p:txBody>
          <a:bodyPr wrap="square" lIns="0" rIns="0" tIns="0" bIns="0" anchor="ctr">
            <a:noAutofit/>
          </a:bodyPr>
          <a:lstStyle/>
          <a:p>
            <a:pPr algn="l"/>
            <a:r>
              <a:rPr sz="1000" b="1" i="0" spc="150">
                <a:solidFill>
                  <a:srgbClr val="7A4F0E"/>
                </a:solidFill>
                <a:latin typeface="DM Sans"/>
                <a:ea typeface="DM Sans"/>
                <a:cs typeface="DM Sans"/>
              </a:rPr>
              <a:t>RECORDED FOR THE TEACHER</a:t>
            </a:r>
          </a:p>
        </p:txBody>
      </p:sp>
      <p:sp>
        <p:nvSpPr>
          <p:cNvPr id="31" name="Panel"/>
          <p:cNvSpPr/>
          <p:nvPr/>
        </p:nvSpPr>
        <p:spPr>
          <a:xfrm>
            <a:off x="8547100" y="2019300"/>
            <a:ext cx="3365500" cy="3683000"/>
          </a:xfrm>
          <a:prstGeom prst="roundRect">
            <a:avLst>
              <a:gd name="adj" fmla="val 3773"/>
            </a:avLst>
          </a:prstGeom>
          <a:solidFill>
            <a:srgbClr val="FFFFFF"/>
          </a:solidFill>
          <a:ln>
            <a:noFill/>
          </a:ln>
          <a:effectLst>
            <a:outerShdw blurRad="279400" dist="50800" dir="5400000" algn="t" rotWithShape="0">
              <a:srgbClr val="1B3A30">
                <a:alpha val="9000"/>
              </a:srgbClr>
            </a:outerShdw>
          </a:effectLst>
        </p:spPr>
        <p:txBody>
          <a:bodyPr rtlCol="0" anchor="ctr"/>
          <a:lstStyle/>
          <a:p>
            <a:pPr algn="ctr"/>
          </a:p>
        </p:txBody>
      </p:sp>
      <p:pic>
        <p:nvPicPr>
          <p:cNvPr id="32" name="Tutor help screenshot" descr="help.png"/>
          <p:cNvPicPr>
            <a:picLocks noChangeAspect="1"/>
          </p:cNvPicPr>
          <p:nvPr/>
        </p:nvPicPr>
        <p:blipFill>
          <a:blip r:embed="rId12"/>
          <a:stretch>
            <a:fillRect/>
          </a:stretch>
        </p:blipFill>
        <p:spPr>
          <a:xfrm>
            <a:off x="8648700" y="2109793"/>
            <a:ext cx="3162300" cy="2435215"/>
          </a:xfrm>
          <a:prstGeom prst="rect">
            <a:avLst/>
          </a:prstGeom>
        </p:spPr>
      </p:pic>
      <p:pic>
        <p:nvPicPr>
          <p:cNvPr id="33" name="Icon LuFileText" descr="lu_LuFileText_2E7A62.png"/>
          <p:cNvPicPr>
            <a:picLocks noChangeAspect="1"/>
          </p:cNvPicPr>
          <p:nvPr/>
        </p:nvPicPr>
        <p:blipFill>
          <a:blip r:embed="rId13"/>
          <a:stretch>
            <a:fillRect/>
          </a:stretch>
        </p:blipFill>
        <p:spPr>
          <a:xfrm>
            <a:off x="8699500" y="4648200"/>
            <a:ext cx="177800" cy="177800"/>
          </a:xfrm>
          <a:prstGeom prst="rect">
            <a:avLst/>
          </a:prstGeom>
        </p:spPr>
      </p:pic>
      <p:sp>
        <p:nvSpPr>
          <p:cNvPr id="34" name="TextBox 33"/>
          <p:cNvSpPr txBox="1"/>
          <p:nvPr/>
        </p:nvSpPr>
        <p:spPr>
          <a:xfrm>
            <a:off x="8940800" y="4622800"/>
            <a:ext cx="2540000" cy="228600"/>
          </a:xfrm>
          <a:prstGeom prst="rect">
            <a:avLst/>
          </a:prstGeom>
          <a:noFill/>
        </p:spPr>
        <p:txBody>
          <a:bodyPr wrap="square" lIns="0" rIns="0" tIns="0" bIns="0" anchor="ctr">
            <a:noAutofit/>
          </a:bodyPr>
          <a:lstStyle/>
          <a:p>
            <a:pPr algn="l"/>
            <a:r>
              <a:rPr sz="1100" b="1" i="0">
                <a:solidFill>
                  <a:srgbClr val="2E7A62"/>
                </a:solidFill>
                <a:latin typeface="DM Sans"/>
                <a:ea typeface="DM Sans"/>
                <a:cs typeface="DM Sans"/>
              </a:rPr>
              <a:t>Saved evidence</a:t>
            </a:r>
          </a:p>
        </p:txBody>
      </p:sp>
      <p:pic>
        <p:nvPicPr>
          <p:cNvPr id="35" name="Icon LuCircleCheck" descr="lu_LuCircleCheck_2E7A62.png"/>
          <p:cNvPicPr>
            <a:picLocks noChangeAspect="1"/>
          </p:cNvPicPr>
          <p:nvPr/>
        </p:nvPicPr>
        <p:blipFill>
          <a:blip r:embed="rId14"/>
          <a:stretch>
            <a:fillRect/>
          </a:stretch>
        </p:blipFill>
        <p:spPr>
          <a:xfrm>
            <a:off x="8724900" y="4940300"/>
            <a:ext cx="152400" cy="152400"/>
          </a:xfrm>
          <a:prstGeom prst="rect">
            <a:avLst/>
          </a:prstGeom>
        </p:spPr>
      </p:pic>
      <p:sp>
        <p:nvSpPr>
          <p:cNvPr id="36" name="TextBox 35"/>
          <p:cNvSpPr txBox="1"/>
          <p:nvPr/>
        </p:nvSpPr>
        <p:spPr>
          <a:xfrm>
            <a:off x="8953500" y="4914900"/>
            <a:ext cx="2857500" cy="2032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Student’s original answer</a:t>
            </a:r>
          </a:p>
        </p:txBody>
      </p:sp>
      <p:pic>
        <p:nvPicPr>
          <p:cNvPr id="37" name="Icon LuCircleCheck" descr="lu_LuCircleCheck_2E7A62.png"/>
          <p:cNvPicPr>
            <a:picLocks noChangeAspect="1"/>
          </p:cNvPicPr>
          <p:nvPr/>
        </p:nvPicPr>
        <p:blipFill>
          <a:blip r:embed="rId14"/>
          <a:stretch>
            <a:fillRect/>
          </a:stretch>
        </p:blipFill>
        <p:spPr>
          <a:xfrm>
            <a:off x="8724900" y="5181600"/>
            <a:ext cx="152400" cy="152400"/>
          </a:xfrm>
          <a:prstGeom prst="rect">
            <a:avLst/>
          </a:prstGeom>
        </p:spPr>
      </p:pic>
      <p:sp>
        <p:nvSpPr>
          <p:cNvPr id="38" name="TextBox 37"/>
          <p:cNvSpPr txBox="1"/>
          <p:nvPr/>
        </p:nvSpPr>
        <p:spPr>
          <a:xfrm>
            <a:off x="8953500" y="5156200"/>
            <a:ext cx="2857500" cy="2032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Help request and tutor response</a:t>
            </a:r>
          </a:p>
        </p:txBody>
      </p:sp>
      <p:pic>
        <p:nvPicPr>
          <p:cNvPr id="39" name="Icon LuCircleCheck" descr="lu_LuCircleCheck_2E7A62.png"/>
          <p:cNvPicPr>
            <a:picLocks noChangeAspect="1"/>
          </p:cNvPicPr>
          <p:nvPr/>
        </p:nvPicPr>
        <p:blipFill>
          <a:blip r:embed="rId14"/>
          <a:stretch>
            <a:fillRect/>
          </a:stretch>
        </p:blipFill>
        <p:spPr>
          <a:xfrm>
            <a:off x="8724900" y="5422900"/>
            <a:ext cx="152400" cy="152400"/>
          </a:xfrm>
          <a:prstGeom prst="rect">
            <a:avLst/>
          </a:prstGeom>
        </p:spPr>
      </p:pic>
      <p:sp>
        <p:nvSpPr>
          <p:cNvPr id="40" name="TextBox 39"/>
          <p:cNvSpPr txBox="1"/>
          <p:nvPr/>
        </p:nvSpPr>
        <p:spPr>
          <a:xfrm>
            <a:off x="8953500" y="5397500"/>
            <a:ext cx="2857500" cy="2032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Hints shown and reading references</a:t>
            </a:r>
          </a:p>
        </p:txBody>
      </p:sp>
      <p:sp>
        <p:nvSpPr>
          <p:cNvPr id="41" name="Callout"/>
          <p:cNvSpPr/>
          <p:nvPr/>
        </p:nvSpPr>
        <p:spPr>
          <a:xfrm>
            <a:off x="5016500" y="5816600"/>
            <a:ext cx="2857500" cy="444500"/>
          </a:xfrm>
          <a:prstGeom prst="roundRect">
            <a:avLst>
              <a:gd name="adj" fmla="val 50000"/>
            </a:avLst>
          </a:prstGeom>
          <a:solidFill>
            <a:srgbClr val="DCEDE3"/>
          </a:solidFill>
          <a:ln>
            <a:noFill/>
          </a:ln>
        </p:spPr>
        <p:txBody>
          <a:bodyPr rtlCol="0" anchor="ctr"/>
          <a:lstStyle/>
          <a:p>
            <a:pPr algn="ctr"/>
          </a:p>
        </p:txBody>
      </p:sp>
      <p:sp>
        <p:nvSpPr>
          <p:cNvPr id="42" name="TextBox 41"/>
          <p:cNvSpPr txBox="1"/>
          <p:nvPr/>
        </p:nvSpPr>
        <p:spPr>
          <a:xfrm>
            <a:off x="5143500" y="5816600"/>
            <a:ext cx="2603500" cy="444500"/>
          </a:xfrm>
          <a:prstGeom prst="rect">
            <a:avLst/>
          </a:prstGeom>
          <a:noFill/>
        </p:spPr>
        <p:txBody>
          <a:bodyPr wrap="square" lIns="0" rIns="0" tIns="0" bIns="0" anchor="ctr">
            <a:noAutofit/>
          </a:bodyPr>
          <a:lstStyle/>
          <a:p>
            <a:pPr algn="ctr">
              <a:lnSpc>
                <a:spcPct val="105000"/>
              </a:lnSpc>
            </a:pPr>
            <a:r>
              <a:rPr sz="1050" b="0" i="0">
                <a:solidFill>
                  <a:srgbClr val="1B4236"/>
                </a:solidFill>
                <a:latin typeface="DM Sans"/>
                <a:ea typeface="DM Sans"/>
                <a:cs typeface="DM Sans"/>
              </a:rPr>
              <a:t>The tutor gives hints and guidance</a:t>
            </a:r>
            <a:br>
              <a:rPr sz="1050"/>
            </a:br>
            <a:r>
              <a:rPr sz="1050" b="0" i="0">
                <a:solidFill>
                  <a:srgbClr val="1B4236"/>
                </a:solidFill>
                <a:latin typeface="DM Sans"/>
                <a:ea typeface="DM Sans"/>
                <a:cs typeface="DM Sans"/>
              </a:rPr>
              <a:t>based on Sam’s answer.</a:t>
            </a:r>
          </a:p>
        </p:txBody>
      </p:sp>
      <p:sp>
        <p:nvSpPr>
          <p:cNvPr id="43" name="Callout"/>
          <p:cNvSpPr/>
          <p:nvPr/>
        </p:nvSpPr>
        <p:spPr>
          <a:xfrm>
            <a:off x="8801100" y="5816600"/>
            <a:ext cx="2857500" cy="444500"/>
          </a:xfrm>
          <a:prstGeom prst="roundRect">
            <a:avLst>
              <a:gd name="adj" fmla="val 50000"/>
            </a:avLst>
          </a:prstGeom>
          <a:solidFill>
            <a:srgbClr val="DCEDE3"/>
          </a:solidFill>
          <a:ln>
            <a:noFill/>
          </a:ln>
        </p:spPr>
        <p:txBody>
          <a:bodyPr rtlCol="0" anchor="ctr"/>
          <a:lstStyle/>
          <a:p>
            <a:pPr algn="ctr"/>
          </a:p>
        </p:txBody>
      </p:sp>
      <p:sp>
        <p:nvSpPr>
          <p:cNvPr id="44" name="TextBox 43"/>
          <p:cNvSpPr txBox="1"/>
          <p:nvPr/>
        </p:nvSpPr>
        <p:spPr>
          <a:xfrm>
            <a:off x="8928100" y="5816600"/>
            <a:ext cx="2603500" cy="444500"/>
          </a:xfrm>
          <a:prstGeom prst="rect">
            <a:avLst/>
          </a:prstGeom>
          <a:noFill/>
        </p:spPr>
        <p:txBody>
          <a:bodyPr wrap="square" lIns="0" rIns="0" tIns="0" bIns="0" anchor="ctr">
            <a:noAutofit/>
          </a:bodyPr>
          <a:lstStyle/>
          <a:p>
            <a:pPr algn="ctr">
              <a:lnSpc>
                <a:spcPct val="105000"/>
              </a:lnSpc>
            </a:pPr>
            <a:r>
              <a:rPr sz="1050" b="0" i="0">
                <a:solidFill>
                  <a:srgbClr val="1B4236"/>
                </a:solidFill>
                <a:latin typeface="DM Sans"/>
                <a:ea typeface="DM Sans"/>
                <a:cs typeface="DM Sans"/>
              </a:rPr>
              <a:t>All interactions are recorded</a:t>
            </a:r>
            <a:br>
              <a:rPr sz="1050"/>
            </a:br>
            <a:r>
              <a:rPr sz="1050" b="0" i="0">
                <a:solidFill>
                  <a:srgbClr val="1B4236"/>
                </a:solidFill>
                <a:latin typeface="DM Sans"/>
                <a:ea typeface="DM Sans"/>
                <a:cs typeface="DM Sans"/>
              </a:rPr>
              <a:t>as learning evidence.</a:t>
            </a:r>
          </a:p>
        </p:txBody>
      </p:sp>
      <p:sp>
        <p:nvSpPr>
          <p:cNvPr id="45"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Inside the tutor: propose, check, act, record</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UNDER THE HOOD · AGENTIC WORKFLOW</a:t>
            </a:r>
          </a:p>
        </p:txBody>
      </p:sp>
      <p:sp>
        <p:nvSpPr>
          <p:cNvPr id="5" name="Subtitle"/>
          <p:cNvSpPr txBox="1"/>
          <p:nvPr/>
        </p:nvSpPr>
        <p:spPr>
          <a:xfrm>
            <a:off x="558800" y="1219200"/>
            <a:ext cx="11049000" cy="292100"/>
          </a:xfrm>
          <a:prstGeom prst="rect">
            <a:avLst/>
          </a:prstGeom>
          <a:noFill/>
        </p:spPr>
        <p:txBody>
          <a:bodyPr wrap="square" lIns="0" rIns="0" tIns="0" bIns="0" anchor="t">
            <a:noAutofit/>
          </a:bodyPr>
          <a:lstStyle/>
          <a:p>
            <a:pPr algn="l"/>
            <a:r>
              <a:rPr sz="1500" b="0" i="0">
                <a:solidFill>
                  <a:srgbClr val="7D8783"/>
                </a:solidFill>
                <a:latin typeface="DM Sans"/>
                <a:ea typeface="DM Sans"/>
                <a:cs typeface="DM Sans"/>
              </a:rPr>
              <a:t>A bounded, evidence-grounded workflow that turns student questions into guided learning.</a:t>
            </a:r>
          </a:p>
        </p:txBody>
      </p:sp>
      <p:sp>
        <p:nvSpPr>
          <p:cNvPr id="6" name="Step card"/>
          <p:cNvSpPr/>
          <p:nvPr/>
        </p:nvSpPr>
        <p:spPr>
          <a:xfrm>
            <a:off x="260350" y="1587500"/>
            <a:ext cx="2222500" cy="2705100"/>
          </a:xfrm>
          <a:prstGeom prst="roundRect">
            <a:avLst>
              <a:gd name="adj" fmla="val 6285"/>
            </a:avLst>
          </a:prstGeom>
          <a:solidFill>
            <a:srgbClr val="F5F6F1"/>
          </a:solidFill>
          <a:ln>
            <a:noFill/>
          </a:ln>
          <a:effectLst>
            <a:outerShdw blurRad="279400" dist="50800" dir="5400000" algn="t" rotWithShape="0">
              <a:srgbClr val="1B3A30">
                <a:alpha val="9000"/>
              </a:srgbClr>
            </a:outerShdw>
          </a:effectLst>
        </p:spPr>
        <p:txBody>
          <a:bodyPr rtlCol="0" anchor="ctr"/>
          <a:lstStyle/>
          <a:p>
            <a:pPr algn="ctr"/>
          </a:p>
        </p:txBody>
      </p:sp>
      <p:sp>
        <p:nvSpPr>
          <p:cNvPr id="7" name="Number"/>
          <p:cNvSpPr/>
          <p:nvPr/>
        </p:nvSpPr>
        <p:spPr>
          <a:xfrm>
            <a:off x="374650" y="1727200"/>
            <a:ext cx="368300" cy="368300"/>
          </a:xfrm>
          <a:prstGeom prst="ellipse">
            <a:avLst/>
          </a:prstGeom>
          <a:solidFill>
            <a:srgbClr val="1F4D3E"/>
          </a:solidFill>
          <a:ln>
            <a:noFill/>
          </a:ln>
        </p:spPr>
        <p:txBody>
          <a:bodyPr rtlCol="0" anchor="ctr"/>
          <a:lstStyle/>
          <a:p>
            <a:pPr algn="ctr"/>
          </a:p>
        </p:txBody>
      </p:sp>
      <p:sp>
        <p:nvSpPr>
          <p:cNvPr id="8" name="TextBox 7"/>
          <p:cNvSpPr txBox="1"/>
          <p:nvPr/>
        </p:nvSpPr>
        <p:spPr>
          <a:xfrm>
            <a:off x="374650" y="1727200"/>
            <a:ext cx="368300" cy="368300"/>
          </a:xfrm>
          <a:prstGeom prst="rect">
            <a:avLst/>
          </a:prstGeom>
          <a:noFill/>
        </p:spPr>
        <p:txBody>
          <a:bodyPr wrap="square" lIns="0" rIns="0" tIns="0" bIns="0" anchor="ctr">
            <a:noAutofit/>
          </a:bodyPr>
          <a:lstStyle/>
          <a:p>
            <a:pPr algn="ctr"/>
            <a:r>
              <a:rPr sz="1100" b="1" i="0">
                <a:solidFill>
                  <a:srgbClr val="FFFFFF"/>
                </a:solidFill>
                <a:latin typeface="DM Sans"/>
                <a:ea typeface="DM Sans"/>
                <a:cs typeface="DM Sans"/>
              </a:rPr>
              <a:t>01</a:t>
            </a:r>
          </a:p>
        </p:txBody>
      </p:sp>
      <p:sp>
        <p:nvSpPr>
          <p:cNvPr id="9" name="Eyebrow"/>
          <p:cNvSpPr txBox="1"/>
          <p:nvPr/>
        </p:nvSpPr>
        <p:spPr>
          <a:xfrm>
            <a:off x="831850" y="1752600"/>
            <a:ext cx="1587500" cy="215900"/>
          </a:xfrm>
          <a:prstGeom prst="rect">
            <a:avLst/>
          </a:prstGeom>
          <a:noFill/>
        </p:spPr>
        <p:txBody>
          <a:bodyPr wrap="square" lIns="0" rIns="0" tIns="0" bIns="0" anchor="t">
            <a:noAutofit/>
          </a:bodyPr>
          <a:lstStyle/>
          <a:p>
            <a:pPr algn="l"/>
            <a:r>
              <a:rPr sz="900" b="1" i="0" spc="220">
                <a:solidFill>
                  <a:srgbClr val="1F4D3E"/>
                </a:solidFill>
                <a:latin typeface="DM Sans"/>
                <a:ea typeface="DM Sans"/>
                <a:cs typeface="DM Sans"/>
              </a:rPr>
              <a:t>STUDENT INPUT</a:t>
            </a:r>
          </a:p>
        </p:txBody>
      </p:sp>
      <p:sp>
        <p:nvSpPr>
          <p:cNvPr id="10" name="TextBox 9"/>
          <p:cNvSpPr txBox="1"/>
          <p:nvPr/>
        </p:nvSpPr>
        <p:spPr>
          <a:xfrm>
            <a:off x="831850" y="1930400"/>
            <a:ext cx="1587500" cy="292100"/>
          </a:xfrm>
          <a:prstGeom prst="rect">
            <a:avLst/>
          </a:prstGeom>
          <a:noFill/>
        </p:spPr>
        <p:txBody>
          <a:bodyPr wrap="square" lIns="0" rIns="0" tIns="0" bIns="0" anchor="t">
            <a:noAutofit/>
          </a:bodyPr>
          <a:lstStyle/>
          <a:p>
            <a:pPr algn="l"/>
            <a:r>
              <a:rPr sz="1500" b="0" i="0">
                <a:solidFill>
                  <a:srgbClr val="15201B"/>
                </a:solidFill>
                <a:latin typeface="Newsreader"/>
                <a:ea typeface="Newsreader"/>
                <a:cs typeface="Newsreader"/>
              </a:rPr>
              <a:t>Ask a question</a:t>
            </a:r>
          </a:p>
        </p:txBody>
      </p:sp>
      <p:sp>
        <p:nvSpPr>
          <p:cNvPr id="11" name="TextBox 10"/>
          <p:cNvSpPr txBox="1"/>
          <p:nvPr/>
        </p:nvSpPr>
        <p:spPr>
          <a:xfrm>
            <a:off x="831850" y="2235200"/>
            <a:ext cx="1600200" cy="419100"/>
          </a:xfrm>
          <a:prstGeom prst="rect">
            <a:avLst/>
          </a:prstGeom>
          <a:noFill/>
        </p:spPr>
        <p:txBody>
          <a:bodyPr wrap="square" lIns="0" rIns="0" tIns="0" bIns="0" anchor="t">
            <a:noAutofit/>
          </a:bodyPr>
          <a:lstStyle/>
          <a:p>
            <a:pPr algn="l">
              <a:lnSpc>
                <a:spcPct val="112000"/>
              </a:lnSpc>
            </a:pPr>
            <a:r>
              <a:rPr sz="950" b="0" i="0">
                <a:solidFill>
                  <a:srgbClr val="5B6561"/>
                </a:solidFill>
                <a:latin typeface="DM Sans"/>
                <a:ea typeface="DM Sans"/>
                <a:cs typeface="DM Sans"/>
              </a:rPr>
              <a:t>A question, an answer or</a:t>
            </a:r>
            <a:br>
              <a:rPr sz="950"/>
            </a:br>
            <a:r>
              <a:rPr sz="950" b="0" i="0">
                <a:solidFill>
                  <a:srgbClr val="5B6561"/>
                </a:solidFill>
                <a:latin typeface="DM Sans"/>
                <a:ea typeface="DM Sans"/>
                <a:cs typeface="DM Sans"/>
              </a:rPr>
              <a:t>a request for help.</a:t>
            </a:r>
          </a:p>
        </p:txBody>
      </p:sp>
      <p:sp>
        <p:nvSpPr>
          <p:cNvPr id="12" name="Oval 11"/>
          <p:cNvSpPr/>
          <p:nvPr/>
        </p:nvSpPr>
        <p:spPr>
          <a:xfrm>
            <a:off x="400050" y="3086100"/>
            <a:ext cx="368300" cy="368300"/>
          </a:xfrm>
          <a:prstGeom prst="ellipse">
            <a:avLst/>
          </a:prstGeom>
          <a:solidFill>
            <a:srgbClr val="F3E3CF"/>
          </a:solidFill>
          <a:ln>
            <a:noFill/>
          </a:ln>
        </p:spPr>
        <p:txBody>
          <a:bodyPr rtlCol="0" anchor="ctr"/>
          <a:lstStyle/>
          <a:p>
            <a:pPr algn="ctr"/>
          </a:p>
        </p:txBody>
      </p:sp>
      <p:pic>
        <p:nvPicPr>
          <p:cNvPr id="13" name="Icon LuUser" descr="lu_LuUser_8A5E1F.png"/>
          <p:cNvPicPr>
            <a:picLocks noChangeAspect="1"/>
          </p:cNvPicPr>
          <p:nvPr/>
        </p:nvPicPr>
        <p:blipFill>
          <a:blip r:embed="rId8"/>
          <a:stretch>
            <a:fillRect/>
          </a:stretch>
        </p:blipFill>
        <p:spPr>
          <a:xfrm>
            <a:off x="495300" y="3181350"/>
            <a:ext cx="177800" cy="177800"/>
          </a:xfrm>
          <a:prstGeom prst="rect">
            <a:avLst/>
          </a:prstGeom>
        </p:spPr>
      </p:pic>
      <p:sp>
        <p:nvSpPr>
          <p:cNvPr id="14" name="Student message"/>
          <p:cNvSpPr/>
          <p:nvPr/>
        </p:nvSpPr>
        <p:spPr>
          <a:xfrm>
            <a:off x="844550" y="2832100"/>
            <a:ext cx="1511300" cy="1270000"/>
          </a:xfrm>
          <a:prstGeom prst="roundRect">
            <a:avLst>
              <a:gd name="adj" fmla="val 8000"/>
            </a:avLst>
          </a:prstGeom>
          <a:solidFill>
            <a:srgbClr val="E9EEF6"/>
          </a:solidFill>
          <a:ln>
            <a:noFill/>
          </a:ln>
        </p:spPr>
        <p:txBody>
          <a:bodyPr rtlCol="0" anchor="ctr"/>
          <a:lstStyle/>
          <a:p>
            <a:pPr algn="ctr"/>
          </a:p>
        </p:txBody>
      </p:sp>
      <p:sp>
        <p:nvSpPr>
          <p:cNvPr id="15" name="TextBox 14"/>
          <p:cNvSpPr txBox="1"/>
          <p:nvPr/>
        </p:nvSpPr>
        <p:spPr>
          <a:xfrm>
            <a:off x="946150" y="2832100"/>
            <a:ext cx="1333500" cy="1270000"/>
          </a:xfrm>
          <a:prstGeom prst="rect">
            <a:avLst/>
          </a:prstGeom>
          <a:noFill/>
        </p:spPr>
        <p:txBody>
          <a:bodyPr wrap="square" lIns="0" rIns="0" tIns="0" bIns="0" anchor="ctr">
            <a:noAutofit/>
          </a:bodyPr>
          <a:lstStyle/>
          <a:p>
            <a:pPr algn="l">
              <a:lnSpc>
                <a:spcPct val="112000"/>
              </a:lnSpc>
            </a:pPr>
            <a:r>
              <a:rPr sz="1000" b="0" i="0">
                <a:solidFill>
                  <a:srgbClr val="15201B"/>
                </a:solidFill>
                <a:latin typeface="DM Sans"/>
                <a:ea typeface="DM Sans"/>
                <a:cs typeface="DM Sans"/>
              </a:rPr>
              <a:t>I’m confused about</a:t>
            </a:r>
            <a:br>
              <a:rPr sz="1000"/>
            </a:br>
            <a:r>
              <a:rPr sz="1000" b="0" i="0">
                <a:solidFill>
                  <a:srgbClr val="15201B"/>
                </a:solidFill>
                <a:latin typeface="DM Sans"/>
                <a:ea typeface="DM Sans"/>
                <a:cs typeface="DM Sans"/>
              </a:rPr>
              <a:t>transmission delay vs.</a:t>
            </a:r>
            <a:br>
              <a:rPr sz="1000"/>
            </a:br>
            <a:r>
              <a:rPr sz="1000" b="0" i="0">
                <a:solidFill>
                  <a:srgbClr val="15201B"/>
                </a:solidFill>
                <a:latin typeface="DM Sans"/>
                <a:ea typeface="DM Sans"/>
                <a:cs typeface="DM Sans"/>
              </a:rPr>
              <a:t>propagation delay.</a:t>
            </a:r>
            <a:br>
              <a:rPr sz="1000"/>
            </a:br>
            <a:r>
              <a:rPr sz="1000" b="0" i="0">
                <a:solidFill>
                  <a:srgbClr val="15201B"/>
                </a:solidFill>
                <a:latin typeface="DM Sans"/>
                <a:ea typeface="DM Sans"/>
                <a:cs typeface="DM Sans"/>
              </a:rPr>
              <a:t>Can you explain?</a:t>
            </a:r>
          </a:p>
        </p:txBody>
      </p:sp>
      <p:sp>
        <p:nvSpPr>
          <p:cNvPr id="16" name="Step card"/>
          <p:cNvSpPr/>
          <p:nvPr/>
        </p:nvSpPr>
        <p:spPr>
          <a:xfrm>
            <a:off x="2622550" y="1587500"/>
            <a:ext cx="2222500" cy="2705100"/>
          </a:xfrm>
          <a:prstGeom prst="roundRect">
            <a:avLst>
              <a:gd name="adj" fmla="val 6285"/>
            </a:avLst>
          </a:prstGeom>
          <a:solidFill>
            <a:srgbClr val="F8F1E4"/>
          </a:solidFill>
          <a:ln>
            <a:noFill/>
          </a:ln>
          <a:effectLst>
            <a:outerShdw blurRad="279400" dist="50800" dir="5400000" algn="t" rotWithShape="0">
              <a:srgbClr val="1B3A30">
                <a:alpha val="9000"/>
              </a:srgbClr>
            </a:outerShdw>
          </a:effectLst>
        </p:spPr>
        <p:txBody>
          <a:bodyPr rtlCol="0" anchor="ctr"/>
          <a:lstStyle/>
          <a:p>
            <a:pPr algn="ctr"/>
          </a:p>
        </p:txBody>
      </p:sp>
      <p:sp>
        <p:nvSpPr>
          <p:cNvPr id="17" name="Number"/>
          <p:cNvSpPr/>
          <p:nvPr/>
        </p:nvSpPr>
        <p:spPr>
          <a:xfrm>
            <a:off x="2736850" y="1727200"/>
            <a:ext cx="368300" cy="368300"/>
          </a:xfrm>
          <a:prstGeom prst="ellipse">
            <a:avLst/>
          </a:prstGeom>
          <a:solidFill>
            <a:srgbClr val="8A5E1F"/>
          </a:solidFill>
          <a:ln>
            <a:noFill/>
          </a:ln>
        </p:spPr>
        <p:txBody>
          <a:bodyPr rtlCol="0" anchor="ctr"/>
          <a:lstStyle/>
          <a:p>
            <a:pPr algn="ctr"/>
          </a:p>
        </p:txBody>
      </p:sp>
      <p:sp>
        <p:nvSpPr>
          <p:cNvPr id="18" name="TextBox 17"/>
          <p:cNvSpPr txBox="1"/>
          <p:nvPr/>
        </p:nvSpPr>
        <p:spPr>
          <a:xfrm>
            <a:off x="2736850" y="1727200"/>
            <a:ext cx="368300" cy="368300"/>
          </a:xfrm>
          <a:prstGeom prst="rect">
            <a:avLst/>
          </a:prstGeom>
          <a:noFill/>
        </p:spPr>
        <p:txBody>
          <a:bodyPr wrap="square" lIns="0" rIns="0" tIns="0" bIns="0" anchor="ctr">
            <a:noAutofit/>
          </a:bodyPr>
          <a:lstStyle/>
          <a:p>
            <a:pPr algn="ctr"/>
            <a:r>
              <a:rPr sz="1100" b="1" i="0">
                <a:solidFill>
                  <a:srgbClr val="FFFFFF"/>
                </a:solidFill>
                <a:latin typeface="DM Sans"/>
                <a:ea typeface="DM Sans"/>
                <a:cs typeface="DM Sans"/>
              </a:rPr>
              <a:t>02</a:t>
            </a:r>
          </a:p>
        </p:txBody>
      </p:sp>
      <p:sp>
        <p:nvSpPr>
          <p:cNvPr id="19" name="Eyebrow"/>
          <p:cNvSpPr txBox="1"/>
          <p:nvPr/>
        </p:nvSpPr>
        <p:spPr>
          <a:xfrm>
            <a:off x="3194050" y="1752600"/>
            <a:ext cx="1587500" cy="215900"/>
          </a:xfrm>
          <a:prstGeom prst="rect">
            <a:avLst/>
          </a:prstGeom>
          <a:noFill/>
        </p:spPr>
        <p:txBody>
          <a:bodyPr wrap="square" lIns="0" rIns="0" tIns="0" bIns="0" anchor="t">
            <a:noAutofit/>
          </a:bodyPr>
          <a:lstStyle/>
          <a:p>
            <a:pPr algn="l"/>
            <a:r>
              <a:rPr sz="900" b="1" i="0" spc="220">
                <a:solidFill>
                  <a:srgbClr val="8A5E1F"/>
                </a:solidFill>
                <a:latin typeface="DM Sans"/>
                <a:ea typeface="DM Sans"/>
                <a:cs typeface="DM Sans"/>
              </a:rPr>
              <a:t>AI PROPOSES</a:t>
            </a:r>
          </a:p>
        </p:txBody>
      </p:sp>
      <p:sp>
        <p:nvSpPr>
          <p:cNvPr id="20" name="TextBox 19"/>
          <p:cNvSpPr txBox="1"/>
          <p:nvPr/>
        </p:nvSpPr>
        <p:spPr>
          <a:xfrm>
            <a:off x="3194050" y="1930400"/>
            <a:ext cx="1587500" cy="292100"/>
          </a:xfrm>
          <a:prstGeom prst="rect">
            <a:avLst/>
          </a:prstGeom>
          <a:noFill/>
        </p:spPr>
        <p:txBody>
          <a:bodyPr wrap="square" lIns="0" rIns="0" tIns="0" bIns="0" anchor="t">
            <a:noAutofit/>
          </a:bodyPr>
          <a:lstStyle/>
          <a:p>
            <a:pPr algn="l"/>
            <a:r>
              <a:rPr sz="1500" b="0" i="0">
                <a:solidFill>
                  <a:srgbClr val="15201B"/>
                </a:solidFill>
                <a:latin typeface="Newsreader"/>
                <a:ea typeface="Newsreader"/>
                <a:cs typeface="Newsreader"/>
              </a:rPr>
              <a:t>Pick an action</a:t>
            </a:r>
          </a:p>
        </p:txBody>
      </p:sp>
      <p:sp>
        <p:nvSpPr>
          <p:cNvPr id="21" name="TextBox 20"/>
          <p:cNvSpPr txBox="1"/>
          <p:nvPr/>
        </p:nvSpPr>
        <p:spPr>
          <a:xfrm>
            <a:off x="3194050" y="2235200"/>
            <a:ext cx="1600200" cy="419100"/>
          </a:xfrm>
          <a:prstGeom prst="rect">
            <a:avLst/>
          </a:prstGeom>
          <a:noFill/>
        </p:spPr>
        <p:txBody>
          <a:bodyPr wrap="square" lIns="0" rIns="0" tIns="0" bIns="0" anchor="t">
            <a:noAutofit/>
          </a:bodyPr>
          <a:lstStyle/>
          <a:p>
            <a:pPr algn="l">
              <a:lnSpc>
                <a:spcPct val="112000"/>
              </a:lnSpc>
            </a:pPr>
            <a:r>
              <a:rPr sz="950" b="0" i="0">
                <a:solidFill>
                  <a:srgbClr val="5B6561"/>
                </a:solidFill>
                <a:latin typeface="DM Sans"/>
                <a:ea typeface="DM Sans"/>
                <a:cs typeface="DM Sans"/>
              </a:rPr>
              <a:t>The tutor chooses an</a:t>
            </a:r>
            <a:br>
              <a:rPr sz="950"/>
            </a:br>
            <a:r>
              <a:rPr sz="950" b="0" i="0">
                <a:solidFill>
                  <a:srgbClr val="5B6561"/>
                </a:solidFill>
                <a:latin typeface="DM Sans"/>
                <a:ea typeface="DM Sans"/>
                <a:cs typeface="DM Sans"/>
              </a:rPr>
              <a:t>instructional action.</a:t>
            </a:r>
          </a:p>
        </p:txBody>
      </p:sp>
      <p:sp>
        <p:nvSpPr>
          <p:cNvPr id="22" name="Panel"/>
          <p:cNvSpPr/>
          <p:nvPr/>
        </p:nvSpPr>
        <p:spPr>
          <a:xfrm>
            <a:off x="2724150" y="2768600"/>
            <a:ext cx="2019300" cy="1409700"/>
          </a:xfrm>
          <a:prstGeom prst="roundRect">
            <a:avLst>
              <a:gd name="adj" fmla="val 7207"/>
            </a:avLst>
          </a:prstGeom>
          <a:solidFill>
            <a:srgbClr val="FFFFFF"/>
          </a:solidFill>
          <a:ln>
            <a:noFill/>
          </a:ln>
        </p:spPr>
        <p:txBody>
          <a:bodyPr rtlCol="0" anchor="ctr"/>
          <a:lstStyle/>
          <a:p>
            <a:pPr algn="ctr"/>
          </a:p>
        </p:txBody>
      </p:sp>
      <p:sp>
        <p:nvSpPr>
          <p:cNvPr id="23" name="Oval 22"/>
          <p:cNvSpPr/>
          <p:nvPr/>
        </p:nvSpPr>
        <p:spPr>
          <a:xfrm>
            <a:off x="2813050" y="2882900"/>
            <a:ext cx="279400" cy="279400"/>
          </a:xfrm>
          <a:prstGeom prst="ellipse">
            <a:avLst/>
          </a:prstGeom>
          <a:solidFill>
            <a:srgbClr val="F2F4F1"/>
          </a:solidFill>
          <a:ln>
            <a:noFill/>
          </a:ln>
        </p:spPr>
        <p:txBody>
          <a:bodyPr rtlCol="0" anchor="ctr"/>
          <a:lstStyle/>
          <a:p>
            <a:pPr algn="ctr"/>
          </a:p>
        </p:txBody>
      </p:sp>
      <p:pic>
        <p:nvPicPr>
          <p:cNvPr id="24" name="Icon LuLightbulb" descr="lu_LuLightbulb_C9902E.png"/>
          <p:cNvPicPr>
            <a:picLocks noChangeAspect="1"/>
          </p:cNvPicPr>
          <p:nvPr/>
        </p:nvPicPr>
        <p:blipFill>
          <a:blip r:embed="rId9"/>
          <a:stretch>
            <a:fillRect/>
          </a:stretch>
        </p:blipFill>
        <p:spPr>
          <a:xfrm>
            <a:off x="2882900" y="2952750"/>
            <a:ext cx="139700" cy="139700"/>
          </a:xfrm>
          <a:prstGeom prst="rect">
            <a:avLst/>
          </a:prstGeom>
        </p:spPr>
      </p:pic>
      <p:sp>
        <p:nvSpPr>
          <p:cNvPr id="25" name="TextBox 24"/>
          <p:cNvSpPr txBox="1"/>
          <p:nvPr/>
        </p:nvSpPr>
        <p:spPr>
          <a:xfrm>
            <a:off x="3168650" y="2882900"/>
            <a:ext cx="14986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Explain or give a hint</a:t>
            </a:r>
          </a:p>
        </p:txBody>
      </p:sp>
      <p:sp>
        <p:nvSpPr>
          <p:cNvPr id="26" name="Oval 25"/>
          <p:cNvSpPr/>
          <p:nvPr/>
        </p:nvSpPr>
        <p:spPr>
          <a:xfrm>
            <a:off x="2813050" y="3302000"/>
            <a:ext cx="279400" cy="279400"/>
          </a:xfrm>
          <a:prstGeom prst="ellipse">
            <a:avLst/>
          </a:prstGeom>
          <a:solidFill>
            <a:srgbClr val="F2F4F1"/>
          </a:solidFill>
          <a:ln>
            <a:noFill/>
          </a:ln>
        </p:spPr>
        <p:txBody>
          <a:bodyPr rtlCol="0" anchor="ctr"/>
          <a:lstStyle/>
          <a:p>
            <a:pPr algn="ctr"/>
          </a:p>
        </p:txBody>
      </p:sp>
      <p:pic>
        <p:nvPicPr>
          <p:cNvPr id="27" name="Icon LuMessageCircleQuestion" descr="lu_LuMessageCircleQuestion_2F5B78.png"/>
          <p:cNvPicPr>
            <a:picLocks noChangeAspect="1"/>
          </p:cNvPicPr>
          <p:nvPr/>
        </p:nvPicPr>
        <p:blipFill>
          <a:blip r:embed="rId10"/>
          <a:stretch>
            <a:fillRect/>
          </a:stretch>
        </p:blipFill>
        <p:spPr>
          <a:xfrm>
            <a:off x="2882900" y="3371850"/>
            <a:ext cx="139700" cy="139700"/>
          </a:xfrm>
          <a:prstGeom prst="rect">
            <a:avLst/>
          </a:prstGeom>
        </p:spPr>
      </p:pic>
      <p:sp>
        <p:nvSpPr>
          <p:cNvPr id="28" name="TextBox 27"/>
          <p:cNvSpPr txBox="1"/>
          <p:nvPr/>
        </p:nvSpPr>
        <p:spPr>
          <a:xfrm>
            <a:off x="3168650" y="3302000"/>
            <a:ext cx="14986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Ask a diagnostic question</a:t>
            </a:r>
          </a:p>
        </p:txBody>
      </p:sp>
      <p:sp>
        <p:nvSpPr>
          <p:cNvPr id="29" name="Oval 28"/>
          <p:cNvSpPr/>
          <p:nvPr/>
        </p:nvSpPr>
        <p:spPr>
          <a:xfrm>
            <a:off x="2813050" y="3721100"/>
            <a:ext cx="279400" cy="279400"/>
          </a:xfrm>
          <a:prstGeom prst="ellipse">
            <a:avLst/>
          </a:prstGeom>
          <a:solidFill>
            <a:srgbClr val="F2F4F1"/>
          </a:solidFill>
          <a:ln>
            <a:noFill/>
          </a:ln>
        </p:spPr>
        <p:txBody>
          <a:bodyPr rtlCol="0" anchor="ctr"/>
          <a:lstStyle/>
          <a:p>
            <a:pPr algn="ctr"/>
          </a:p>
        </p:txBody>
      </p:sp>
      <p:pic>
        <p:nvPicPr>
          <p:cNvPr id="30" name="Icon LuClipboardCheck" descr="lu_LuClipboardCheck_2E7A62.png"/>
          <p:cNvPicPr>
            <a:picLocks noChangeAspect="1"/>
          </p:cNvPicPr>
          <p:nvPr/>
        </p:nvPicPr>
        <p:blipFill>
          <a:blip r:embed="rId11"/>
          <a:stretch>
            <a:fillRect/>
          </a:stretch>
        </p:blipFill>
        <p:spPr>
          <a:xfrm>
            <a:off x="2882900" y="3790950"/>
            <a:ext cx="139700" cy="139700"/>
          </a:xfrm>
          <a:prstGeom prst="rect">
            <a:avLst/>
          </a:prstGeom>
        </p:spPr>
      </p:pic>
      <p:sp>
        <p:nvSpPr>
          <p:cNvPr id="31" name="TextBox 30"/>
          <p:cNvSpPr txBox="1"/>
          <p:nvPr/>
        </p:nvSpPr>
        <p:spPr>
          <a:xfrm>
            <a:off x="3168650" y="3721100"/>
            <a:ext cx="14986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Evaluate an answer</a:t>
            </a:r>
          </a:p>
        </p:txBody>
      </p:sp>
      <p:cxnSp>
        <p:nvCxnSpPr>
          <p:cNvPr id="32" name="Connector 31"/>
          <p:cNvCxnSpPr/>
          <p:nvPr/>
        </p:nvCxnSpPr>
        <p:spPr>
          <a:xfrm>
            <a:off x="4794250" y="2686050"/>
            <a:ext cx="2413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tep card"/>
          <p:cNvSpPr/>
          <p:nvPr/>
        </p:nvSpPr>
        <p:spPr>
          <a:xfrm>
            <a:off x="4984750" y="1587500"/>
            <a:ext cx="2222500" cy="2705100"/>
          </a:xfrm>
          <a:prstGeom prst="roundRect">
            <a:avLst>
              <a:gd name="adj" fmla="val 6285"/>
            </a:avLst>
          </a:prstGeom>
          <a:solidFill>
            <a:srgbClr val="E9F2EC"/>
          </a:solidFill>
          <a:ln>
            <a:noFill/>
          </a:ln>
          <a:effectLst>
            <a:outerShdw blurRad="279400" dist="50800" dir="5400000" algn="t" rotWithShape="0">
              <a:srgbClr val="1B3A30">
                <a:alpha val="9000"/>
              </a:srgbClr>
            </a:outerShdw>
          </a:effectLst>
        </p:spPr>
        <p:txBody>
          <a:bodyPr rtlCol="0" anchor="ctr"/>
          <a:lstStyle/>
          <a:p>
            <a:pPr algn="ctr"/>
          </a:p>
        </p:txBody>
      </p:sp>
      <p:sp>
        <p:nvSpPr>
          <p:cNvPr id="34" name="Number"/>
          <p:cNvSpPr/>
          <p:nvPr/>
        </p:nvSpPr>
        <p:spPr>
          <a:xfrm>
            <a:off x="5099050" y="1727200"/>
            <a:ext cx="368300" cy="368300"/>
          </a:xfrm>
          <a:prstGeom prst="ellipse">
            <a:avLst/>
          </a:prstGeom>
          <a:solidFill>
            <a:srgbClr val="1F4D3E"/>
          </a:solidFill>
          <a:ln>
            <a:noFill/>
          </a:ln>
        </p:spPr>
        <p:txBody>
          <a:bodyPr rtlCol="0" anchor="ctr"/>
          <a:lstStyle/>
          <a:p>
            <a:pPr algn="ctr"/>
          </a:p>
        </p:txBody>
      </p:sp>
      <p:sp>
        <p:nvSpPr>
          <p:cNvPr id="35" name="TextBox 34"/>
          <p:cNvSpPr txBox="1"/>
          <p:nvPr/>
        </p:nvSpPr>
        <p:spPr>
          <a:xfrm>
            <a:off x="5099050" y="1727200"/>
            <a:ext cx="368300" cy="368300"/>
          </a:xfrm>
          <a:prstGeom prst="rect">
            <a:avLst/>
          </a:prstGeom>
          <a:noFill/>
        </p:spPr>
        <p:txBody>
          <a:bodyPr wrap="square" lIns="0" rIns="0" tIns="0" bIns="0" anchor="ctr">
            <a:noAutofit/>
          </a:bodyPr>
          <a:lstStyle/>
          <a:p>
            <a:pPr algn="ctr"/>
            <a:r>
              <a:rPr sz="1100" b="1" i="0">
                <a:solidFill>
                  <a:srgbClr val="FFFFFF"/>
                </a:solidFill>
                <a:latin typeface="DM Sans"/>
                <a:ea typeface="DM Sans"/>
                <a:cs typeface="DM Sans"/>
              </a:rPr>
              <a:t>03</a:t>
            </a:r>
          </a:p>
        </p:txBody>
      </p:sp>
      <p:sp>
        <p:nvSpPr>
          <p:cNvPr id="36" name="Eyebrow"/>
          <p:cNvSpPr txBox="1"/>
          <p:nvPr/>
        </p:nvSpPr>
        <p:spPr>
          <a:xfrm>
            <a:off x="5556250" y="1752600"/>
            <a:ext cx="1587500" cy="215900"/>
          </a:xfrm>
          <a:prstGeom prst="rect">
            <a:avLst/>
          </a:prstGeom>
          <a:noFill/>
        </p:spPr>
        <p:txBody>
          <a:bodyPr wrap="square" lIns="0" rIns="0" tIns="0" bIns="0" anchor="t">
            <a:noAutofit/>
          </a:bodyPr>
          <a:lstStyle/>
          <a:p>
            <a:pPr algn="l"/>
            <a:r>
              <a:rPr sz="900" b="1" i="0" spc="220">
                <a:solidFill>
                  <a:srgbClr val="1F4D3E"/>
                </a:solidFill>
                <a:latin typeface="DM Sans"/>
                <a:ea typeface="DM Sans"/>
                <a:cs typeface="DM Sans"/>
              </a:rPr>
              <a:t>SERVER CHECKS</a:t>
            </a:r>
          </a:p>
        </p:txBody>
      </p:sp>
      <p:sp>
        <p:nvSpPr>
          <p:cNvPr id="37" name="TextBox 36"/>
          <p:cNvSpPr txBox="1"/>
          <p:nvPr/>
        </p:nvSpPr>
        <p:spPr>
          <a:xfrm>
            <a:off x="5556250" y="1930400"/>
            <a:ext cx="1587500" cy="292100"/>
          </a:xfrm>
          <a:prstGeom prst="rect">
            <a:avLst/>
          </a:prstGeom>
          <a:noFill/>
        </p:spPr>
        <p:txBody>
          <a:bodyPr wrap="square" lIns="0" rIns="0" tIns="0" bIns="0" anchor="t">
            <a:noAutofit/>
          </a:bodyPr>
          <a:lstStyle/>
          <a:p>
            <a:pPr algn="l"/>
            <a:r>
              <a:rPr sz="1500" b="0" i="0">
                <a:solidFill>
                  <a:srgbClr val="15201B"/>
                </a:solidFill>
                <a:latin typeface="Newsreader"/>
                <a:ea typeface="Newsreader"/>
                <a:cs typeface="Newsreader"/>
              </a:rPr>
              <a:t>Verify and ground</a:t>
            </a:r>
          </a:p>
        </p:txBody>
      </p:sp>
      <p:sp>
        <p:nvSpPr>
          <p:cNvPr id="38" name="TextBox 37"/>
          <p:cNvSpPr txBox="1"/>
          <p:nvPr/>
        </p:nvSpPr>
        <p:spPr>
          <a:xfrm>
            <a:off x="5556250" y="2235200"/>
            <a:ext cx="1600200" cy="419100"/>
          </a:xfrm>
          <a:prstGeom prst="rect">
            <a:avLst/>
          </a:prstGeom>
          <a:noFill/>
        </p:spPr>
        <p:txBody>
          <a:bodyPr wrap="square" lIns="0" rIns="0" tIns="0" bIns="0" anchor="t">
            <a:noAutofit/>
          </a:bodyPr>
          <a:lstStyle/>
          <a:p>
            <a:pPr algn="l">
              <a:lnSpc>
                <a:spcPct val="112000"/>
              </a:lnSpc>
            </a:pPr>
            <a:r>
              <a:rPr sz="950" b="0" i="0">
                <a:solidFill>
                  <a:srgbClr val="5B6561"/>
                </a:solidFill>
                <a:latin typeface="DM Sans"/>
                <a:ea typeface="DM Sans"/>
                <a:cs typeface="DM Sans"/>
              </a:rPr>
              <a:t>Access, lesson version and</a:t>
            </a:r>
            <a:br>
              <a:rPr sz="950"/>
            </a:br>
            <a:r>
              <a:rPr sz="950" b="0" i="0">
                <a:solidFill>
                  <a:srgbClr val="5B6561"/>
                </a:solidFill>
                <a:latin typeface="DM Sans"/>
                <a:ea typeface="DM Sans"/>
                <a:cs typeface="DM Sans"/>
              </a:rPr>
              <a:t>sources are validated.</a:t>
            </a:r>
          </a:p>
        </p:txBody>
      </p:sp>
      <p:sp>
        <p:nvSpPr>
          <p:cNvPr id="39" name="Panel"/>
          <p:cNvSpPr/>
          <p:nvPr/>
        </p:nvSpPr>
        <p:spPr>
          <a:xfrm>
            <a:off x="5086350" y="2768600"/>
            <a:ext cx="2019300" cy="1409700"/>
          </a:xfrm>
          <a:prstGeom prst="roundRect">
            <a:avLst>
              <a:gd name="adj" fmla="val 7207"/>
            </a:avLst>
          </a:prstGeom>
          <a:solidFill>
            <a:srgbClr val="FFFFFF"/>
          </a:solidFill>
          <a:ln>
            <a:noFill/>
          </a:ln>
        </p:spPr>
        <p:txBody>
          <a:bodyPr rtlCol="0" anchor="ctr"/>
          <a:lstStyle/>
          <a:p>
            <a:pPr algn="ctr"/>
          </a:p>
        </p:txBody>
      </p:sp>
      <p:sp>
        <p:nvSpPr>
          <p:cNvPr id="40" name="Oval 39"/>
          <p:cNvSpPr/>
          <p:nvPr/>
        </p:nvSpPr>
        <p:spPr>
          <a:xfrm>
            <a:off x="5175250" y="2882900"/>
            <a:ext cx="279400" cy="279400"/>
          </a:xfrm>
          <a:prstGeom prst="ellipse">
            <a:avLst/>
          </a:prstGeom>
          <a:solidFill>
            <a:srgbClr val="F2F4F1"/>
          </a:solidFill>
          <a:ln>
            <a:noFill/>
          </a:ln>
        </p:spPr>
        <p:txBody>
          <a:bodyPr rtlCol="0" anchor="ctr"/>
          <a:lstStyle/>
          <a:p>
            <a:pPr algn="ctr"/>
          </a:p>
        </p:txBody>
      </p:sp>
      <p:pic>
        <p:nvPicPr>
          <p:cNvPr id="41" name="Icon LuShieldCheck" descr="lu_LuShieldCheck_2E7A62.png"/>
          <p:cNvPicPr>
            <a:picLocks noChangeAspect="1"/>
          </p:cNvPicPr>
          <p:nvPr/>
        </p:nvPicPr>
        <p:blipFill>
          <a:blip r:embed="rId12"/>
          <a:stretch>
            <a:fillRect/>
          </a:stretch>
        </p:blipFill>
        <p:spPr>
          <a:xfrm>
            <a:off x="5245100" y="2952750"/>
            <a:ext cx="139700" cy="139700"/>
          </a:xfrm>
          <a:prstGeom prst="rect">
            <a:avLst/>
          </a:prstGeom>
        </p:spPr>
      </p:pic>
      <p:sp>
        <p:nvSpPr>
          <p:cNvPr id="42" name="TextBox 41"/>
          <p:cNvSpPr txBox="1"/>
          <p:nvPr/>
        </p:nvSpPr>
        <p:spPr>
          <a:xfrm>
            <a:off x="5530850" y="28829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Authorization check</a:t>
            </a:r>
          </a:p>
        </p:txBody>
      </p:sp>
      <p:pic>
        <p:nvPicPr>
          <p:cNvPr id="43" name="Icon LuCircleCheck" descr="lu_LuCircleCheck_2E7A62.png"/>
          <p:cNvPicPr>
            <a:picLocks noChangeAspect="1"/>
          </p:cNvPicPr>
          <p:nvPr/>
        </p:nvPicPr>
        <p:blipFill>
          <a:blip r:embed="rId13"/>
          <a:stretch>
            <a:fillRect/>
          </a:stretch>
        </p:blipFill>
        <p:spPr>
          <a:xfrm>
            <a:off x="6864350" y="2946400"/>
            <a:ext cx="152400" cy="152400"/>
          </a:xfrm>
          <a:prstGeom prst="rect">
            <a:avLst/>
          </a:prstGeom>
        </p:spPr>
      </p:pic>
      <p:sp>
        <p:nvSpPr>
          <p:cNvPr id="44" name="Oval 43"/>
          <p:cNvSpPr/>
          <p:nvPr/>
        </p:nvSpPr>
        <p:spPr>
          <a:xfrm>
            <a:off x="5175250" y="3302000"/>
            <a:ext cx="279400" cy="279400"/>
          </a:xfrm>
          <a:prstGeom prst="ellipse">
            <a:avLst/>
          </a:prstGeom>
          <a:solidFill>
            <a:srgbClr val="F2F4F1"/>
          </a:solidFill>
          <a:ln>
            <a:noFill/>
          </a:ln>
        </p:spPr>
        <p:txBody>
          <a:bodyPr rtlCol="0" anchor="ctr"/>
          <a:lstStyle/>
          <a:p>
            <a:pPr algn="ctr"/>
          </a:p>
        </p:txBody>
      </p:sp>
      <p:pic>
        <p:nvPicPr>
          <p:cNvPr id="45" name="Icon LuBadgeCheck" descr="lu_LuBadgeCheck_2E7A62.png"/>
          <p:cNvPicPr>
            <a:picLocks noChangeAspect="1"/>
          </p:cNvPicPr>
          <p:nvPr/>
        </p:nvPicPr>
        <p:blipFill>
          <a:blip r:embed="rId14"/>
          <a:stretch>
            <a:fillRect/>
          </a:stretch>
        </p:blipFill>
        <p:spPr>
          <a:xfrm>
            <a:off x="5245100" y="3371850"/>
            <a:ext cx="139700" cy="139700"/>
          </a:xfrm>
          <a:prstGeom prst="rect">
            <a:avLst/>
          </a:prstGeom>
        </p:spPr>
      </p:pic>
      <p:sp>
        <p:nvSpPr>
          <p:cNvPr id="46" name="TextBox 45"/>
          <p:cNvSpPr txBox="1"/>
          <p:nvPr/>
        </p:nvSpPr>
        <p:spPr>
          <a:xfrm>
            <a:off x="5530850" y="33020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Lesson version check</a:t>
            </a:r>
          </a:p>
        </p:txBody>
      </p:sp>
      <p:pic>
        <p:nvPicPr>
          <p:cNvPr id="47" name="Icon LuCircleCheck" descr="lu_LuCircleCheck_2E7A62.png"/>
          <p:cNvPicPr>
            <a:picLocks noChangeAspect="1"/>
          </p:cNvPicPr>
          <p:nvPr/>
        </p:nvPicPr>
        <p:blipFill>
          <a:blip r:embed="rId13"/>
          <a:stretch>
            <a:fillRect/>
          </a:stretch>
        </p:blipFill>
        <p:spPr>
          <a:xfrm>
            <a:off x="6864350" y="3365500"/>
            <a:ext cx="152400" cy="152400"/>
          </a:xfrm>
          <a:prstGeom prst="rect">
            <a:avLst/>
          </a:prstGeom>
        </p:spPr>
      </p:pic>
      <p:sp>
        <p:nvSpPr>
          <p:cNvPr id="48" name="Oval 47"/>
          <p:cNvSpPr/>
          <p:nvPr/>
        </p:nvSpPr>
        <p:spPr>
          <a:xfrm>
            <a:off x="5175250" y="3721100"/>
            <a:ext cx="279400" cy="279400"/>
          </a:xfrm>
          <a:prstGeom prst="ellipse">
            <a:avLst/>
          </a:prstGeom>
          <a:solidFill>
            <a:srgbClr val="F2F4F1"/>
          </a:solidFill>
          <a:ln>
            <a:noFill/>
          </a:ln>
        </p:spPr>
        <p:txBody>
          <a:bodyPr rtlCol="0" anchor="ctr"/>
          <a:lstStyle/>
          <a:p>
            <a:pPr algn="ctr"/>
          </a:p>
        </p:txBody>
      </p:sp>
      <p:pic>
        <p:nvPicPr>
          <p:cNvPr id="49" name="Icon LuBookOpenCheck" descr="lu_LuBookOpenCheck_2E7A62.png"/>
          <p:cNvPicPr>
            <a:picLocks noChangeAspect="1"/>
          </p:cNvPicPr>
          <p:nvPr/>
        </p:nvPicPr>
        <p:blipFill>
          <a:blip r:embed="rId15"/>
          <a:stretch>
            <a:fillRect/>
          </a:stretch>
        </p:blipFill>
        <p:spPr>
          <a:xfrm>
            <a:off x="5245100" y="3790950"/>
            <a:ext cx="139700" cy="139700"/>
          </a:xfrm>
          <a:prstGeom prst="rect">
            <a:avLst/>
          </a:prstGeom>
        </p:spPr>
      </p:pic>
      <p:sp>
        <p:nvSpPr>
          <p:cNvPr id="50" name="TextBox 49"/>
          <p:cNvSpPr txBox="1"/>
          <p:nvPr/>
        </p:nvSpPr>
        <p:spPr>
          <a:xfrm>
            <a:off x="5530850" y="37211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Source check</a:t>
            </a:r>
          </a:p>
        </p:txBody>
      </p:sp>
      <p:pic>
        <p:nvPicPr>
          <p:cNvPr id="51" name="Icon LuCircleCheck" descr="lu_LuCircleCheck_2E7A62.png"/>
          <p:cNvPicPr>
            <a:picLocks noChangeAspect="1"/>
          </p:cNvPicPr>
          <p:nvPr/>
        </p:nvPicPr>
        <p:blipFill>
          <a:blip r:embed="rId13"/>
          <a:stretch>
            <a:fillRect/>
          </a:stretch>
        </p:blipFill>
        <p:spPr>
          <a:xfrm>
            <a:off x="6864350" y="3784600"/>
            <a:ext cx="152400" cy="152400"/>
          </a:xfrm>
          <a:prstGeom prst="rect">
            <a:avLst/>
          </a:prstGeom>
        </p:spPr>
      </p:pic>
      <p:cxnSp>
        <p:nvCxnSpPr>
          <p:cNvPr id="52" name="Connector 51"/>
          <p:cNvCxnSpPr/>
          <p:nvPr/>
        </p:nvCxnSpPr>
        <p:spPr>
          <a:xfrm>
            <a:off x="7156450" y="2686050"/>
            <a:ext cx="2413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Step card"/>
          <p:cNvSpPr/>
          <p:nvPr/>
        </p:nvSpPr>
        <p:spPr>
          <a:xfrm>
            <a:off x="7346950" y="1587500"/>
            <a:ext cx="2222500" cy="2705100"/>
          </a:xfrm>
          <a:prstGeom prst="roundRect">
            <a:avLst>
              <a:gd name="adj" fmla="val 6285"/>
            </a:avLst>
          </a:prstGeom>
          <a:solidFill>
            <a:srgbClr val="ECF1F6"/>
          </a:solidFill>
          <a:ln>
            <a:noFill/>
          </a:ln>
          <a:effectLst>
            <a:outerShdw blurRad="279400" dist="50800" dir="5400000" algn="t" rotWithShape="0">
              <a:srgbClr val="1B3A30">
                <a:alpha val="9000"/>
              </a:srgbClr>
            </a:outerShdw>
          </a:effectLst>
        </p:spPr>
        <p:txBody>
          <a:bodyPr rtlCol="0" anchor="ctr"/>
          <a:lstStyle/>
          <a:p>
            <a:pPr algn="ctr"/>
          </a:p>
        </p:txBody>
      </p:sp>
      <p:sp>
        <p:nvSpPr>
          <p:cNvPr id="54" name="Number"/>
          <p:cNvSpPr/>
          <p:nvPr/>
        </p:nvSpPr>
        <p:spPr>
          <a:xfrm>
            <a:off x="7461250" y="1727200"/>
            <a:ext cx="368300" cy="368300"/>
          </a:xfrm>
          <a:prstGeom prst="ellipse">
            <a:avLst/>
          </a:prstGeom>
          <a:solidFill>
            <a:srgbClr val="2F4F6A"/>
          </a:solidFill>
          <a:ln>
            <a:noFill/>
          </a:ln>
        </p:spPr>
        <p:txBody>
          <a:bodyPr rtlCol="0" anchor="ctr"/>
          <a:lstStyle/>
          <a:p>
            <a:pPr algn="ctr"/>
          </a:p>
        </p:txBody>
      </p:sp>
      <p:sp>
        <p:nvSpPr>
          <p:cNvPr id="55" name="TextBox 54"/>
          <p:cNvSpPr txBox="1"/>
          <p:nvPr/>
        </p:nvSpPr>
        <p:spPr>
          <a:xfrm>
            <a:off x="7461250" y="1727200"/>
            <a:ext cx="368300" cy="368300"/>
          </a:xfrm>
          <a:prstGeom prst="rect">
            <a:avLst/>
          </a:prstGeom>
          <a:noFill/>
        </p:spPr>
        <p:txBody>
          <a:bodyPr wrap="square" lIns="0" rIns="0" tIns="0" bIns="0" anchor="ctr">
            <a:noAutofit/>
          </a:bodyPr>
          <a:lstStyle/>
          <a:p>
            <a:pPr algn="ctr"/>
            <a:r>
              <a:rPr sz="1100" b="1" i="0">
                <a:solidFill>
                  <a:srgbClr val="FFFFFF"/>
                </a:solidFill>
                <a:latin typeface="DM Sans"/>
                <a:ea typeface="DM Sans"/>
                <a:cs typeface="DM Sans"/>
              </a:rPr>
              <a:t>04</a:t>
            </a:r>
          </a:p>
        </p:txBody>
      </p:sp>
      <p:sp>
        <p:nvSpPr>
          <p:cNvPr id="56" name="Eyebrow"/>
          <p:cNvSpPr txBox="1"/>
          <p:nvPr/>
        </p:nvSpPr>
        <p:spPr>
          <a:xfrm>
            <a:off x="7918450" y="1752600"/>
            <a:ext cx="1587500" cy="215900"/>
          </a:xfrm>
          <a:prstGeom prst="rect">
            <a:avLst/>
          </a:prstGeom>
          <a:noFill/>
        </p:spPr>
        <p:txBody>
          <a:bodyPr wrap="square" lIns="0" rIns="0" tIns="0" bIns="0" anchor="t">
            <a:noAutofit/>
          </a:bodyPr>
          <a:lstStyle/>
          <a:p>
            <a:pPr algn="l"/>
            <a:r>
              <a:rPr sz="900" b="1" i="0" spc="220">
                <a:solidFill>
                  <a:srgbClr val="2F4F6A"/>
                </a:solidFill>
                <a:latin typeface="DM Sans"/>
                <a:ea typeface="DM Sans"/>
                <a:cs typeface="DM Sans"/>
              </a:rPr>
              <a:t>TOOL RUNS</a:t>
            </a:r>
          </a:p>
        </p:txBody>
      </p:sp>
      <p:sp>
        <p:nvSpPr>
          <p:cNvPr id="57" name="TextBox 56"/>
          <p:cNvSpPr txBox="1"/>
          <p:nvPr/>
        </p:nvSpPr>
        <p:spPr>
          <a:xfrm>
            <a:off x="7918450" y="1930400"/>
            <a:ext cx="1587500" cy="292100"/>
          </a:xfrm>
          <a:prstGeom prst="rect">
            <a:avLst/>
          </a:prstGeom>
          <a:noFill/>
        </p:spPr>
        <p:txBody>
          <a:bodyPr wrap="square" lIns="0" rIns="0" tIns="0" bIns="0" anchor="t">
            <a:noAutofit/>
          </a:bodyPr>
          <a:lstStyle/>
          <a:p>
            <a:pPr algn="l"/>
            <a:r>
              <a:rPr sz="1500" b="0" i="0">
                <a:solidFill>
                  <a:srgbClr val="15201B"/>
                </a:solidFill>
                <a:latin typeface="Newsreader"/>
                <a:ea typeface="Newsreader"/>
                <a:cs typeface="Newsreader"/>
              </a:rPr>
              <a:t>Execute the action</a:t>
            </a:r>
          </a:p>
        </p:txBody>
      </p:sp>
      <p:sp>
        <p:nvSpPr>
          <p:cNvPr id="58" name="TextBox 57"/>
          <p:cNvSpPr txBox="1"/>
          <p:nvPr/>
        </p:nvSpPr>
        <p:spPr>
          <a:xfrm>
            <a:off x="7918450" y="2235200"/>
            <a:ext cx="1600200" cy="419100"/>
          </a:xfrm>
          <a:prstGeom prst="rect">
            <a:avLst/>
          </a:prstGeom>
          <a:noFill/>
        </p:spPr>
        <p:txBody>
          <a:bodyPr wrap="square" lIns="0" rIns="0" tIns="0" bIns="0" anchor="t">
            <a:noAutofit/>
          </a:bodyPr>
          <a:lstStyle/>
          <a:p>
            <a:pPr algn="l">
              <a:lnSpc>
                <a:spcPct val="112000"/>
              </a:lnSpc>
            </a:pPr>
            <a:r>
              <a:rPr sz="950" b="0" i="0">
                <a:solidFill>
                  <a:srgbClr val="5B6561"/>
                </a:solidFill>
                <a:latin typeface="DM Sans"/>
                <a:ea typeface="DM Sans"/>
                <a:cs typeface="DM Sans"/>
              </a:rPr>
              <a:t>Only authorized tools</a:t>
            </a:r>
            <a:br>
              <a:rPr sz="950"/>
            </a:br>
            <a:r>
              <a:rPr sz="950" b="0" i="0">
                <a:solidFill>
                  <a:srgbClr val="5B6561"/>
                </a:solidFill>
                <a:latin typeface="DM Sans"/>
                <a:ea typeface="DM Sans"/>
                <a:cs typeface="DM Sans"/>
              </a:rPr>
              <a:t>execute.</a:t>
            </a:r>
          </a:p>
        </p:txBody>
      </p:sp>
      <p:sp>
        <p:nvSpPr>
          <p:cNvPr id="59" name="Panel"/>
          <p:cNvSpPr/>
          <p:nvPr/>
        </p:nvSpPr>
        <p:spPr>
          <a:xfrm>
            <a:off x="7448550" y="2768600"/>
            <a:ext cx="2019300" cy="1409700"/>
          </a:xfrm>
          <a:prstGeom prst="roundRect">
            <a:avLst>
              <a:gd name="adj" fmla="val 7207"/>
            </a:avLst>
          </a:prstGeom>
          <a:solidFill>
            <a:srgbClr val="FFFFFF"/>
          </a:solidFill>
          <a:ln>
            <a:noFill/>
          </a:ln>
        </p:spPr>
        <p:txBody>
          <a:bodyPr rtlCol="0" anchor="ctr"/>
          <a:lstStyle/>
          <a:p>
            <a:pPr algn="ctr"/>
          </a:p>
        </p:txBody>
      </p:sp>
      <p:sp>
        <p:nvSpPr>
          <p:cNvPr id="60" name="Oval 59"/>
          <p:cNvSpPr/>
          <p:nvPr/>
        </p:nvSpPr>
        <p:spPr>
          <a:xfrm>
            <a:off x="7537450" y="2882900"/>
            <a:ext cx="279400" cy="279400"/>
          </a:xfrm>
          <a:prstGeom prst="ellipse">
            <a:avLst/>
          </a:prstGeom>
          <a:solidFill>
            <a:srgbClr val="F2F4F1"/>
          </a:solidFill>
          <a:ln>
            <a:noFill/>
          </a:ln>
        </p:spPr>
        <p:txBody>
          <a:bodyPr rtlCol="0" anchor="ctr"/>
          <a:lstStyle/>
          <a:p>
            <a:pPr algn="ctr"/>
          </a:p>
        </p:txBody>
      </p:sp>
      <p:pic>
        <p:nvPicPr>
          <p:cNvPr id="61" name="Icon LuBookOpen" descr="lu_LuBookOpen_2F5B78.png"/>
          <p:cNvPicPr>
            <a:picLocks noChangeAspect="1"/>
          </p:cNvPicPr>
          <p:nvPr/>
        </p:nvPicPr>
        <p:blipFill>
          <a:blip r:embed="rId16"/>
          <a:stretch>
            <a:fillRect/>
          </a:stretch>
        </p:blipFill>
        <p:spPr>
          <a:xfrm>
            <a:off x="7607300" y="2952750"/>
            <a:ext cx="139700" cy="139700"/>
          </a:xfrm>
          <a:prstGeom prst="rect">
            <a:avLst/>
          </a:prstGeom>
        </p:spPr>
      </p:pic>
      <p:sp>
        <p:nvSpPr>
          <p:cNvPr id="62" name="TextBox 61"/>
          <p:cNvSpPr txBox="1"/>
          <p:nvPr/>
        </p:nvSpPr>
        <p:spPr>
          <a:xfrm>
            <a:off x="7893050" y="28829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Content retrieval</a:t>
            </a:r>
          </a:p>
        </p:txBody>
      </p:sp>
      <p:pic>
        <p:nvPicPr>
          <p:cNvPr id="63" name="Icon LuCircleCheck" descr="lu_LuCircleCheck_2E7A62.png"/>
          <p:cNvPicPr>
            <a:picLocks noChangeAspect="1"/>
          </p:cNvPicPr>
          <p:nvPr/>
        </p:nvPicPr>
        <p:blipFill>
          <a:blip r:embed="rId13"/>
          <a:stretch>
            <a:fillRect/>
          </a:stretch>
        </p:blipFill>
        <p:spPr>
          <a:xfrm>
            <a:off x="9226550" y="2946400"/>
            <a:ext cx="152400" cy="152400"/>
          </a:xfrm>
          <a:prstGeom prst="rect">
            <a:avLst/>
          </a:prstGeom>
        </p:spPr>
      </p:pic>
      <p:sp>
        <p:nvSpPr>
          <p:cNvPr id="64" name="Oval 63"/>
          <p:cNvSpPr/>
          <p:nvPr/>
        </p:nvSpPr>
        <p:spPr>
          <a:xfrm>
            <a:off x="7537450" y="3302000"/>
            <a:ext cx="279400" cy="279400"/>
          </a:xfrm>
          <a:prstGeom prst="ellipse">
            <a:avLst/>
          </a:prstGeom>
          <a:solidFill>
            <a:srgbClr val="F2F4F1"/>
          </a:solidFill>
          <a:ln>
            <a:noFill/>
          </a:ln>
        </p:spPr>
        <p:txBody>
          <a:bodyPr rtlCol="0" anchor="ctr"/>
          <a:lstStyle/>
          <a:p>
            <a:pPr algn="ctr"/>
          </a:p>
        </p:txBody>
      </p:sp>
      <p:pic>
        <p:nvPicPr>
          <p:cNvPr id="65" name="Icon LuMessageSquare" descr="lu_LuMessageSquare_2F5B78.png"/>
          <p:cNvPicPr>
            <a:picLocks noChangeAspect="1"/>
          </p:cNvPicPr>
          <p:nvPr/>
        </p:nvPicPr>
        <p:blipFill>
          <a:blip r:embed="rId17"/>
          <a:stretch>
            <a:fillRect/>
          </a:stretch>
        </p:blipFill>
        <p:spPr>
          <a:xfrm>
            <a:off x="7607300" y="3371850"/>
            <a:ext cx="139700" cy="139700"/>
          </a:xfrm>
          <a:prstGeom prst="rect">
            <a:avLst/>
          </a:prstGeom>
        </p:spPr>
      </p:pic>
      <p:sp>
        <p:nvSpPr>
          <p:cNvPr id="66" name="TextBox 65"/>
          <p:cNvSpPr txBox="1"/>
          <p:nvPr/>
        </p:nvSpPr>
        <p:spPr>
          <a:xfrm>
            <a:off x="7893050" y="33020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Tutoring (explanation)</a:t>
            </a:r>
          </a:p>
        </p:txBody>
      </p:sp>
      <p:pic>
        <p:nvPicPr>
          <p:cNvPr id="67" name="Icon LuCircleCheck" descr="lu_LuCircleCheck_2E7A62.png"/>
          <p:cNvPicPr>
            <a:picLocks noChangeAspect="1"/>
          </p:cNvPicPr>
          <p:nvPr/>
        </p:nvPicPr>
        <p:blipFill>
          <a:blip r:embed="rId13"/>
          <a:stretch>
            <a:fillRect/>
          </a:stretch>
        </p:blipFill>
        <p:spPr>
          <a:xfrm>
            <a:off x="9226550" y="3365500"/>
            <a:ext cx="152400" cy="152400"/>
          </a:xfrm>
          <a:prstGeom prst="rect">
            <a:avLst/>
          </a:prstGeom>
        </p:spPr>
      </p:pic>
      <p:sp>
        <p:nvSpPr>
          <p:cNvPr id="68" name="Oval 67"/>
          <p:cNvSpPr/>
          <p:nvPr/>
        </p:nvSpPr>
        <p:spPr>
          <a:xfrm>
            <a:off x="7537450" y="3721100"/>
            <a:ext cx="279400" cy="279400"/>
          </a:xfrm>
          <a:prstGeom prst="ellipse">
            <a:avLst/>
          </a:prstGeom>
          <a:solidFill>
            <a:srgbClr val="F2F4F1"/>
          </a:solidFill>
          <a:ln>
            <a:noFill/>
          </a:ln>
        </p:spPr>
        <p:txBody>
          <a:bodyPr rtlCol="0" anchor="ctr"/>
          <a:lstStyle/>
          <a:p>
            <a:pPr algn="ctr"/>
          </a:p>
        </p:txBody>
      </p:sp>
      <p:pic>
        <p:nvPicPr>
          <p:cNvPr id="69" name="Icon LuCircleHelp" descr="lu_LuCircleHelp_2F5B78.png"/>
          <p:cNvPicPr>
            <a:picLocks noChangeAspect="1"/>
          </p:cNvPicPr>
          <p:nvPr/>
        </p:nvPicPr>
        <p:blipFill>
          <a:blip r:embed="rId18"/>
          <a:stretch>
            <a:fillRect/>
          </a:stretch>
        </p:blipFill>
        <p:spPr>
          <a:xfrm>
            <a:off x="7607300" y="3790950"/>
            <a:ext cx="139700" cy="139700"/>
          </a:xfrm>
          <a:prstGeom prst="rect">
            <a:avLst/>
          </a:prstGeom>
        </p:spPr>
      </p:pic>
      <p:sp>
        <p:nvSpPr>
          <p:cNvPr id="70" name="TextBox 69"/>
          <p:cNvSpPr txBox="1"/>
          <p:nvPr/>
        </p:nvSpPr>
        <p:spPr>
          <a:xfrm>
            <a:off x="7893050" y="3721100"/>
            <a:ext cx="1270000" cy="279400"/>
          </a:xfrm>
          <a:prstGeom prst="rect">
            <a:avLst/>
          </a:prstGeom>
          <a:noFill/>
        </p:spPr>
        <p:txBody>
          <a:bodyPr wrap="square" lIns="0" rIns="0" tIns="0" bIns="0" anchor="ctr">
            <a:noAutofit/>
          </a:bodyPr>
          <a:lstStyle/>
          <a:p>
            <a:pPr algn="l">
              <a:lnSpc>
                <a:spcPct val="100000"/>
              </a:lnSpc>
            </a:pPr>
            <a:r>
              <a:rPr sz="950" b="0" i="0">
                <a:solidFill>
                  <a:srgbClr val="15201B"/>
                </a:solidFill>
                <a:latin typeface="DM Sans"/>
                <a:ea typeface="DM Sans"/>
                <a:cs typeface="DM Sans"/>
              </a:rPr>
              <a:t>Diagnostic question</a:t>
            </a:r>
          </a:p>
        </p:txBody>
      </p:sp>
      <p:pic>
        <p:nvPicPr>
          <p:cNvPr id="71" name="Icon LuCircleCheck" descr="lu_LuCircleCheck_2E7A62.png"/>
          <p:cNvPicPr>
            <a:picLocks noChangeAspect="1"/>
          </p:cNvPicPr>
          <p:nvPr/>
        </p:nvPicPr>
        <p:blipFill>
          <a:blip r:embed="rId13"/>
          <a:stretch>
            <a:fillRect/>
          </a:stretch>
        </p:blipFill>
        <p:spPr>
          <a:xfrm>
            <a:off x="9226550" y="3784600"/>
            <a:ext cx="152400" cy="152400"/>
          </a:xfrm>
          <a:prstGeom prst="rect">
            <a:avLst/>
          </a:prstGeom>
        </p:spPr>
      </p:pic>
      <p:cxnSp>
        <p:nvCxnSpPr>
          <p:cNvPr id="72" name="Connector 71"/>
          <p:cNvCxnSpPr/>
          <p:nvPr/>
        </p:nvCxnSpPr>
        <p:spPr>
          <a:xfrm>
            <a:off x="9518650" y="2686050"/>
            <a:ext cx="2413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Step card"/>
          <p:cNvSpPr/>
          <p:nvPr/>
        </p:nvSpPr>
        <p:spPr>
          <a:xfrm>
            <a:off x="9709150" y="1587500"/>
            <a:ext cx="2222500" cy="2705100"/>
          </a:xfrm>
          <a:prstGeom prst="roundRect">
            <a:avLst>
              <a:gd name="adj" fmla="val 6285"/>
            </a:avLst>
          </a:prstGeom>
          <a:solidFill>
            <a:srgbClr val="F9F3E8"/>
          </a:solidFill>
          <a:ln>
            <a:noFill/>
          </a:ln>
          <a:effectLst>
            <a:outerShdw blurRad="279400" dist="50800" dir="5400000" algn="t" rotWithShape="0">
              <a:srgbClr val="1B3A30">
                <a:alpha val="9000"/>
              </a:srgbClr>
            </a:outerShdw>
          </a:effectLst>
        </p:spPr>
        <p:txBody>
          <a:bodyPr rtlCol="0" anchor="ctr"/>
          <a:lstStyle/>
          <a:p>
            <a:pPr algn="ctr"/>
          </a:p>
        </p:txBody>
      </p:sp>
      <p:sp>
        <p:nvSpPr>
          <p:cNvPr id="74" name="Number"/>
          <p:cNvSpPr/>
          <p:nvPr/>
        </p:nvSpPr>
        <p:spPr>
          <a:xfrm>
            <a:off x="9823450" y="1727200"/>
            <a:ext cx="368300" cy="368300"/>
          </a:xfrm>
          <a:prstGeom prst="ellipse">
            <a:avLst/>
          </a:prstGeom>
          <a:solidFill>
            <a:srgbClr val="8A5E1F"/>
          </a:solidFill>
          <a:ln>
            <a:noFill/>
          </a:ln>
        </p:spPr>
        <p:txBody>
          <a:bodyPr rtlCol="0" anchor="ctr"/>
          <a:lstStyle/>
          <a:p>
            <a:pPr algn="ctr"/>
          </a:p>
        </p:txBody>
      </p:sp>
      <p:sp>
        <p:nvSpPr>
          <p:cNvPr id="75" name="TextBox 74"/>
          <p:cNvSpPr txBox="1"/>
          <p:nvPr/>
        </p:nvSpPr>
        <p:spPr>
          <a:xfrm>
            <a:off x="9823450" y="1727200"/>
            <a:ext cx="368300" cy="368300"/>
          </a:xfrm>
          <a:prstGeom prst="rect">
            <a:avLst/>
          </a:prstGeom>
          <a:noFill/>
        </p:spPr>
        <p:txBody>
          <a:bodyPr wrap="square" lIns="0" rIns="0" tIns="0" bIns="0" anchor="ctr">
            <a:noAutofit/>
          </a:bodyPr>
          <a:lstStyle/>
          <a:p>
            <a:pPr algn="ctr"/>
            <a:r>
              <a:rPr sz="1100" b="1" i="0">
                <a:solidFill>
                  <a:srgbClr val="FFFFFF"/>
                </a:solidFill>
                <a:latin typeface="DM Sans"/>
                <a:ea typeface="DM Sans"/>
                <a:cs typeface="DM Sans"/>
              </a:rPr>
              <a:t>05</a:t>
            </a:r>
          </a:p>
        </p:txBody>
      </p:sp>
      <p:sp>
        <p:nvSpPr>
          <p:cNvPr id="76" name="Eyebrow"/>
          <p:cNvSpPr txBox="1"/>
          <p:nvPr/>
        </p:nvSpPr>
        <p:spPr>
          <a:xfrm>
            <a:off x="10280650" y="1752600"/>
            <a:ext cx="1587500" cy="215900"/>
          </a:xfrm>
          <a:prstGeom prst="rect">
            <a:avLst/>
          </a:prstGeom>
          <a:noFill/>
        </p:spPr>
        <p:txBody>
          <a:bodyPr wrap="square" lIns="0" rIns="0" tIns="0" bIns="0" anchor="t">
            <a:noAutofit/>
          </a:bodyPr>
          <a:lstStyle/>
          <a:p>
            <a:pPr algn="l"/>
            <a:r>
              <a:rPr sz="900" b="1" i="0" spc="220">
                <a:solidFill>
                  <a:srgbClr val="8A5E1F"/>
                </a:solidFill>
                <a:latin typeface="DM Sans"/>
                <a:ea typeface="DM Sans"/>
                <a:cs typeface="DM Sans"/>
              </a:rPr>
              <a:t>RESULT RECORDED</a:t>
            </a:r>
          </a:p>
        </p:txBody>
      </p:sp>
      <p:sp>
        <p:nvSpPr>
          <p:cNvPr id="77" name="TextBox 76"/>
          <p:cNvSpPr txBox="1"/>
          <p:nvPr/>
        </p:nvSpPr>
        <p:spPr>
          <a:xfrm>
            <a:off x="10280650" y="1930400"/>
            <a:ext cx="1587500" cy="292100"/>
          </a:xfrm>
          <a:prstGeom prst="rect">
            <a:avLst/>
          </a:prstGeom>
          <a:noFill/>
        </p:spPr>
        <p:txBody>
          <a:bodyPr wrap="square" lIns="0" rIns="0" tIns="0" bIns="0" anchor="t">
            <a:noAutofit/>
          </a:bodyPr>
          <a:lstStyle/>
          <a:p>
            <a:pPr algn="l"/>
            <a:r>
              <a:rPr sz="1500" b="0" i="0">
                <a:solidFill>
                  <a:srgbClr val="15201B"/>
                </a:solidFill>
                <a:latin typeface="Newsreader"/>
                <a:ea typeface="Newsreader"/>
                <a:cs typeface="Newsreader"/>
              </a:rPr>
              <a:t>Save as evidence</a:t>
            </a:r>
          </a:p>
        </p:txBody>
      </p:sp>
      <p:sp>
        <p:nvSpPr>
          <p:cNvPr id="78" name="TextBox 77"/>
          <p:cNvSpPr txBox="1"/>
          <p:nvPr/>
        </p:nvSpPr>
        <p:spPr>
          <a:xfrm>
            <a:off x="10280650" y="2235200"/>
            <a:ext cx="1600200" cy="419100"/>
          </a:xfrm>
          <a:prstGeom prst="rect">
            <a:avLst/>
          </a:prstGeom>
          <a:noFill/>
        </p:spPr>
        <p:txBody>
          <a:bodyPr wrap="square" lIns="0" rIns="0" tIns="0" bIns="0" anchor="t">
            <a:noAutofit/>
          </a:bodyPr>
          <a:lstStyle/>
          <a:p>
            <a:pPr algn="l">
              <a:lnSpc>
                <a:spcPct val="112000"/>
              </a:lnSpc>
            </a:pPr>
            <a:r>
              <a:rPr sz="950" b="0" i="0">
                <a:solidFill>
                  <a:srgbClr val="5B6561"/>
                </a:solidFill>
                <a:latin typeface="DM Sans"/>
                <a:ea typeface="DM Sans"/>
                <a:cs typeface="DM Sans"/>
              </a:rPr>
              <a:t>The interaction and sources</a:t>
            </a:r>
            <a:br>
              <a:rPr sz="950"/>
            </a:br>
            <a:r>
              <a:rPr sz="950" b="0" i="0">
                <a:solidFill>
                  <a:srgbClr val="5B6561"/>
                </a:solidFill>
                <a:latin typeface="DM Sans"/>
                <a:ea typeface="DM Sans"/>
                <a:cs typeface="DM Sans"/>
              </a:rPr>
              <a:t>are saved for review.</a:t>
            </a:r>
          </a:p>
        </p:txBody>
      </p:sp>
      <p:sp>
        <p:nvSpPr>
          <p:cNvPr id="79" name="Panel"/>
          <p:cNvSpPr/>
          <p:nvPr/>
        </p:nvSpPr>
        <p:spPr>
          <a:xfrm>
            <a:off x="9810750" y="2768600"/>
            <a:ext cx="2019300" cy="1409700"/>
          </a:xfrm>
          <a:prstGeom prst="roundRect">
            <a:avLst>
              <a:gd name="adj" fmla="val 7207"/>
            </a:avLst>
          </a:prstGeom>
          <a:solidFill>
            <a:srgbClr val="FFFFFF"/>
          </a:solidFill>
          <a:ln>
            <a:noFill/>
          </a:ln>
        </p:spPr>
        <p:txBody>
          <a:bodyPr rtlCol="0" anchor="ctr"/>
          <a:lstStyle/>
          <a:p>
            <a:pPr algn="ctr"/>
          </a:p>
        </p:txBody>
      </p:sp>
      <p:pic>
        <p:nvPicPr>
          <p:cNvPr id="80" name="Icon LuCircleCheck" descr="lu_LuCircleCheck_2E7A62.png"/>
          <p:cNvPicPr>
            <a:picLocks noChangeAspect="1"/>
          </p:cNvPicPr>
          <p:nvPr/>
        </p:nvPicPr>
        <p:blipFill>
          <a:blip r:embed="rId13"/>
          <a:stretch>
            <a:fillRect/>
          </a:stretch>
        </p:blipFill>
        <p:spPr>
          <a:xfrm>
            <a:off x="9899650" y="2870200"/>
            <a:ext cx="152400" cy="152400"/>
          </a:xfrm>
          <a:prstGeom prst="rect">
            <a:avLst/>
          </a:prstGeom>
        </p:spPr>
      </p:pic>
      <p:sp>
        <p:nvSpPr>
          <p:cNvPr id="81" name="TextBox 80"/>
          <p:cNvSpPr txBox="1"/>
          <p:nvPr/>
        </p:nvSpPr>
        <p:spPr>
          <a:xfrm>
            <a:off x="10102850" y="2844800"/>
            <a:ext cx="1651000" cy="203200"/>
          </a:xfrm>
          <a:prstGeom prst="rect">
            <a:avLst/>
          </a:prstGeom>
          <a:noFill/>
        </p:spPr>
        <p:txBody>
          <a:bodyPr wrap="square" lIns="0" rIns="0" tIns="0" bIns="0" anchor="ctr">
            <a:noAutofit/>
          </a:bodyPr>
          <a:lstStyle/>
          <a:p>
            <a:pPr algn="l"/>
            <a:r>
              <a:rPr sz="950" b="1" i="0">
                <a:solidFill>
                  <a:srgbClr val="15201B"/>
                </a:solidFill>
                <a:latin typeface="DM Sans"/>
                <a:ea typeface="DM Sans"/>
                <a:cs typeface="DM Sans"/>
              </a:rPr>
              <a:t>Saved to learning history</a:t>
            </a:r>
          </a:p>
        </p:txBody>
      </p:sp>
      <p:pic>
        <p:nvPicPr>
          <p:cNvPr id="82" name="Icon LuFileText" descr="lu_LuFileText_B7792A.png"/>
          <p:cNvPicPr>
            <a:picLocks noChangeAspect="1"/>
          </p:cNvPicPr>
          <p:nvPr/>
        </p:nvPicPr>
        <p:blipFill>
          <a:blip r:embed="rId19"/>
          <a:stretch>
            <a:fillRect/>
          </a:stretch>
        </p:blipFill>
        <p:spPr>
          <a:xfrm>
            <a:off x="9925050" y="3149600"/>
            <a:ext cx="139700" cy="139700"/>
          </a:xfrm>
          <a:prstGeom prst="rect">
            <a:avLst/>
          </a:prstGeom>
        </p:spPr>
      </p:pic>
      <p:sp>
        <p:nvSpPr>
          <p:cNvPr id="83" name="TextBox 82"/>
          <p:cNvSpPr txBox="1"/>
          <p:nvPr/>
        </p:nvSpPr>
        <p:spPr>
          <a:xfrm>
            <a:off x="10128250" y="3111500"/>
            <a:ext cx="1587500" cy="2159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Original answer</a:t>
            </a:r>
          </a:p>
        </p:txBody>
      </p:sp>
      <p:pic>
        <p:nvPicPr>
          <p:cNvPr id="84" name="Icon LuLightbulb" descr="lu_LuLightbulb_C9902E.png"/>
          <p:cNvPicPr>
            <a:picLocks noChangeAspect="1"/>
          </p:cNvPicPr>
          <p:nvPr/>
        </p:nvPicPr>
        <p:blipFill>
          <a:blip r:embed="rId9"/>
          <a:stretch>
            <a:fillRect/>
          </a:stretch>
        </p:blipFill>
        <p:spPr>
          <a:xfrm>
            <a:off x="9925050" y="3403600"/>
            <a:ext cx="139700" cy="139700"/>
          </a:xfrm>
          <a:prstGeom prst="rect">
            <a:avLst/>
          </a:prstGeom>
        </p:spPr>
      </p:pic>
      <p:sp>
        <p:nvSpPr>
          <p:cNvPr id="85" name="TextBox 84"/>
          <p:cNvSpPr txBox="1"/>
          <p:nvPr/>
        </p:nvSpPr>
        <p:spPr>
          <a:xfrm>
            <a:off x="10128250" y="3365500"/>
            <a:ext cx="1587500" cy="2159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Help shown</a:t>
            </a:r>
          </a:p>
        </p:txBody>
      </p:sp>
      <p:pic>
        <p:nvPicPr>
          <p:cNvPr id="86" name="Icon LuLink" descr="lu_LuLink_2F5B78.png"/>
          <p:cNvPicPr>
            <a:picLocks noChangeAspect="1"/>
          </p:cNvPicPr>
          <p:nvPr/>
        </p:nvPicPr>
        <p:blipFill>
          <a:blip r:embed="rId20"/>
          <a:stretch>
            <a:fillRect/>
          </a:stretch>
        </p:blipFill>
        <p:spPr>
          <a:xfrm>
            <a:off x="9925050" y="3657600"/>
            <a:ext cx="139700" cy="139700"/>
          </a:xfrm>
          <a:prstGeom prst="rect">
            <a:avLst/>
          </a:prstGeom>
        </p:spPr>
      </p:pic>
      <p:sp>
        <p:nvSpPr>
          <p:cNvPr id="87" name="TextBox 86"/>
          <p:cNvSpPr txBox="1"/>
          <p:nvPr/>
        </p:nvSpPr>
        <p:spPr>
          <a:xfrm>
            <a:off x="10128250" y="3619500"/>
            <a:ext cx="1587500" cy="2159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Sources used</a:t>
            </a:r>
          </a:p>
        </p:txBody>
      </p:sp>
      <p:pic>
        <p:nvPicPr>
          <p:cNvPr id="88" name="Icon LuClipboardCheck" descr="lu_LuClipboardCheck_2E7A62.png"/>
          <p:cNvPicPr>
            <a:picLocks noChangeAspect="1"/>
          </p:cNvPicPr>
          <p:nvPr/>
        </p:nvPicPr>
        <p:blipFill>
          <a:blip r:embed="rId11"/>
          <a:stretch>
            <a:fillRect/>
          </a:stretch>
        </p:blipFill>
        <p:spPr>
          <a:xfrm>
            <a:off x="9925050" y="3911600"/>
            <a:ext cx="139700" cy="139700"/>
          </a:xfrm>
          <a:prstGeom prst="rect">
            <a:avLst/>
          </a:prstGeom>
        </p:spPr>
      </p:pic>
      <p:sp>
        <p:nvSpPr>
          <p:cNvPr id="89" name="TextBox 88"/>
          <p:cNvSpPr txBox="1"/>
          <p:nvPr/>
        </p:nvSpPr>
        <p:spPr>
          <a:xfrm>
            <a:off x="10128250" y="3873500"/>
            <a:ext cx="1587500" cy="215900"/>
          </a:xfrm>
          <a:prstGeom prst="rect">
            <a:avLst/>
          </a:prstGeom>
          <a:noFill/>
        </p:spPr>
        <p:txBody>
          <a:bodyPr wrap="square" lIns="0" rIns="0" tIns="0" bIns="0" anchor="ctr">
            <a:noAutofit/>
          </a:bodyPr>
          <a:lstStyle/>
          <a:p>
            <a:pPr algn="l"/>
            <a:r>
              <a:rPr sz="950" b="0" i="0">
                <a:solidFill>
                  <a:srgbClr val="15201B"/>
                </a:solidFill>
                <a:latin typeface="DM Sans"/>
                <a:ea typeface="DM Sans"/>
                <a:cs typeface="DM Sans"/>
              </a:rPr>
              <a:t>Evaluation</a:t>
            </a:r>
          </a:p>
        </p:txBody>
      </p:sp>
      <p:cxnSp>
        <p:nvCxnSpPr>
          <p:cNvPr id="90" name="Connector 89"/>
          <p:cNvCxnSpPr/>
          <p:nvPr/>
        </p:nvCxnSpPr>
        <p:spPr>
          <a:xfrm>
            <a:off x="2432050" y="2686050"/>
            <a:ext cx="2413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 name="Loop pill"/>
          <p:cNvSpPr/>
          <p:nvPr/>
        </p:nvSpPr>
        <p:spPr>
          <a:xfrm>
            <a:off x="4826000" y="4470400"/>
            <a:ext cx="4953000" cy="368300"/>
          </a:xfrm>
          <a:prstGeom prst="roundRect">
            <a:avLst>
              <a:gd name="adj" fmla="val 50000"/>
            </a:avLst>
          </a:prstGeom>
          <a:solidFill>
            <a:srgbClr val="FFFFFF"/>
          </a:solidFill>
          <a:ln w="19050">
            <a:solidFill>
              <a:srgbClr val="1B4236"/>
            </a:solidFill>
          </a:ln>
        </p:spPr>
        <p:txBody>
          <a:bodyPr rtlCol="0" anchor="ctr"/>
          <a:lstStyle/>
          <a:p>
            <a:pPr algn="ctr"/>
          </a:p>
        </p:txBody>
      </p:sp>
      <p:pic>
        <p:nvPicPr>
          <p:cNvPr id="92" name="Icon LuEye" descr="lu_LuEye_1B4236.png"/>
          <p:cNvPicPr>
            <a:picLocks noChangeAspect="1"/>
          </p:cNvPicPr>
          <p:nvPr/>
        </p:nvPicPr>
        <p:blipFill>
          <a:blip r:embed="rId21"/>
          <a:stretch>
            <a:fillRect/>
          </a:stretch>
        </p:blipFill>
        <p:spPr>
          <a:xfrm>
            <a:off x="5016500" y="4552950"/>
            <a:ext cx="203200" cy="203200"/>
          </a:xfrm>
          <a:prstGeom prst="rect">
            <a:avLst/>
          </a:prstGeom>
        </p:spPr>
      </p:pic>
      <p:sp>
        <p:nvSpPr>
          <p:cNvPr id="93" name="TextBox 92"/>
          <p:cNvSpPr txBox="1"/>
          <p:nvPr/>
        </p:nvSpPr>
        <p:spPr>
          <a:xfrm>
            <a:off x="5295900" y="4470400"/>
            <a:ext cx="4381500" cy="368300"/>
          </a:xfrm>
          <a:prstGeom prst="rect">
            <a:avLst/>
          </a:prstGeom>
          <a:noFill/>
        </p:spPr>
        <p:txBody>
          <a:bodyPr wrap="square" lIns="0" rIns="0" tIns="0" bIns="0" anchor="ctr">
            <a:noAutofit/>
          </a:bodyPr>
          <a:lstStyle/>
          <a:p>
            <a:pPr algn="l"/>
            <a:r>
              <a:rPr sz="1050" b="1" i="0">
                <a:solidFill>
                  <a:srgbClr val="1B4236"/>
                </a:solidFill>
                <a:latin typeface="DM Sans"/>
                <a:ea typeface="DM Sans"/>
                <a:cs typeface="DM Sans"/>
              </a:rPr>
              <a:t>The tutor observes each result and chooses its next step</a:t>
            </a:r>
          </a:p>
        </p:txBody>
      </p:sp>
      <p:cxnSp>
        <p:nvCxnSpPr>
          <p:cNvPr id="94" name="Connector 93"/>
          <p:cNvCxnSpPr/>
          <p:nvPr/>
        </p:nvCxnSpPr>
        <p:spPr>
          <a:xfrm>
            <a:off x="10820400" y="4292600"/>
            <a:ext cx="0" cy="361950"/>
          </a:xfrm>
          <a:prstGeom prst="line">
            <a:avLst/>
          </a:prstGeom>
          <a:ln w="28575">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9779000" y="4654550"/>
            <a:ext cx="10414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3733800" y="4654550"/>
            <a:ext cx="1092200" cy="0"/>
          </a:xfrm>
          <a:prstGeom prst="line">
            <a:avLst/>
          </a:prstGeom>
          <a:ln w="28575">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33800" y="4292600"/>
            <a:ext cx="0" cy="36195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Tools band"/>
          <p:cNvSpPr/>
          <p:nvPr/>
        </p:nvSpPr>
        <p:spPr>
          <a:xfrm>
            <a:off x="260350" y="5067300"/>
            <a:ext cx="11671300" cy="965200"/>
          </a:xfrm>
          <a:prstGeom prst="roundRect">
            <a:avLst>
              <a:gd name="adj" fmla="val 14473"/>
            </a:avLst>
          </a:prstGeom>
          <a:solidFill>
            <a:srgbClr val="FBFAF6"/>
          </a:solidFill>
          <a:ln>
            <a:noFill/>
          </a:ln>
          <a:effectLst>
            <a:outerShdw blurRad="279400" dist="50800" dir="5400000" algn="t" rotWithShape="0">
              <a:srgbClr val="1B3A30">
                <a:alpha val="9000"/>
              </a:srgbClr>
            </a:outerShdw>
          </a:effectLst>
        </p:spPr>
        <p:txBody>
          <a:bodyPr rtlCol="0" anchor="ctr"/>
          <a:lstStyle/>
          <a:p>
            <a:pPr algn="ctr"/>
          </a:p>
        </p:txBody>
      </p:sp>
      <p:sp>
        <p:nvSpPr>
          <p:cNvPr id="99" name="TextBox 98"/>
          <p:cNvSpPr txBox="1"/>
          <p:nvPr/>
        </p:nvSpPr>
        <p:spPr>
          <a:xfrm>
            <a:off x="482600" y="5295900"/>
            <a:ext cx="1270000" cy="508000"/>
          </a:xfrm>
          <a:prstGeom prst="rect">
            <a:avLst/>
          </a:prstGeom>
          <a:noFill/>
        </p:spPr>
        <p:txBody>
          <a:bodyPr wrap="square" lIns="0" rIns="0" tIns="0" bIns="0" anchor="ctr">
            <a:noAutofit/>
          </a:bodyPr>
          <a:lstStyle/>
          <a:p>
            <a:pPr algn="l">
              <a:lnSpc>
                <a:spcPct val="110000"/>
              </a:lnSpc>
            </a:pPr>
            <a:r>
              <a:rPr sz="1100" b="1" i="0" spc="220">
                <a:solidFill>
                  <a:srgbClr val="2E7A62"/>
                </a:solidFill>
                <a:latin typeface="DM Sans"/>
                <a:ea typeface="DM Sans"/>
                <a:cs typeface="DM Sans"/>
              </a:rPr>
              <a:t>AUTHORIZED</a:t>
            </a:r>
            <a:br>
              <a:rPr sz="1100"/>
            </a:br>
            <a:r>
              <a:rPr sz="1100" b="1" i="0" spc="220">
                <a:solidFill>
                  <a:srgbClr val="2E7A62"/>
                </a:solidFill>
                <a:latin typeface="DM Sans"/>
                <a:ea typeface="DM Sans"/>
                <a:cs typeface="DM Sans"/>
              </a:rPr>
              <a:t>TOOLS</a:t>
            </a:r>
          </a:p>
        </p:txBody>
      </p:sp>
      <p:sp>
        <p:nvSpPr>
          <p:cNvPr id="100" name="Icon circle"/>
          <p:cNvSpPr/>
          <p:nvPr/>
        </p:nvSpPr>
        <p:spPr>
          <a:xfrm>
            <a:off x="2006600" y="5321300"/>
            <a:ext cx="457200" cy="457200"/>
          </a:xfrm>
          <a:prstGeom prst="ellipse">
            <a:avLst/>
          </a:prstGeom>
          <a:solidFill>
            <a:srgbClr val="DDEDE3"/>
          </a:solidFill>
          <a:ln>
            <a:noFill/>
          </a:ln>
        </p:spPr>
        <p:txBody>
          <a:bodyPr rtlCol="0" anchor="ctr"/>
          <a:lstStyle/>
          <a:p>
            <a:pPr algn="ctr"/>
          </a:p>
        </p:txBody>
      </p:sp>
      <p:pic>
        <p:nvPicPr>
          <p:cNvPr id="101" name="Icon LuDatabase" descr="lu_LuDatabase_1B4236.png"/>
          <p:cNvPicPr>
            <a:picLocks noChangeAspect="1"/>
          </p:cNvPicPr>
          <p:nvPr/>
        </p:nvPicPr>
        <p:blipFill>
          <a:blip r:embed="rId22"/>
          <a:stretch>
            <a:fillRect/>
          </a:stretch>
        </p:blipFill>
        <p:spPr>
          <a:xfrm>
            <a:off x="2120900" y="5435600"/>
            <a:ext cx="228600" cy="228600"/>
          </a:xfrm>
          <a:prstGeom prst="rect">
            <a:avLst/>
          </a:prstGeom>
        </p:spPr>
      </p:pic>
      <p:sp>
        <p:nvSpPr>
          <p:cNvPr id="102" name="TextBox 101"/>
          <p:cNvSpPr txBox="1"/>
          <p:nvPr/>
        </p:nvSpPr>
        <p:spPr>
          <a:xfrm>
            <a:off x="2565400" y="5283200"/>
            <a:ext cx="1397000" cy="215900"/>
          </a:xfrm>
          <a:prstGeom prst="rect">
            <a:avLst/>
          </a:prstGeom>
          <a:noFill/>
        </p:spPr>
        <p:txBody>
          <a:bodyPr wrap="square" lIns="0" rIns="0" tIns="0" bIns="0" anchor="t">
            <a:noAutofit/>
          </a:bodyPr>
          <a:lstStyle/>
          <a:p>
            <a:pPr algn="l"/>
            <a:r>
              <a:rPr sz="1100" b="1" i="0">
                <a:solidFill>
                  <a:srgbClr val="15201B"/>
                </a:solidFill>
                <a:latin typeface="DM Sans"/>
                <a:ea typeface="DM Sans"/>
                <a:cs typeface="DM Sans"/>
              </a:rPr>
              <a:t>Content retrieval</a:t>
            </a:r>
          </a:p>
        </p:txBody>
      </p:sp>
      <p:sp>
        <p:nvSpPr>
          <p:cNvPr id="103" name="TextBox 102"/>
          <p:cNvSpPr txBox="1"/>
          <p:nvPr/>
        </p:nvSpPr>
        <p:spPr>
          <a:xfrm>
            <a:off x="2565400" y="5499100"/>
            <a:ext cx="1397000" cy="406400"/>
          </a:xfrm>
          <a:prstGeom prst="rect">
            <a:avLst/>
          </a:prstGeom>
          <a:noFill/>
        </p:spPr>
        <p:txBody>
          <a:bodyPr wrap="square" lIns="0" rIns="0" tIns="0" bIns="0" anchor="t">
            <a:noAutofit/>
          </a:bodyPr>
          <a:lstStyle/>
          <a:p>
            <a:pPr algn="l">
              <a:lnSpc>
                <a:spcPct val="110000"/>
              </a:lnSpc>
            </a:pPr>
            <a:r>
              <a:rPr sz="950" b="0" i="0">
                <a:solidFill>
                  <a:srgbClr val="5B6561"/>
                </a:solidFill>
                <a:latin typeface="DM Sans"/>
                <a:ea typeface="DM Sans"/>
                <a:cs typeface="DM Sans"/>
              </a:rPr>
              <a:t>Approved passages from</a:t>
            </a:r>
            <a:br>
              <a:rPr sz="950"/>
            </a:br>
            <a:r>
              <a:rPr sz="950" b="0" i="0">
                <a:solidFill>
                  <a:srgbClr val="5B6561"/>
                </a:solidFill>
                <a:latin typeface="DM Sans"/>
                <a:ea typeface="DM Sans"/>
                <a:cs typeface="DM Sans"/>
              </a:rPr>
              <a:t>the lesson version</a:t>
            </a:r>
          </a:p>
        </p:txBody>
      </p:sp>
      <p:sp>
        <p:nvSpPr>
          <p:cNvPr id="104" name="Icon circle"/>
          <p:cNvSpPr/>
          <p:nvPr/>
        </p:nvSpPr>
        <p:spPr>
          <a:xfrm>
            <a:off x="3987800" y="5321300"/>
            <a:ext cx="457200" cy="457200"/>
          </a:xfrm>
          <a:prstGeom prst="ellipse">
            <a:avLst/>
          </a:prstGeom>
          <a:solidFill>
            <a:srgbClr val="DDEDE3"/>
          </a:solidFill>
          <a:ln>
            <a:noFill/>
          </a:ln>
        </p:spPr>
        <p:txBody>
          <a:bodyPr rtlCol="0" anchor="ctr"/>
          <a:lstStyle/>
          <a:p>
            <a:pPr algn="ctr"/>
          </a:p>
        </p:txBody>
      </p:sp>
      <p:pic>
        <p:nvPicPr>
          <p:cNvPr id="105" name="Icon LuMessageSquare" descr="lu_LuMessageSquare_1B4236.png"/>
          <p:cNvPicPr>
            <a:picLocks noChangeAspect="1"/>
          </p:cNvPicPr>
          <p:nvPr/>
        </p:nvPicPr>
        <p:blipFill>
          <a:blip r:embed="rId23"/>
          <a:stretch>
            <a:fillRect/>
          </a:stretch>
        </p:blipFill>
        <p:spPr>
          <a:xfrm>
            <a:off x="4102100" y="5435600"/>
            <a:ext cx="228600" cy="228600"/>
          </a:xfrm>
          <a:prstGeom prst="rect">
            <a:avLst/>
          </a:prstGeom>
        </p:spPr>
      </p:pic>
      <p:sp>
        <p:nvSpPr>
          <p:cNvPr id="106" name="TextBox 105"/>
          <p:cNvSpPr txBox="1"/>
          <p:nvPr/>
        </p:nvSpPr>
        <p:spPr>
          <a:xfrm>
            <a:off x="4546600" y="5283200"/>
            <a:ext cx="1397000" cy="215900"/>
          </a:xfrm>
          <a:prstGeom prst="rect">
            <a:avLst/>
          </a:prstGeom>
          <a:noFill/>
        </p:spPr>
        <p:txBody>
          <a:bodyPr wrap="square" lIns="0" rIns="0" tIns="0" bIns="0" anchor="t">
            <a:noAutofit/>
          </a:bodyPr>
          <a:lstStyle/>
          <a:p>
            <a:pPr algn="l"/>
            <a:r>
              <a:rPr sz="1100" b="1" i="0">
                <a:solidFill>
                  <a:srgbClr val="15201B"/>
                </a:solidFill>
                <a:latin typeface="DM Sans"/>
                <a:ea typeface="DM Sans"/>
                <a:cs typeface="DM Sans"/>
              </a:rPr>
              <a:t>Tutoring</a:t>
            </a:r>
          </a:p>
        </p:txBody>
      </p:sp>
      <p:sp>
        <p:nvSpPr>
          <p:cNvPr id="107" name="TextBox 106"/>
          <p:cNvSpPr txBox="1"/>
          <p:nvPr/>
        </p:nvSpPr>
        <p:spPr>
          <a:xfrm>
            <a:off x="4546600" y="5499100"/>
            <a:ext cx="1397000" cy="406400"/>
          </a:xfrm>
          <a:prstGeom prst="rect">
            <a:avLst/>
          </a:prstGeom>
          <a:noFill/>
        </p:spPr>
        <p:txBody>
          <a:bodyPr wrap="square" lIns="0" rIns="0" tIns="0" bIns="0" anchor="t">
            <a:noAutofit/>
          </a:bodyPr>
          <a:lstStyle/>
          <a:p>
            <a:pPr algn="l">
              <a:lnSpc>
                <a:spcPct val="110000"/>
              </a:lnSpc>
            </a:pPr>
            <a:r>
              <a:rPr sz="950" b="0" i="0">
                <a:solidFill>
                  <a:srgbClr val="5B6561"/>
                </a:solidFill>
                <a:latin typeface="DM Sans"/>
                <a:ea typeface="DM Sans"/>
                <a:cs typeface="DM Sans"/>
              </a:rPr>
              <a:t>Explanations, hints and</a:t>
            </a:r>
            <a:br>
              <a:rPr sz="950"/>
            </a:br>
            <a:r>
              <a:rPr sz="950" b="0" i="0">
                <a:solidFill>
                  <a:srgbClr val="5B6561"/>
                </a:solidFill>
                <a:latin typeface="DM Sans"/>
                <a:ea typeface="DM Sans"/>
                <a:cs typeface="DM Sans"/>
              </a:rPr>
              <a:t>clarifying questions</a:t>
            </a:r>
          </a:p>
        </p:txBody>
      </p:sp>
      <p:sp>
        <p:nvSpPr>
          <p:cNvPr id="108" name="Icon circle"/>
          <p:cNvSpPr/>
          <p:nvPr/>
        </p:nvSpPr>
        <p:spPr>
          <a:xfrm>
            <a:off x="5969000" y="5321300"/>
            <a:ext cx="457200" cy="457200"/>
          </a:xfrm>
          <a:prstGeom prst="ellipse">
            <a:avLst/>
          </a:prstGeom>
          <a:solidFill>
            <a:srgbClr val="DDEDE3"/>
          </a:solidFill>
          <a:ln>
            <a:noFill/>
          </a:ln>
        </p:spPr>
        <p:txBody>
          <a:bodyPr rtlCol="0" anchor="ctr"/>
          <a:lstStyle/>
          <a:p>
            <a:pPr algn="ctr"/>
          </a:p>
        </p:txBody>
      </p:sp>
      <p:pic>
        <p:nvPicPr>
          <p:cNvPr id="109" name="Icon LuChartLine" descr="lu_LuChartLine_1B4236.png"/>
          <p:cNvPicPr>
            <a:picLocks noChangeAspect="1"/>
          </p:cNvPicPr>
          <p:nvPr/>
        </p:nvPicPr>
        <p:blipFill>
          <a:blip r:embed="rId24"/>
          <a:stretch>
            <a:fillRect/>
          </a:stretch>
        </p:blipFill>
        <p:spPr>
          <a:xfrm>
            <a:off x="6083300" y="5435600"/>
            <a:ext cx="228600" cy="228600"/>
          </a:xfrm>
          <a:prstGeom prst="rect">
            <a:avLst/>
          </a:prstGeom>
        </p:spPr>
      </p:pic>
      <p:sp>
        <p:nvSpPr>
          <p:cNvPr id="110" name="TextBox 109"/>
          <p:cNvSpPr txBox="1"/>
          <p:nvPr/>
        </p:nvSpPr>
        <p:spPr>
          <a:xfrm>
            <a:off x="6527800" y="5283200"/>
            <a:ext cx="1397000" cy="215900"/>
          </a:xfrm>
          <a:prstGeom prst="rect">
            <a:avLst/>
          </a:prstGeom>
          <a:noFill/>
        </p:spPr>
        <p:txBody>
          <a:bodyPr wrap="square" lIns="0" rIns="0" tIns="0" bIns="0" anchor="t">
            <a:noAutofit/>
          </a:bodyPr>
          <a:lstStyle/>
          <a:p>
            <a:pPr algn="l"/>
            <a:r>
              <a:rPr sz="1100" b="1" i="0">
                <a:solidFill>
                  <a:srgbClr val="15201B"/>
                </a:solidFill>
                <a:latin typeface="DM Sans"/>
                <a:ea typeface="DM Sans"/>
                <a:cs typeface="DM Sans"/>
              </a:rPr>
              <a:t>Evaluation</a:t>
            </a:r>
          </a:p>
        </p:txBody>
      </p:sp>
      <p:sp>
        <p:nvSpPr>
          <p:cNvPr id="111" name="TextBox 110"/>
          <p:cNvSpPr txBox="1"/>
          <p:nvPr/>
        </p:nvSpPr>
        <p:spPr>
          <a:xfrm>
            <a:off x="6527800" y="5499100"/>
            <a:ext cx="1397000" cy="406400"/>
          </a:xfrm>
          <a:prstGeom prst="rect">
            <a:avLst/>
          </a:prstGeom>
          <a:noFill/>
        </p:spPr>
        <p:txBody>
          <a:bodyPr wrap="square" lIns="0" rIns="0" tIns="0" bIns="0" anchor="t">
            <a:noAutofit/>
          </a:bodyPr>
          <a:lstStyle/>
          <a:p>
            <a:pPr algn="l">
              <a:lnSpc>
                <a:spcPct val="110000"/>
              </a:lnSpc>
            </a:pPr>
            <a:r>
              <a:rPr sz="950" b="0" i="0">
                <a:solidFill>
                  <a:srgbClr val="5B6561"/>
                </a:solidFill>
                <a:latin typeface="DM Sans"/>
                <a:ea typeface="DM Sans"/>
                <a:cs typeface="DM Sans"/>
              </a:rPr>
              <a:t>Assesses submitted</a:t>
            </a:r>
            <a:br>
              <a:rPr sz="950"/>
            </a:br>
            <a:r>
              <a:rPr sz="950" b="0" i="0">
                <a:solidFill>
                  <a:srgbClr val="5B6561"/>
                </a:solidFill>
                <a:latin typeface="DM Sans"/>
                <a:ea typeface="DM Sans"/>
                <a:cs typeface="DM Sans"/>
              </a:rPr>
              <a:t>reasoning</a:t>
            </a:r>
          </a:p>
        </p:txBody>
      </p:sp>
      <p:sp>
        <p:nvSpPr>
          <p:cNvPr id="112" name="Icon circle"/>
          <p:cNvSpPr/>
          <p:nvPr/>
        </p:nvSpPr>
        <p:spPr>
          <a:xfrm>
            <a:off x="7950200" y="5321300"/>
            <a:ext cx="457200" cy="457200"/>
          </a:xfrm>
          <a:prstGeom prst="ellipse">
            <a:avLst/>
          </a:prstGeom>
          <a:solidFill>
            <a:srgbClr val="DDEDE3"/>
          </a:solidFill>
          <a:ln>
            <a:noFill/>
          </a:ln>
        </p:spPr>
        <p:txBody>
          <a:bodyPr rtlCol="0" anchor="ctr"/>
          <a:lstStyle/>
          <a:p>
            <a:pPr algn="ctr"/>
          </a:p>
        </p:txBody>
      </p:sp>
      <p:pic>
        <p:nvPicPr>
          <p:cNvPr id="113" name="Icon LuFileText" descr="lu_LuFileText_1B4236.png"/>
          <p:cNvPicPr>
            <a:picLocks noChangeAspect="1"/>
          </p:cNvPicPr>
          <p:nvPr/>
        </p:nvPicPr>
        <p:blipFill>
          <a:blip r:embed="rId25"/>
          <a:stretch>
            <a:fillRect/>
          </a:stretch>
        </p:blipFill>
        <p:spPr>
          <a:xfrm>
            <a:off x="8064500" y="5435600"/>
            <a:ext cx="228600" cy="228600"/>
          </a:xfrm>
          <a:prstGeom prst="rect">
            <a:avLst/>
          </a:prstGeom>
        </p:spPr>
      </p:pic>
      <p:sp>
        <p:nvSpPr>
          <p:cNvPr id="114" name="TextBox 113"/>
          <p:cNvSpPr txBox="1"/>
          <p:nvPr/>
        </p:nvSpPr>
        <p:spPr>
          <a:xfrm>
            <a:off x="8509000" y="5283200"/>
            <a:ext cx="1397000" cy="215900"/>
          </a:xfrm>
          <a:prstGeom prst="rect">
            <a:avLst/>
          </a:prstGeom>
          <a:noFill/>
        </p:spPr>
        <p:txBody>
          <a:bodyPr wrap="square" lIns="0" rIns="0" tIns="0" bIns="0" anchor="t">
            <a:noAutofit/>
          </a:bodyPr>
          <a:lstStyle/>
          <a:p>
            <a:pPr algn="l"/>
            <a:r>
              <a:rPr sz="1100" b="1" i="0">
                <a:solidFill>
                  <a:srgbClr val="15201B"/>
                </a:solidFill>
                <a:latin typeface="DM Sans"/>
                <a:ea typeface="DM Sans"/>
                <a:cs typeface="DM Sans"/>
              </a:rPr>
              <a:t>Evidence recording</a:t>
            </a:r>
          </a:p>
        </p:txBody>
      </p:sp>
      <p:sp>
        <p:nvSpPr>
          <p:cNvPr id="115" name="TextBox 114"/>
          <p:cNvSpPr txBox="1"/>
          <p:nvPr/>
        </p:nvSpPr>
        <p:spPr>
          <a:xfrm>
            <a:off x="8509000" y="5499100"/>
            <a:ext cx="1397000" cy="406400"/>
          </a:xfrm>
          <a:prstGeom prst="rect">
            <a:avLst/>
          </a:prstGeom>
          <a:noFill/>
        </p:spPr>
        <p:txBody>
          <a:bodyPr wrap="square" lIns="0" rIns="0" tIns="0" bIns="0" anchor="t">
            <a:noAutofit/>
          </a:bodyPr>
          <a:lstStyle/>
          <a:p>
            <a:pPr algn="l">
              <a:lnSpc>
                <a:spcPct val="110000"/>
              </a:lnSpc>
            </a:pPr>
            <a:r>
              <a:rPr sz="950" b="0" i="0">
                <a:solidFill>
                  <a:srgbClr val="5B6561"/>
                </a:solidFill>
                <a:latin typeface="DM Sans"/>
                <a:ea typeface="DM Sans"/>
                <a:cs typeface="DM Sans"/>
              </a:rPr>
              <a:t>Saves work, help shown</a:t>
            </a:r>
            <a:br>
              <a:rPr sz="950"/>
            </a:br>
            <a:r>
              <a:rPr sz="950" b="0" i="0">
                <a:solidFill>
                  <a:srgbClr val="5B6561"/>
                </a:solidFill>
                <a:latin typeface="DM Sans"/>
                <a:ea typeface="DM Sans"/>
                <a:cs typeface="DM Sans"/>
              </a:rPr>
              <a:t>and sources</a:t>
            </a:r>
          </a:p>
        </p:txBody>
      </p:sp>
      <p:sp>
        <p:nvSpPr>
          <p:cNvPr id="116" name="Icon circle"/>
          <p:cNvSpPr/>
          <p:nvPr/>
        </p:nvSpPr>
        <p:spPr>
          <a:xfrm>
            <a:off x="9931400" y="5321300"/>
            <a:ext cx="457200" cy="457200"/>
          </a:xfrm>
          <a:prstGeom prst="ellipse">
            <a:avLst/>
          </a:prstGeom>
          <a:solidFill>
            <a:srgbClr val="DDEDE3"/>
          </a:solidFill>
          <a:ln>
            <a:noFill/>
          </a:ln>
        </p:spPr>
        <p:txBody>
          <a:bodyPr rtlCol="0" anchor="ctr"/>
          <a:lstStyle/>
          <a:p>
            <a:pPr algn="ctr"/>
          </a:p>
        </p:txBody>
      </p:sp>
      <p:pic>
        <p:nvPicPr>
          <p:cNvPr id="117" name="Icon LuPencil" descr="lu_LuPencil_1B4236.png"/>
          <p:cNvPicPr>
            <a:picLocks noChangeAspect="1"/>
          </p:cNvPicPr>
          <p:nvPr/>
        </p:nvPicPr>
        <p:blipFill>
          <a:blip r:embed="rId26"/>
          <a:stretch>
            <a:fillRect/>
          </a:stretch>
        </p:blipFill>
        <p:spPr>
          <a:xfrm>
            <a:off x="10045700" y="5435600"/>
            <a:ext cx="228600" cy="228600"/>
          </a:xfrm>
          <a:prstGeom prst="rect">
            <a:avLst/>
          </a:prstGeom>
        </p:spPr>
      </p:pic>
      <p:sp>
        <p:nvSpPr>
          <p:cNvPr id="118" name="TextBox 117"/>
          <p:cNvSpPr txBox="1"/>
          <p:nvPr/>
        </p:nvSpPr>
        <p:spPr>
          <a:xfrm>
            <a:off x="10490200" y="5283200"/>
            <a:ext cx="1397000" cy="215900"/>
          </a:xfrm>
          <a:prstGeom prst="rect">
            <a:avLst/>
          </a:prstGeom>
          <a:noFill/>
        </p:spPr>
        <p:txBody>
          <a:bodyPr wrap="square" lIns="0" rIns="0" tIns="0" bIns="0" anchor="t">
            <a:noAutofit/>
          </a:bodyPr>
          <a:lstStyle/>
          <a:p>
            <a:pPr algn="l"/>
            <a:r>
              <a:rPr sz="1100" b="1" i="0">
                <a:solidFill>
                  <a:srgbClr val="15201B"/>
                </a:solidFill>
                <a:latin typeface="DM Sans"/>
                <a:ea typeface="DM Sans"/>
                <a:cs typeface="DM Sans"/>
              </a:rPr>
              <a:t>Intervention drafts</a:t>
            </a:r>
          </a:p>
        </p:txBody>
      </p:sp>
      <p:sp>
        <p:nvSpPr>
          <p:cNvPr id="119" name="TextBox 118"/>
          <p:cNvSpPr txBox="1"/>
          <p:nvPr/>
        </p:nvSpPr>
        <p:spPr>
          <a:xfrm>
            <a:off x="10490200" y="5499100"/>
            <a:ext cx="1397000" cy="406400"/>
          </a:xfrm>
          <a:prstGeom prst="rect">
            <a:avLst/>
          </a:prstGeom>
          <a:noFill/>
        </p:spPr>
        <p:txBody>
          <a:bodyPr wrap="square" lIns="0" rIns="0" tIns="0" bIns="0" anchor="t">
            <a:noAutofit/>
          </a:bodyPr>
          <a:lstStyle/>
          <a:p>
            <a:pPr algn="l">
              <a:lnSpc>
                <a:spcPct val="110000"/>
              </a:lnSpc>
            </a:pPr>
            <a:r>
              <a:rPr sz="950" b="0" i="0">
                <a:solidFill>
                  <a:srgbClr val="5B6561"/>
                </a:solidFill>
                <a:latin typeface="DM Sans"/>
                <a:ea typeface="DM Sans"/>
                <a:cs typeface="DM Sans"/>
              </a:rPr>
              <a:t>Follow-ups the teacher</a:t>
            </a:r>
            <a:br>
              <a:rPr sz="950"/>
            </a:br>
            <a:r>
              <a:rPr sz="950" b="0" i="0">
                <a:solidFill>
                  <a:srgbClr val="5B6561"/>
                </a:solidFill>
                <a:latin typeface="DM Sans"/>
                <a:ea typeface="DM Sans"/>
                <a:cs typeface="DM Sans"/>
              </a:rPr>
              <a:t>approves</a:t>
            </a:r>
          </a:p>
        </p:txBody>
      </p:sp>
      <p:sp>
        <p:nvSpPr>
          <p:cNvPr id="120"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The professor sees how students reasoned</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STEP 3 · TEACHER INVESTIGATES AND RESPONDS</a:t>
            </a:r>
          </a:p>
        </p:txBody>
      </p:sp>
      <p:sp>
        <p:nvSpPr>
          <p:cNvPr id="5" name="Subtitle"/>
          <p:cNvSpPr txBox="1"/>
          <p:nvPr/>
        </p:nvSpPr>
        <p:spPr>
          <a:xfrm>
            <a:off x="558800" y="1219200"/>
            <a:ext cx="11049000" cy="292100"/>
          </a:xfrm>
          <a:prstGeom prst="rect">
            <a:avLst/>
          </a:prstGeom>
          <a:noFill/>
        </p:spPr>
        <p:txBody>
          <a:bodyPr wrap="square" lIns="0" rIns="0" tIns="0" bIns="0" anchor="t">
            <a:noAutofit/>
          </a:bodyPr>
          <a:lstStyle/>
          <a:p>
            <a:pPr algn="l"/>
            <a:r>
              <a:rPr sz="1500" b="0" i="0">
                <a:solidFill>
                  <a:srgbClr val="7D8783"/>
                </a:solidFill>
                <a:latin typeface="DM Sans"/>
                <a:ea typeface="DM Sans"/>
                <a:cs typeface="DM Sans"/>
              </a:rPr>
              <a:t>From class-wide insights to targeted follow-ups, with full context and AI support.</a:t>
            </a:r>
          </a:p>
        </p:txBody>
      </p:sp>
      <p:sp>
        <p:nvSpPr>
          <p:cNvPr id="6" name="Column"/>
          <p:cNvSpPr/>
          <p:nvPr/>
        </p:nvSpPr>
        <p:spPr>
          <a:xfrm>
            <a:off x="292100" y="1587500"/>
            <a:ext cx="3733800" cy="4191000"/>
          </a:xfrm>
          <a:prstGeom prst="roundRect">
            <a:avLst>
              <a:gd name="adj" fmla="val 4081"/>
            </a:avLst>
          </a:prstGeom>
          <a:solidFill>
            <a:srgbClr val="EDF3EE"/>
          </a:solidFill>
          <a:ln>
            <a:noFill/>
          </a:ln>
          <a:effectLst>
            <a:outerShdw blurRad="279400" dist="50800" dir="5400000" algn="t" rotWithShape="0">
              <a:srgbClr val="1B3A30">
                <a:alpha val="9000"/>
              </a:srgbClr>
            </a:outerShdw>
          </a:effectLst>
        </p:spPr>
        <p:txBody>
          <a:bodyPr rtlCol="0" anchor="ctr"/>
          <a:lstStyle/>
          <a:p>
            <a:pPr algn="ctr"/>
          </a:p>
        </p:txBody>
      </p:sp>
      <p:sp>
        <p:nvSpPr>
          <p:cNvPr id="7" name="Icon circle"/>
          <p:cNvSpPr/>
          <p:nvPr/>
        </p:nvSpPr>
        <p:spPr>
          <a:xfrm>
            <a:off x="431800" y="1727200"/>
            <a:ext cx="533400" cy="533400"/>
          </a:xfrm>
          <a:prstGeom prst="ellipse">
            <a:avLst/>
          </a:prstGeom>
          <a:solidFill>
            <a:srgbClr val="D3E7DA"/>
          </a:solidFill>
          <a:ln>
            <a:noFill/>
          </a:ln>
        </p:spPr>
        <p:txBody>
          <a:bodyPr rtlCol="0" anchor="ctr"/>
          <a:lstStyle/>
          <a:p>
            <a:pPr algn="ctr"/>
          </a:p>
        </p:txBody>
      </p:sp>
      <p:pic>
        <p:nvPicPr>
          <p:cNvPr id="8" name="Icon LuChartColumn" descr="lu_LuChartColumn_2E7A62.png"/>
          <p:cNvPicPr>
            <a:picLocks noChangeAspect="1"/>
          </p:cNvPicPr>
          <p:nvPr/>
        </p:nvPicPr>
        <p:blipFill>
          <a:blip r:embed="rId7"/>
          <a:stretch>
            <a:fillRect/>
          </a:stretch>
        </p:blipFill>
        <p:spPr>
          <a:xfrm>
            <a:off x="570484" y="1865884"/>
            <a:ext cx="256032" cy="256032"/>
          </a:xfrm>
          <a:prstGeom prst="rect">
            <a:avLst/>
          </a:prstGeom>
        </p:spPr>
      </p:pic>
      <p:sp>
        <p:nvSpPr>
          <p:cNvPr id="9" name="TextBox 8"/>
          <p:cNvSpPr txBox="1"/>
          <p:nvPr/>
        </p:nvSpPr>
        <p:spPr>
          <a:xfrm>
            <a:off x="1079500" y="1727200"/>
            <a:ext cx="2794000" cy="2921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See the class</a:t>
            </a:r>
          </a:p>
        </p:txBody>
      </p:sp>
      <p:sp>
        <p:nvSpPr>
          <p:cNvPr id="10" name="TextBox 9"/>
          <p:cNvSpPr txBox="1"/>
          <p:nvPr/>
        </p:nvSpPr>
        <p:spPr>
          <a:xfrm>
            <a:off x="1079500" y="2019300"/>
            <a:ext cx="2857500" cy="381000"/>
          </a:xfrm>
          <a:prstGeom prst="rect">
            <a:avLst/>
          </a:prstGeom>
          <a:noFill/>
        </p:spPr>
        <p:txBody>
          <a:bodyPr wrap="square" lIns="0" rIns="0" tIns="0" bIns="0" anchor="t">
            <a:noAutofit/>
          </a:bodyPr>
          <a:lstStyle/>
          <a:p>
            <a:pPr algn="l">
              <a:lnSpc>
                <a:spcPct val="110000"/>
              </a:lnSpc>
            </a:pPr>
            <a:r>
              <a:rPr sz="1050" b="0" i="0">
                <a:solidFill>
                  <a:srgbClr val="5B6561"/>
                </a:solidFill>
                <a:latin typeface="DM Sans"/>
                <a:ea typeface="DM Sans"/>
                <a:cs typeface="DM Sans"/>
              </a:rPr>
              <a:t>Spot patterns across every student</a:t>
            </a:r>
            <a:br>
              <a:rPr sz="1050"/>
            </a:br>
            <a:r>
              <a:rPr sz="1050" b="0" i="0">
                <a:solidFill>
                  <a:srgbClr val="5B6561"/>
                </a:solidFill>
                <a:latin typeface="DM Sans"/>
                <a:ea typeface="DM Sans"/>
                <a:cs typeface="DM Sans"/>
              </a:rPr>
              <a:t>and every idea.</a:t>
            </a:r>
          </a:p>
        </p:txBody>
      </p:sp>
      <p:sp>
        <p:nvSpPr>
          <p:cNvPr id="11" name="Screenshot frame"/>
          <p:cNvSpPr/>
          <p:nvPr/>
        </p:nvSpPr>
        <p:spPr>
          <a:xfrm>
            <a:off x="406400" y="2476500"/>
            <a:ext cx="3505200" cy="2413000"/>
          </a:xfrm>
          <a:prstGeom prst="roundRect">
            <a:avLst>
              <a:gd name="adj" fmla="val 4210"/>
            </a:avLst>
          </a:prstGeom>
          <a:solidFill>
            <a:srgbClr val="FFFFFF"/>
          </a:solidFill>
          <a:ln>
            <a:noFill/>
          </a:ln>
        </p:spPr>
        <p:txBody>
          <a:bodyPr rtlCol="0" anchor="ctr"/>
          <a:lstStyle/>
          <a:p>
            <a:pPr algn="ctr"/>
          </a:p>
        </p:txBody>
      </p:sp>
      <p:pic>
        <p:nvPicPr>
          <p:cNvPr id="12" name="Screenshot" descr="roster_page.png"/>
          <p:cNvPicPr>
            <a:picLocks noChangeAspect="1"/>
          </p:cNvPicPr>
          <p:nvPr/>
        </p:nvPicPr>
        <p:blipFill>
          <a:blip r:embed="rId8"/>
          <a:stretch>
            <a:fillRect/>
          </a:stretch>
        </p:blipFill>
        <p:spPr>
          <a:xfrm>
            <a:off x="469900" y="2565213"/>
            <a:ext cx="3378200" cy="2235574"/>
          </a:xfrm>
          <a:prstGeom prst="rect">
            <a:avLst/>
          </a:prstGeom>
        </p:spPr>
      </p:pic>
      <p:sp>
        <p:nvSpPr>
          <p:cNvPr id="13" name="Caption"/>
          <p:cNvSpPr/>
          <p:nvPr/>
        </p:nvSpPr>
        <p:spPr>
          <a:xfrm>
            <a:off x="406400" y="4991100"/>
            <a:ext cx="3505200" cy="673100"/>
          </a:xfrm>
          <a:prstGeom prst="roundRect">
            <a:avLst>
              <a:gd name="adj" fmla="val 15094"/>
            </a:avLst>
          </a:prstGeom>
          <a:solidFill>
            <a:srgbClr val="DCEBE2"/>
          </a:solidFill>
          <a:ln>
            <a:noFill/>
          </a:ln>
        </p:spPr>
        <p:txBody>
          <a:bodyPr rtlCol="0" anchor="ctr"/>
          <a:lstStyle/>
          <a:p>
            <a:pPr algn="ctr"/>
          </a:p>
        </p:txBody>
      </p:sp>
      <p:pic>
        <p:nvPicPr>
          <p:cNvPr id="14" name="Icon LuChartColumn" descr="lu_LuChartColumn_2E7A62.png"/>
          <p:cNvPicPr>
            <a:picLocks noChangeAspect="1"/>
          </p:cNvPicPr>
          <p:nvPr/>
        </p:nvPicPr>
        <p:blipFill>
          <a:blip r:embed="rId7"/>
          <a:stretch>
            <a:fillRect/>
          </a:stretch>
        </p:blipFill>
        <p:spPr>
          <a:xfrm>
            <a:off x="546100" y="5187950"/>
            <a:ext cx="279400" cy="279400"/>
          </a:xfrm>
          <a:prstGeom prst="rect">
            <a:avLst/>
          </a:prstGeom>
        </p:spPr>
      </p:pic>
      <p:sp>
        <p:nvSpPr>
          <p:cNvPr id="15" name="TextBox 14"/>
          <p:cNvSpPr txBox="1"/>
          <p:nvPr/>
        </p:nvSpPr>
        <p:spPr>
          <a:xfrm>
            <a:off x="927100" y="4991100"/>
            <a:ext cx="2870200" cy="6731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Every student’s attempts on every idea,</a:t>
            </a:r>
            <a:br>
              <a:rPr sz="1100"/>
            </a:br>
            <a:r>
              <a:rPr sz="1100" b="0" i="0">
                <a:solidFill>
                  <a:srgbClr val="15201B"/>
                </a:solidFill>
                <a:latin typeface="DM Sans"/>
                <a:ea typeface="DM Sans"/>
                <a:cs typeface="DM Sans"/>
              </a:rPr>
              <a:t>including answers given after help.</a:t>
            </a:r>
          </a:p>
        </p:txBody>
      </p:sp>
      <p:sp>
        <p:nvSpPr>
          <p:cNvPr id="16" name="Column"/>
          <p:cNvSpPr/>
          <p:nvPr/>
        </p:nvSpPr>
        <p:spPr>
          <a:xfrm>
            <a:off x="4229100" y="1587500"/>
            <a:ext cx="3733800" cy="4191000"/>
          </a:xfrm>
          <a:prstGeom prst="roundRect">
            <a:avLst>
              <a:gd name="adj" fmla="val 4081"/>
            </a:avLst>
          </a:prstGeom>
          <a:solidFill>
            <a:srgbClr val="FAF2E6"/>
          </a:solidFill>
          <a:ln>
            <a:noFill/>
          </a:ln>
          <a:effectLst>
            <a:outerShdw blurRad="279400" dist="50800" dir="5400000" algn="t" rotWithShape="0">
              <a:srgbClr val="1B3A30">
                <a:alpha val="9000"/>
              </a:srgbClr>
            </a:outerShdw>
          </a:effectLst>
        </p:spPr>
        <p:txBody>
          <a:bodyPr rtlCol="0" anchor="ctr"/>
          <a:lstStyle/>
          <a:p>
            <a:pPr algn="ctr"/>
          </a:p>
        </p:txBody>
      </p:sp>
      <p:sp>
        <p:nvSpPr>
          <p:cNvPr id="17" name="Icon circle"/>
          <p:cNvSpPr/>
          <p:nvPr/>
        </p:nvSpPr>
        <p:spPr>
          <a:xfrm>
            <a:off x="4368800" y="1727200"/>
            <a:ext cx="533400" cy="533400"/>
          </a:xfrm>
          <a:prstGeom prst="ellipse">
            <a:avLst/>
          </a:prstGeom>
          <a:solidFill>
            <a:srgbClr val="F3DFC3"/>
          </a:solidFill>
          <a:ln>
            <a:noFill/>
          </a:ln>
        </p:spPr>
        <p:txBody>
          <a:bodyPr rtlCol="0" anchor="ctr"/>
          <a:lstStyle/>
          <a:p>
            <a:pPr algn="ctr"/>
          </a:p>
        </p:txBody>
      </p:sp>
      <p:pic>
        <p:nvPicPr>
          <p:cNvPr id="18" name="Icon LuFileText" descr="lu_LuFileText_B7792A.png"/>
          <p:cNvPicPr>
            <a:picLocks noChangeAspect="1"/>
          </p:cNvPicPr>
          <p:nvPr/>
        </p:nvPicPr>
        <p:blipFill>
          <a:blip r:embed="rId9"/>
          <a:stretch>
            <a:fillRect/>
          </a:stretch>
        </p:blipFill>
        <p:spPr>
          <a:xfrm>
            <a:off x="4507484" y="1865884"/>
            <a:ext cx="256032" cy="256032"/>
          </a:xfrm>
          <a:prstGeom prst="rect">
            <a:avLst/>
          </a:prstGeom>
        </p:spPr>
      </p:pic>
      <p:sp>
        <p:nvSpPr>
          <p:cNvPr id="19" name="TextBox 18"/>
          <p:cNvSpPr txBox="1"/>
          <p:nvPr/>
        </p:nvSpPr>
        <p:spPr>
          <a:xfrm>
            <a:off x="5016500" y="1727200"/>
            <a:ext cx="2794000" cy="2921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Read the reasoning</a:t>
            </a:r>
          </a:p>
        </p:txBody>
      </p:sp>
      <p:sp>
        <p:nvSpPr>
          <p:cNvPr id="20" name="TextBox 19"/>
          <p:cNvSpPr txBox="1"/>
          <p:nvPr/>
        </p:nvSpPr>
        <p:spPr>
          <a:xfrm>
            <a:off x="5016500" y="2019300"/>
            <a:ext cx="2857500" cy="381000"/>
          </a:xfrm>
          <a:prstGeom prst="rect">
            <a:avLst/>
          </a:prstGeom>
          <a:noFill/>
        </p:spPr>
        <p:txBody>
          <a:bodyPr wrap="square" lIns="0" rIns="0" tIns="0" bIns="0" anchor="t">
            <a:noAutofit/>
          </a:bodyPr>
          <a:lstStyle/>
          <a:p>
            <a:pPr algn="l">
              <a:lnSpc>
                <a:spcPct val="110000"/>
              </a:lnSpc>
            </a:pPr>
            <a:r>
              <a:rPr sz="1050" b="0" i="0">
                <a:solidFill>
                  <a:srgbClr val="5B6561"/>
                </a:solidFill>
                <a:latin typeface="DM Sans"/>
                <a:ea typeface="DM Sans"/>
                <a:cs typeface="DM Sans"/>
              </a:rPr>
              <a:t>See the original question and the</a:t>
            </a:r>
            <a:br>
              <a:rPr sz="1050"/>
            </a:br>
            <a:r>
              <a:rPr sz="1050" b="0" i="0">
                <a:solidFill>
                  <a:srgbClr val="5B6561"/>
                </a:solidFill>
                <a:latin typeface="DM Sans"/>
                <a:ea typeface="DM Sans"/>
                <a:cs typeface="DM Sans"/>
              </a:rPr>
              <a:t>student’s own words.</a:t>
            </a:r>
          </a:p>
        </p:txBody>
      </p:sp>
      <p:sp>
        <p:nvSpPr>
          <p:cNvPr id="21" name="Screenshot frame"/>
          <p:cNvSpPr/>
          <p:nvPr/>
        </p:nvSpPr>
        <p:spPr>
          <a:xfrm>
            <a:off x="4343400" y="2476500"/>
            <a:ext cx="3505200" cy="2413000"/>
          </a:xfrm>
          <a:prstGeom prst="roundRect">
            <a:avLst>
              <a:gd name="adj" fmla="val 4210"/>
            </a:avLst>
          </a:prstGeom>
          <a:solidFill>
            <a:srgbClr val="FFFFFF"/>
          </a:solidFill>
          <a:ln>
            <a:noFill/>
          </a:ln>
        </p:spPr>
        <p:txBody>
          <a:bodyPr rtlCol="0" anchor="ctr"/>
          <a:lstStyle/>
          <a:p>
            <a:pPr algn="ctr"/>
          </a:p>
        </p:txBody>
      </p:sp>
      <p:pic>
        <p:nvPicPr>
          <p:cNvPr id="22" name="Screenshot" descr="record_zoe.png"/>
          <p:cNvPicPr>
            <a:picLocks noChangeAspect="1"/>
          </p:cNvPicPr>
          <p:nvPr/>
        </p:nvPicPr>
        <p:blipFill>
          <a:blip r:embed="rId10"/>
          <a:stretch>
            <a:fillRect/>
          </a:stretch>
        </p:blipFill>
        <p:spPr>
          <a:xfrm>
            <a:off x="4699760" y="2540000"/>
            <a:ext cx="2792479" cy="2286000"/>
          </a:xfrm>
          <a:prstGeom prst="rect">
            <a:avLst/>
          </a:prstGeom>
        </p:spPr>
      </p:pic>
      <p:sp>
        <p:nvSpPr>
          <p:cNvPr id="23" name="Caption"/>
          <p:cNvSpPr/>
          <p:nvPr/>
        </p:nvSpPr>
        <p:spPr>
          <a:xfrm>
            <a:off x="4343400" y="4991100"/>
            <a:ext cx="3505200" cy="673100"/>
          </a:xfrm>
          <a:prstGeom prst="roundRect">
            <a:avLst>
              <a:gd name="adj" fmla="val 15094"/>
            </a:avLst>
          </a:prstGeom>
          <a:solidFill>
            <a:srgbClr val="F5E6CF"/>
          </a:solidFill>
          <a:ln>
            <a:noFill/>
          </a:ln>
        </p:spPr>
        <p:txBody>
          <a:bodyPr rtlCol="0" anchor="ctr"/>
          <a:lstStyle/>
          <a:p>
            <a:pPr algn="ctr"/>
          </a:p>
        </p:txBody>
      </p:sp>
      <p:pic>
        <p:nvPicPr>
          <p:cNvPr id="24" name="Icon LuFileText" descr="lu_LuFileText_B7792A.png"/>
          <p:cNvPicPr>
            <a:picLocks noChangeAspect="1"/>
          </p:cNvPicPr>
          <p:nvPr/>
        </p:nvPicPr>
        <p:blipFill>
          <a:blip r:embed="rId9"/>
          <a:stretch>
            <a:fillRect/>
          </a:stretch>
        </p:blipFill>
        <p:spPr>
          <a:xfrm>
            <a:off x="4483100" y="5187950"/>
            <a:ext cx="279400" cy="279400"/>
          </a:xfrm>
          <a:prstGeom prst="rect">
            <a:avLst/>
          </a:prstGeom>
        </p:spPr>
      </p:pic>
      <p:sp>
        <p:nvSpPr>
          <p:cNvPr id="25" name="TextBox 24"/>
          <p:cNvSpPr txBox="1"/>
          <p:nvPr/>
        </p:nvSpPr>
        <p:spPr>
          <a:xfrm>
            <a:off x="4864100" y="4991100"/>
            <a:ext cx="2870200" cy="6731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The original words, preserved as</a:t>
            </a:r>
            <a:br>
              <a:rPr sz="1100"/>
            </a:br>
            <a:r>
              <a:rPr sz="1100" b="0" i="0">
                <a:solidFill>
                  <a:srgbClr val="15201B"/>
                </a:solidFill>
                <a:latin typeface="DM Sans"/>
                <a:ea typeface="DM Sans"/>
                <a:cs typeface="DM Sans"/>
              </a:rPr>
              <a:t>submitted, with the accepted evaluation.</a:t>
            </a:r>
          </a:p>
        </p:txBody>
      </p:sp>
      <p:sp>
        <p:nvSpPr>
          <p:cNvPr id="26" name="Column"/>
          <p:cNvSpPr/>
          <p:nvPr/>
        </p:nvSpPr>
        <p:spPr>
          <a:xfrm>
            <a:off x="8166100" y="1587500"/>
            <a:ext cx="3733800" cy="4191000"/>
          </a:xfrm>
          <a:prstGeom prst="roundRect">
            <a:avLst>
              <a:gd name="adj" fmla="val 4081"/>
            </a:avLst>
          </a:prstGeom>
          <a:solidFill>
            <a:srgbClr val="EDF3EE"/>
          </a:solidFill>
          <a:ln>
            <a:noFill/>
          </a:ln>
          <a:effectLst>
            <a:outerShdw blurRad="279400" dist="50800" dir="5400000" algn="t" rotWithShape="0">
              <a:srgbClr val="1B3A30">
                <a:alpha val="9000"/>
              </a:srgbClr>
            </a:outerShdw>
          </a:effectLst>
        </p:spPr>
        <p:txBody>
          <a:bodyPr rtlCol="0" anchor="ctr"/>
          <a:lstStyle/>
          <a:p>
            <a:pPr algn="ctr"/>
          </a:p>
        </p:txBody>
      </p:sp>
      <p:sp>
        <p:nvSpPr>
          <p:cNvPr id="27" name="Icon circle"/>
          <p:cNvSpPr/>
          <p:nvPr/>
        </p:nvSpPr>
        <p:spPr>
          <a:xfrm>
            <a:off x="8305800" y="1727200"/>
            <a:ext cx="533400" cy="533400"/>
          </a:xfrm>
          <a:prstGeom prst="ellipse">
            <a:avLst/>
          </a:prstGeom>
          <a:solidFill>
            <a:srgbClr val="D3E7DA"/>
          </a:solidFill>
          <a:ln>
            <a:noFill/>
          </a:ln>
        </p:spPr>
        <p:txBody>
          <a:bodyPr rtlCol="0" anchor="ctr"/>
          <a:lstStyle/>
          <a:p>
            <a:pPr algn="ctr"/>
          </a:p>
        </p:txBody>
      </p:sp>
      <p:pic>
        <p:nvPicPr>
          <p:cNvPr id="28" name="Icon LuPencil" descr="lu_LuPencil_2E7A62.png"/>
          <p:cNvPicPr>
            <a:picLocks noChangeAspect="1"/>
          </p:cNvPicPr>
          <p:nvPr/>
        </p:nvPicPr>
        <p:blipFill>
          <a:blip r:embed="rId11"/>
          <a:stretch>
            <a:fillRect/>
          </a:stretch>
        </p:blipFill>
        <p:spPr>
          <a:xfrm>
            <a:off x="8444484" y="1865884"/>
            <a:ext cx="256032" cy="256032"/>
          </a:xfrm>
          <a:prstGeom prst="rect">
            <a:avLst/>
          </a:prstGeom>
        </p:spPr>
      </p:pic>
      <p:sp>
        <p:nvSpPr>
          <p:cNvPr id="29" name="TextBox 28"/>
          <p:cNvSpPr txBox="1"/>
          <p:nvPr/>
        </p:nvSpPr>
        <p:spPr>
          <a:xfrm>
            <a:off x="8953500" y="1727200"/>
            <a:ext cx="2794000" cy="2921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Prepare a follow-up</a:t>
            </a:r>
          </a:p>
        </p:txBody>
      </p:sp>
      <p:sp>
        <p:nvSpPr>
          <p:cNvPr id="30" name="TextBox 29"/>
          <p:cNvSpPr txBox="1"/>
          <p:nvPr/>
        </p:nvSpPr>
        <p:spPr>
          <a:xfrm>
            <a:off x="8953500" y="2019300"/>
            <a:ext cx="2857500" cy="381000"/>
          </a:xfrm>
          <a:prstGeom prst="rect">
            <a:avLst/>
          </a:prstGeom>
          <a:noFill/>
        </p:spPr>
        <p:txBody>
          <a:bodyPr wrap="square" lIns="0" rIns="0" tIns="0" bIns="0" anchor="t">
            <a:noAutofit/>
          </a:bodyPr>
          <a:lstStyle/>
          <a:p>
            <a:pPr algn="l">
              <a:lnSpc>
                <a:spcPct val="110000"/>
              </a:lnSpc>
            </a:pPr>
            <a:r>
              <a:rPr sz="1050" b="0" i="0">
                <a:solidFill>
                  <a:srgbClr val="5B6561"/>
                </a:solidFill>
                <a:latin typeface="DM Sans"/>
                <a:ea typeface="DM Sans"/>
                <a:cs typeface="DM Sans"/>
              </a:rPr>
              <a:t>Use AI to draft targeted practice,</a:t>
            </a:r>
            <a:br>
              <a:rPr sz="1050"/>
            </a:br>
            <a:r>
              <a:rPr sz="1050" b="0" i="0">
                <a:solidFill>
                  <a:srgbClr val="5B6561"/>
                </a:solidFill>
                <a:latin typeface="DM Sans"/>
                <a:ea typeface="DM Sans"/>
                <a:cs typeface="DM Sans"/>
              </a:rPr>
              <a:t>then review it.</a:t>
            </a:r>
          </a:p>
        </p:txBody>
      </p:sp>
      <p:sp>
        <p:nvSpPr>
          <p:cNvPr id="31" name="Screenshot frame"/>
          <p:cNvSpPr/>
          <p:nvPr/>
        </p:nvSpPr>
        <p:spPr>
          <a:xfrm>
            <a:off x="8280400" y="2476500"/>
            <a:ext cx="3505200" cy="2413000"/>
          </a:xfrm>
          <a:prstGeom prst="roundRect">
            <a:avLst>
              <a:gd name="adj" fmla="val 4210"/>
            </a:avLst>
          </a:prstGeom>
          <a:solidFill>
            <a:srgbClr val="FFFFFF"/>
          </a:solidFill>
          <a:ln>
            <a:noFill/>
          </a:ln>
        </p:spPr>
        <p:txBody>
          <a:bodyPr rtlCol="0" anchor="ctr"/>
          <a:lstStyle/>
          <a:p>
            <a:pPr algn="ctr"/>
          </a:p>
        </p:txBody>
      </p:sp>
      <p:pic>
        <p:nvPicPr>
          <p:cNvPr id="32" name="Screenshot" descr="activity.png"/>
          <p:cNvPicPr>
            <a:picLocks noChangeAspect="1"/>
          </p:cNvPicPr>
          <p:nvPr/>
        </p:nvPicPr>
        <p:blipFill>
          <a:blip r:embed="rId12"/>
          <a:stretch>
            <a:fillRect/>
          </a:stretch>
        </p:blipFill>
        <p:spPr>
          <a:xfrm>
            <a:off x="8523522" y="2540000"/>
            <a:ext cx="3018955" cy="2286000"/>
          </a:xfrm>
          <a:prstGeom prst="rect">
            <a:avLst/>
          </a:prstGeom>
        </p:spPr>
      </p:pic>
      <p:sp>
        <p:nvSpPr>
          <p:cNvPr id="33" name="Caption"/>
          <p:cNvSpPr/>
          <p:nvPr/>
        </p:nvSpPr>
        <p:spPr>
          <a:xfrm>
            <a:off x="8280400" y="4991100"/>
            <a:ext cx="3505200" cy="673100"/>
          </a:xfrm>
          <a:prstGeom prst="roundRect">
            <a:avLst>
              <a:gd name="adj" fmla="val 15094"/>
            </a:avLst>
          </a:prstGeom>
          <a:solidFill>
            <a:srgbClr val="DCEBE2"/>
          </a:solidFill>
          <a:ln>
            <a:noFill/>
          </a:ln>
        </p:spPr>
        <p:txBody>
          <a:bodyPr rtlCol="0" anchor="ctr"/>
          <a:lstStyle/>
          <a:p>
            <a:pPr algn="ctr"/>
          </a:p>
        </p:txBody>
      </p:sp>
      <p:pic>
        <p:nvPicPr>
          <p:cNvPr id="34" name="Icon LuPencil" descr="lu_LuPencil_2E7A62.png"/>
          <p:cNvPicPr>
            <a:picLocks noChangeAspect="1"/>
          </p:cNvPicPr>
          <p:nvPr/>
        </p:nvPicPr>
        <p:blipFill>
          <a:blip r:embed="rId11"/>
          <a:stretch>
            <a:fillRect/>
          </a:stretch>
        </p:blipFill>
        <p:spPr>
          <a:xfrm>
            <a:off x="8420100" y="5187950"/>
            <a:ext cx="279400" cy="279400"/>
          </a:xfrm>
          <a:prstGeom prst="rect">
            <a:avLst/>
          </a:prstGeom>
        </p:spPr>
      </p:pic>
      <p:sp>
        <p:nvSpPr>
          <p:cNvPr id="35" name="TextBox 34"/>
          <p:cNvSpPr txBox="1"/>
          <p:nvPr/>
        </p:nvSpPr>
        <p:spPr>
          <a:xfrm>
            <a:off x="8801100" y="4991100"/>
            <a:ext cx="2870200" cy="6731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AI helps draft practice. Students see it</a:t>
            </a:r>
            <a:br>
              <a:rPr sz="1100"/>
            </a:br>
            <a:r>
              <a:rPr sz="1100" b="0" i="0">
                <a:solidFill>
                  <a:srgbClr val="15201B"/>
                </a:solidFill>
                <a:latin typeface="DM Sans"/>
                <a:ea typeface="DM Sans"/>
                <a:cs typeface="DM Sans"/>
              </a:rPr>
              <a:t>only after the teacher approves.</a:t>
            </a:r>
          </a:p>
        </p:txBody>
      </p:sp>
      <p:cxnSp>
        <p:nvCxnSpPr>
          <p:cNvPr id="36" name="Connector 35"/>
          <p:cNvCxnSpPr/>
          <p:nvPr/>
        </p:nvCxnSpPr>
        <p:spPr>
          <a:xfrm>
            <a:off x="3975100" y="3683000"/>
            <a:ext cx="3048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912100" y="3683000"/>
            <a:ext cx="3048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Value band"/>
          <p:cNvSpPr/>
          <p:nvPr/>
        </p:nvSpPr>
        <p:spPr>
          <a:xfrm>
            <a:off x="292100" y="5918200"/>
            <a:ext cx="10287000" cy="419100"/>
          </a:xfrm>
          <a:prstGeom prst="roundRect">
            <a:avLst>
              <a:gd name="adj" fmla="val 50000"/>
            </a:avLst>
          </a:prstGeom>
          <a:solidFill>
            <a:srgbClr val="E2EFE7"/>
          </a:solidFill>
          <a:ln>
            <a:noFill/>
          </a:ln>
        </p:spPr>
        <p:txBody>
          <a:bodyPr rtlCol="0" anchor="ctr"/>
          <a:lstStyle/>
          <a:p>
            <a:pPr algn="ctr"/>
          </a:p>
        </p:txBody>
      </p:sp>
      <p:sp>
        <p:nvSpPr>
          <p:cNvPr id="39" name="TextBox 38"/>
          <p:cNvSpPr txBox="1"/>
          <p:nvPr/>
        </p:nvSpPr>
        <p:spPr>
          <a:xfrm>
            <a:off x="508000" y="5918200"/>
            <a:ext cx="1905000" cy="419100"/>
          </a:xfrm>
          <a:prstGeom prst="rect">
            <a:avLst/>
          </a:prstGeom>
          <a:noFill/>
        </p:spPr>
        <p:txBody>
          <a:bodyPr wrap="square" lIns="0" rIns="0" tIns="0" bIns="0" anchor="ctr">
            <a:noAutofit/>
          </a:bodyPr>
          <a:lstStyle/>
          <a:p>
            <a:pPr algn="l"/>
            <a:r>
              <a:rPr sz="1050" b="1" i="0" spc="220">
                <a:solidFill>
                  <a:srgbClr val="2E7A62"/>
                </a:solidFill>
                <a:latin typeface="DM Sans"/>
                <a:ea typeface="DM Sans"/>
                <a:cs typeface="DM Sans"/>
              </a:rPr>
              <a:t>KEY TEACHER VALUE</a:t>
            </a:r>
          </a:p>
        </p:txBody>
      </p:sp>
      <p:pic>
        <p:nvPicPr>
          <p:cNvPr id="40" name="Icon LuEye" descr="lu_LuEye_1B4236.png"/>
          <p:cNvPicPr>
            <a:picLocks noChangeAspect="1"/>
          </p:cNvPicPr>
          <p:nvPr/>
        </p:nvPicPr>
        <p:blipFill>
          <a:blip r:embed="rId13"/>
          <a:stretch>
            <a:fillRect/>
          </a:stretch>
        </p:blipFill>
        <p:spPr>
          <a:xfrm>
            <a:off x="2540000" y="6019800"/>
            <a:ext cx="215900" cy="215900"/>
          </a:xfrm>
          <a:prstGeom prst="rect">
            <a:avLst/>
          </a:prstGeom>
        </p:spPr>
      </p:pic>
      <p:sp>
        <p:nvSpPr>
          <p:cNvPr id="41" name="TextBox 40"/>
          <p:cNvSpPr txBox="1"/>
          <p:nvPr/>
        </p:nvSpPr>
        <p:spPr>
          <a:xfrm>
            <a:off x="2832100" y="5918200"/>
            <a:ext cx="2349500" cy="4191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Full visibility into student thinking</a:t>
            </a:r>
          </a:p>
        </p:txBody>
      </p:sp>
      <p:pic>
        <p:nvPicPr>
          <p:cNvPr id="42" name="Icon LuTarget" descr="lu_LuTarget_1B4236.png"/>
          <p:cNvPicPr>
            <a:picLocks noChangeAspect="1"/>
          </p:cNvPicPr>
          <p:nvPr/>
        </p:nvPicPr>
        <p:blipFill>
          <a:blip r:embed="rId14"/>
          <a:stretch>
            <a:fillRect/>
          </a:stretch>
        </p:blipFill>
        <p:spPr>
          <a:xfrm>
            <a:off x="5207000" y="6019800"/>
            <a:ext cx="215900" cy="215900"/>
          </a:xfrm>
          <a:prstGeom prst="rect">
            <a:avLst/>
          </a:prstGeom>
        </p:spPr>
      </p:pic>
      <p:sp>
        <p:nvSpPr>
          <p:cNvPr id="43" name="TextBox 42"/>
          <p:cNvSpPr txBox="1"/>
          <p:nvPr/>
        </p:nvSpPr>
        <p:spPr>
          <a:xfrm>
            <a:off x="5499100" y="5918200"/>
            <a:ext cx="2349500" cy="4191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Spot possible misconceptions early</a:t>
            </a:r>
          </a:p>
        </p:txBody>
      </p:sp>
      <p:pic>
        <p:nvPicPr>
          <p:cNvPr id="44" name="Icon LuPencilLine" descr="lu_LuPencilLine_1B4236.png"/>
          <p:cNvPicPr>
            <a:picLocks noChangeAspect="1"/>
          </p:cNvPicPr>
          <p:nvPr/>
        </p:nvPicPr>
        <p:blipFill>
          <a:blip r:embed="rId15"/>
          <a:stretch>
            <a:fillRect/>
          </a:stretch>
        </p:blipFill>
        <p:spPr>
          <a:xfrm>
            <a:off x="7874000" y="6019800"/>
            <a:ext cx="215900" cy="215900"/>
          </a:xfrm>
          <a:prstGeom prst="rect">
            <a:avLst/>
          </a:prstGeom>
        </p:spPr>
      </p:pic>
      <p:sp>
        <p:nvSpPr>
          <p:cNvPr id="45" name="TextBox 44"/>
          <p:cNvSpPr txBox="1"/>
          <p:nvPr/>
        </p:nvSpPr>
        <p:spPr>
          <a:xfrm>
            <a:off x="8166100" y="5918200"/>
            <a:ext cx="2349500" cy="419100"/>
          </a:xfrm>
          <a:prstGeom prst="rect">
            <a:avLst/>
          </a:prstGeom>
          <a:noFill/>
        </p:spPr>
        <p:txBody>
          <a:bodyPr wrap="square" lIns="0" rIns="0" tIns="0" bIns="0" anchor="ctr">
            <a:noAutofit/>
          </a:bodyPr>
          <a:lstStyle/>
          <a:p>
            <a:pPr algn="l"/>
            <a:r>
              <a:rPr sz="1050" b="0" i="0">
                <a:solidFill>
                  <a:srgbClr val="15201B"/>
                </a:solidFill>
                <a:latin typeface="DM Sans"/>
                <a:ea typeface="DM Sans"/>
                <a:cs typeface="DM Sans"/>
              </a:rPr>
              <a:t>Turn insights into targeted follow-ups</a:t>
            </a:r>
          </a:p>
        </p:txBody>
      </p:sp>
      <p:sp>
        <p:nvSpPr>
          <p:cNvPr id="46"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DFA2BC6C-692E-2A24-FC16-6EA93C02125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E46C2C7-5B42-1F11-D44F-32E35E84DFA9}"/>
              </a:ext>
            </a:extLst>
          </p:cNvPr>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From answering questions to improving instruction</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WHAT MAKES IT DIFFERENT</a:t>
            </a:r>
          </a:p>
        </p:txBody>
      </p:sp>
      <p:sp>
        <p:nvSpPr>
          <p:cNvPr id="5" name="Subtitle"/>
          <p:cNvSpPr txBox="1"/>
          <p:nvPr/>
        </p:nvSpPr>
        <p:spPr>
          <a:xfrm>
            <a:off x="558800" y="1219200"/>
            <a:ext cx="11049000" cy="292100"/>
          </a:xfrm>
          <a:prstGeom prst="rect">
            <a:avLst/>
          </a:prstGeom>
          <a:noFill/>
        </p:spPr>
        <p:txBody>
          <a:bodyPr wrap="square" lIns="0" rIns="0" tIns="0" bIns="0" anchor="t">
            <a:noAutofit/>
          </a:bodyPr>
          <a:lstStyle/>
          <a:p>
            <a:pPr algn="l"/>
            <a:r>
              <a:rPr sz="1500" b="0" i="0">
                <a:solidFill>
                  <a:srgbClr val="7D8783"/>
                </a:solidFill>
                <a:latin typeface="DM Sans"/>
                <a:ea typeface="DM Sans"/>
                <a:cs typeface="DM Sans"/>
              </a:rPr>
              <a:t>We go beyond correctness, connecting student reasoning, trusted course material and teacher decisions.</a:t>
            </a:r>
          </a:p>
        </p:txBody>
      </p:sp>
      <p:sp>
        <p:nvSpPr>
          <p:cNvPr id="6" name="Column"/>
          <p:cNvSpPr/>
          <p:nvPr/>
        </p:nvSpPr>
        <p:spPr>
          <a:xfrm>
            <a:off x="241300" y="1549400"/>
            <a:ext cx="3784600" cy="4381500"/>
          </a:xfrm>
          <a:prstGeom prst="roundRect">
            <a:avLst>
              <a:gd name="adj" fmla="val 4026"/>
            </a:avLst>
          </a:prstGeom>
          <a:solidFill>
            <a:srgbClr val="F3F6F0"/>
          </a:solidFill>
          <a:ln>
            <a:noFill/>
          </a:ln>
          <a:effectLst>
            <a:outerShdw blurRad="279400" dist="50800" dir="5400000" algn="t" rotWithShape="0">
              <a:srgbClr val="1B3A30">
                <a:alpha val="9000"/>
              </a:srgbClr>
            </a:outerShdw>
          </a:effectLst>
        </p:spPr>
        <p:txBody>
          <a:bodyPr rtlCol="0" anchor="ctr"/>
          <a:lstStyle/>
          <a:p>
            <a:pPr algn="ctr"/>
          </a:p>
        </p:txBody>
      </p:sp>
      <p:sp>
        <p:nvSpPr>
          <p:cNvPr id="7" name="Icon circle"/>
          <p:cNvSpPr/>
          <p:nvPr/>
        </p:nvSpPr>
        <p:spPr>
          <a:xfrm>
            <a:off x="774700" y="1714500"/>
            <a:ext cx="609600" cy="609600"/>
          </a:xfrm>
          <a:prstGeom prst="ellipse">
            <a:avLst/>
          </a:prstGeom>
          <a:solidFill>
            <a:srgbClr val="D9EADF"/>
          </a:solidFill>
          <a:ln>
            <a:noFill/>
          </a:ln>
        </p:spPr>
        <p:txBody>
          <a:bodyPr rtlCol="0" anchor="ctr"/>
          <a:lstStyle/>
          <a:p>
            <a:pPr algn="ctr"/>
          </a:p>
        </p:txBody>
      </p:sp>
      <p:pic>
        <p:nvPicPr>
          <p:cNvPr id="8" name="Icon LuMessageSquareText" descr="lu_LuMessageSquareText_2E7A62.png"/>
          <p:cNvPicPr>
            <a:picLocks noChangeAspect="1"/>
          </p:cNvPicPr>
          <p:nvPr/>
        </p:nvPicPr>
        <p:blipFill>
          <a:blip r:embed="rId7"/>
          <a:stretch>
            <a:fillRect/>
          </a:stretch>
        </p:blipFill>
        <p:spPr>
          <a:xfrm>
            <a:off x="933196" y="1872996"/>
            <a:ext cx="292608" cy="292608"/>
          </a:xfrm>
          <a:prstGeom prst="rect">
            <a:avLst/>
          </a:prstGeom>
        </p:spPr>
      </p:pic>
      <p:sp>
        <p:nvSpPr>
          <p:cNvPr id="9" name="Number"/>
          <p:cNvSpPr/>
          <p:nvPr/>
        </p:nvSpPr>
        <p:spPr>
          <a:xfrm>
            <a:off x="355600" y="1663700"/>
            <a:ext cx="330200" cy="330200"/>
          </a:xfrm>
          <a:prstGeom prst="ellipse">
            <a:avLst/>
          </a:prstGeom>
          <a:solidFill>
            <a:srgbClr val="1F4D3E"/>
          </a:solidFill>
          <a:ln>
            <a:noFill/>
          </a:ln>
        </p:spPr>
        <p:txBody>
          <a:bodyPr rtlCol="0" anchor="ctr"/>
          <a:lstStyle/>
          <a:p>
            <a:pPr algn="ctr"/>
          </a:p>
        </p:txBody>
      </p:sp>
      <p:sp>
        <p:nvSpPr>
          <p:cNvPr id="10" name="TextBox 9"/>
          <p:cNvSpPr txBox="1"/>
          <p:nvPr/>
        </p:nvSpPr>
        <p:spPr>
          <a:xfrm>
            <a:off x="355600" y="1663700"/>
            <a:ext cx="330200" cy="330200"/>
          </a:xfrm>
          <a:prstGeom prst="rect">
            <a:avLst/>
          </a:prstGeom>
          <a:noFill/>
        </p:spPr>
        <p:txBody>
          <a:bodyPr wrap="square" lIns="0" rIns="0" tIns="0" bIns="0" anchor="ctr">
            <a:noAutofit/>
          </a:bodyPr>
          <a:lstStyle/>
          <a:p>
            <a:pPr algn="ctr"/>
            <a:r>
              <a:rPr sz="1200" b="1" i="0">
                <a:solidFill>
                  <a:srgbClr val="FFFFFF"/>
                </a:solidFill>
                <a:latin typeface="DM Sans"/>
                <a:ea typeface="DM Sans"/>
                <a:cs typeface="DM Sans"/>
              </a:rPr>
              <a:t>1</a:t>
            </a:r>
          </a:p>
        </p:txBody>
      </p:sp>
      <p:sp>
        <p:nvSpPr>
          <p:cNvPr id="11" name="TextBox 10"/>
          <p:cNvSpPr txBox="1"/>
          <p:nvPr/>
        </p:nvSpPr>
        <p:spPr>
          <a:xfrm>
            <a:off x="1511300" y="1714500"/>
            <a:ext cx="2413000" cy="571500"/>
          </a:xfrm>
          <a:prstGeom prst="rect">
            <a:avLst/>
          </a:prstGeom>
          <a:noFill/>
        </p:spPr>
        <p:txBody>
          <a:bodyPr wrap="square" lIns="0" rIns="0" tIns="0" bIns="0" anchor="t">
            <a:noAutofit/>
          </a:bodyPr>
          <a:lstStyle/>
          <a:p>
            <a:pPr algn="l">
              <a:lnSpc>
                <a:spcPct val="100000"/>
              </a:lnSpc>
            </a:pPr>
            <a:r>
              <a:rPr sz="1600" b="0" i="0">
                <a:solidFill>
                  <a:srgbClr val="15201B"/>
                </a:solidFill>
                <a:latin typeface="Newsreader"/>
                <a:ea typeface="Newsreader"/>
                <a:cs typeface="Newsreader"/>
              </a:rPr>
              <a:t>Reasoning, not just</a:t>
            </a:r>
            <a:br>
              <a:rPr sz="1600"/>
            </a:br>
            <a:r>
              <a:rPr sz="1600" b="0" i="0">
                <a:solidFill>
                  <a:srgbClr val="15201B"/>
                </a:solidFill>
                <a:latin typeface="Newsreader"/>
                <a:ea typeface="Newsreader"/>
                <a:cs typeface="Newsreader"/>
              </a:rPr>
              <a:t>correctness</a:t>
            </a:r>
          </a:p>
        </p:txBody>
      </p:sp>
      <p:sp>
        <p:nvSpPr>
          <p:cNvPr id="12" name="TextBox 11"/>
          <p:cNvSpPr txBox="1"/>
          <p:nvPr/>
        </p:nvSpPr>
        <p:spPr>
          <a:xfrm>
            <a:off x="1511300" y="2260600"/>
            <a:ext cx="2413000" cy="635000"/>
          </a:xfrm>
          <a:prstGeom prst="rect">
            <a:avLst/>
          </a:prstGeom>
          <a:noFill/>
        </p:spPr>
        <p:txBody>
          <a:bodyPr wrap="square" lIns="0" rIns="0" tIns="0" bIns="0" anchor="t">
            <a:noAutofit/>
          </a:bodyPr>
          <a:lstStyle/>
          <a:p>
            <a:pPr algn="l">
              <a:lnSpc>
                <a:spcPct val="112000"/>
              </a:lnSpc>
            </a:pPr>
            <a:r>
              <a:rPr sz="1000" b="0" i="0">
                <a:solidFill>
                  <a:srgbClr val="5B6561"/>
                </a:solidFill>
                <a:latin typeface="DM Sans"/>
                <a:ea typeface="DM Sans"/>
                <a:cs typeface="DM Sans"/>
              </a:rPr>
              <a:t>We keep students’ original thinking</a:t>
            </a:r>
            <a:br>
              <a:rPr sz="1000"/>
            </a:br>
            <a:r>
              <a:rPr sz="1000" b="0" i="0">
                <a:solidFill>
                  <a:srgbClr val="5B6561"/>
                </a:solidFill>
                <a:latin typeface="DM Sans"/>
                <a:ea typeface="DM Sans"/>
                <a:cs typeface="DM Sans"/>
              </a:rPr>
              <a:t>next to the evaluation, so teachers</a:t>
            </a:r>
            <a:br>
              <a:rPr sz="1000"/>
            </a:br>
            <a:r>
              <a:rPr sz="1000" b="0" i="0">
                <a:solidFill>
                  <a:srgbClr val="5B6561"/>
                </a:solidFill>
                <a:latin typeface="DM Sans"/>
                <a:ea typeface="DM Sans"/>
                <a:cs typeface="DM Sans"/>
              </a:rPr>
              <a:t>can see what happened.</a:t>
            </a:r>
          </a:p>
        </p:txBody>
      </p:sp>
      <p:sp>
        <p:nvSpPr>
          <p:cNvPr id="13" name="Panel"/>
          <p:cNvSpPr/>
          <p:nvPr/>
        </p:nvSpPr>
        <p:spPr>
          <a:xfrm>
            <a:off x="355600" y="2984500"/>
            <a:ext cx="3556000" cy="2095500"/>
          </a:xfrm>
          <a:prstGeom prst="roundRect">
            <a:avLst>
              <a:gd name="adj" fmla="val 4848"/>
            </a:avLst>
          </a:prstGeom>
          <a:solidFill>
            <a:srgbClr val="FFFFFF"/>
          </a:solidFill>
          <a:ln>
            <a:noFill/>
          </a:ln>
        </p:spPr>
        <p:txBody>
          <a:bodyPr rtlCol="0" anchor="ctr"/>
          <a:lstStyle/>
          <a:p>
            <a:pPr algn="ctr"/>
          </a:p>
        </p:txBody>
      </p:sp>
      <p:sp>
        <p:nvSpPr>
          <p:cNvPr id="14" name="Caption"/>
          <p:cNvSpPr/>
          <p:nvPr/>
        </p:nvSpPr>
        <p:spPr>
          <a:xfrm>
            <a:off x="355600" y="5194300"/>
            <a:ext cx="3556000" cy="609600"/>
          </a:xfrm>
          <a:prstGeom prst="roundRect">
            <a:avLst>
              <a:gd name="adj" fmla="val 16666"/>
            </a:avLst>
          </a:prstGeom>
          <a:solidFill>
            <a:srgbClr val="DCEBE2"/>
          </a:solidFill>
          <a:ln>
            <a:noFill/>
          </a:ln>
        </p:spPr>
        <p:txBody>
          <a:bodyPr rtlCol="0" anchor="ctr"/>
          <a:lstStyle/>
          <a:p>
            <a:pPr algn="ctr"/>
          </a:p>
        </p:txBody>
      </p:sp>
      <p:sp>
        <p:nvSpPr>
          <p:cNvPr id="15" name="Oval 14"/>
          <p:cNvSpPr/>
          <p:nvPr/>
        </p:nvSpPr>
        <p:spPr>
          <a:xfrm>
            <a:off x="457200" y="5308600"/>
            <a:ext cx="381000" cy="381000"/>
          </a:xfrm>
          <a:prstGeom prst="ellipse">
            <a:avLst/>
          </a:prstGeom>
          <a:solidFill>
            <a:srgbClr val="FFFFFF"/>
          </a:solidFill>
          <a:ln>
            <a:noFill/>
          </a:ln>
        </p:spPr>
        <p:txBody>
          <a:bodyPr rtlCol="0" anchor="ctr"/>
          <a:lstStyle/>
          <a:p>
            <a:pPr algn="ctr"/>
          </a:p>
        </p:txBody>
      </p:sp>
      <p:pic>
        <p:nvPicPr>
          <p:cNvPr id="16" name="Icon LuLightbulb" descr="lu_LuLightbulb_2E7A62.png"/>
          <p:cNvPicPr>
            <a:picLocks noChangeAspect="1"/>
          </p:cNvPicPr>
          <p:nvPr/>
        </p:nvPicPr>
        <p:blipFill>
          <a:blip r:embed="rId8"/>
          <a:stretch>
            <a:fillRect/>
          </a:stretch>
        </p:blipFill>
        <p:spPr>
          <a:xfrm>
            <a:off x="552450" y="5403850"/>
            <a:ext cx="190500" cy="190500"/>
          </a:xfrm>
          <a:prstGeom prst="rect">
            <a:avLst/>
          </a:prstGeom>
        </p:spPr>
      </p:pic>
      <p:sp>
        <p:nvSpPr>
          <p:cNvPr id="17" name="TextBox 16"/>
          <p:cNvSpPr txBox="1"/>
          <p:nvPr/>
        </p:nvSpPr>
        <p:spPr>
          <a:xfrm>
            <a:off x="939800" y="5194300"/>
            <a:ext cx="2857500" cy="6096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Reveals how students think, not just</a:t>
            </a:r>
            <a:br>
              <a:rPr sz="1100"/>
            </a:br>
            <a:r>
              <a:rPr sz="1100" b="0" i="0">
                <a:solidFill>
                  <a:srgbClr val="15201B"/>
                </a:solidFill>
                <a:latin typeface="DM Sans"/>
                <a:ea typeface="DM Sans"/>
                <a:cs typeface="DM Sans"/>
              </a:rPr>
              <a:t>whether they’re right or wrong.</a:t>
            </a:r>
          </a:p>
        </p:txBody>
      </p:sp>
      <p:sp>
        <p:nvSpPr>
          <p:cNvPr id="18" name="Column"/>
          <p:cNvSpPr/>
          <p:nvPr/>
        </p:nvSpPr>
        <p:spPr>
          <a:xfrm>
            <a:off x="4203700" y="1549400"/>
            <a:ext cx="3784600" cy="4381500"/>
          </a:xfrm>
          <a:prstGeom prst="roundRect">
            <a:avLst>
              <a:gd name="adj" fmla="val 4026"/>
            </a:avLst>
          </a:prstGeom>
          <a:solidFill>
            <a:srgbClr val="FAF3E7"/>
          </a:solidFill>
          <a:ln>
            <a:noFill/>
          </a:ln>
          <a:effectLst>
            <a:outerShdw blurRad="279400" dist="50800" dir="5400000" algn="t" rotWithShape="0">
              <a:srgbClr val="1B3A30">
                <a:alpha val="9000"/>
              </a:srgbClr>
            </a:outerShdw>
          </a:effectLst>
        </p:spPr>
        <p:txBody>
          <a:bodyPr rtlCol="0" anchor="ctr"/>
          <a:lstStyle/>
          <a:p>
            <a:pPr algn="ctr"/>
          </a:p>
        </p:txBody>
      </p:sp>
      <p:sp>
        <p:nvSpPr>
          <p:cNvPr id="19" name="Icon circle"/>
          <p:cNvSpPr/>
          <p:nvPr/>
        </p:nvSpPr>
        <p:spPr>
          <a:xfrm>
            <a:off x="4737100" y="1714500"/>
            <a:ext cx="609600" cy="609600"/>
          </a:xfrm>
          <a:prstGeom prst="ellipse">
            <a:avLst/>
          </a:prstGeom>
          <a:solidFill>
            <a:srgbClr val="F3E2C6"/>
          </a:solidFill>
          <a:ln>
            <a:noFill/>
          </a:ln>
        </p:spPr>
        <p:txBody>
          <a:bodyPr rtlCol="0" anchor="ctr"/>
          <a:lstStyle/>
          <a:p>
            <a:pPr algn="ctr"/>
          </a:p>
        </p:txBody>
      </p:sp>
      <p:pic>
        <p:nvPicPr>
          <p:cNvPr id="20" name="Icon LuBookOpen" descr="lu_LuBookOpen_B7792A.png"/>
          <p:cNvPicPr>
            <a:picLocks noChangeAspect="1"/>
          </p:cNvPicPr>
          <p:nvPr/>
        </p:nvPicPr>
        <p:blipFill>
          <a:blip r:embed="rId9"/>
          <a:stretch>
            <a:fillRect/>
          </a:stretch>
        </p:blipFill>
        <p:spPr>
          <a:xfrm>
            <a:off x="4895596" y="1872996"/>
            <a:ext cx="292608" cy="292608"/>
          </a:xfrm>
          <a:prstGeom prst="rect">
            <a:avLst/>
          </a:prstGeom>
        </p:spPr>
      </p:pic>
      <p:sp>
        <p:nvSpPr>
          <p:cNvPr id="21" name="Number"/>
          <p:cNvSpPr/>
          <p:nvPr/>
        </p:nvSpPr>
        <p:spPr>
          <a:xfrm>
            <a:off x="4318000" y="1663700"/>
            <a:ext cx="330200" cy="330200"/>
          </a:xfrm>
          <a:prstGeom prst="ellipse">
            <a:avLst/>
          </a:prstGeom>
          <a:solidFill>
            <a:srgbClr val="A47A3A"/>
          </a:solidFill>
          <a:ln>
            <a:noFill/>
          </a:ln>
        </p:spPr>
        <p:txBody>
          <a:bodyPr rtlCol="0" anchor="ctr"/>
          <a:lstStyle/>
          <a:p>
            <a:pPr algn="ctr"/>
          </a:p>
        </p:txBody>
      </p:sp>
      <p:sp>
        <p:nvSpPr>
          <p:cNvPr id="22" name="TextBox 21"/>
          <p:cNvSpPr txBox="1"/>
          <p:nvPr/>
        </p:nvSpPr>
        <p:spPr>
          <a:xfrm>
            <a:off x="4318000" y="1663700"/>
            <a:ext cx="330200" cy="330200"/>
          </a:xfrm>
          <a:prstGeom prst="rect">
            <a:avLst/>
          </a:prstGeom>
          <a:noFill/>
        </p:spPr>
        <p:txBody>
          <a:bodyPr wrap="square" lIns="0" rIns="0" tIns="0" bIns="0" anchor="ctr">
            <a:noAutofit/>
          </a:bodyPr>
          <a:lstStyle/>
          <a:p>
            <a:pPr algn="ctr"/>
            <a:r>
              <a:rPr sz="1200" b="1" i="0">
                <a:solidFill>
                  <a:srgbClr val="FFFFFF"/>
                </a:solidFill>
                <a:latin typeface="DM Sans"/>
                <a:ea typeface="DM Sans"/>
                <a:cs typeface="DM Sans"/>
              </a:rPr>
              <a:t>2</a:t>
            </a:r>
          </a:p>
        </p:txBody>
      </p:sp>
      <p:sp>
        <p:nvSpPr>
          <p:cNvPr id="23" name="TextBox 22"/>
          <p:cNvSpPr txBox="1"/>
          <p:nvPr/>
        </p:nvSpPr>
        <p:spPr>
          <a:xfrm>
            <a:off x="5473700" y="1714500"/>
            <a:ext cx="2413000" cy="571500"/>
          </a:xfrm>
          <a:prstGeom prst="rect">
            <a:avLst/>
          </a:prstGeom>
          <a:noFill/>
        </p:spPr>
        <p:txBody>
          <a:bodyPr wrap="square" lIns="0" rIns="0" tIns="0" bIns="0" anchor="t">
            <a:noAutofit/>
          </a:bodyPr>
          <a:lstStyle/>
          <a:p>
            <a:pPr algn="l">
              <a:lnSpc>
                <a:spcPct val="100000"/>
              </a:lnSpc>
            </a:pPr>
            <a:r>
              <a:rPr sz="1600" b="0" i="0">
                <a:solidFill>
                  <a:srgbClr val="15201B"/>
                </a:solidFill>
                <a:latin typeface="Newsreader"/>
                <a:ea typeface="Newsreader"/>
                <a:cs typeface="Newsreader"/>
              </a:rPr>
              <a:t>Grounded in approved</a:t>
            </a:r>
            <a:br>
              <a:rPr sz="1600"/>
            </a:br>
            <a:r>
              <a:rPr sz="1600" b="0" i="0">
                <a:solidFill>
                  <a:srgbClr val="15201B"/>
                </a:solidFill>
                <a:latin typeface="Newsreader"/>
                <a:ea typeface="Newsreader"/>
                <a:cs typeface="Newsreader"/>
              </a:rPr>
              <a:t>material</a:t>
            </a:r>
          </a:p>
        </p:txBody>
      </p:sp>
      <p:sp>
        <p:nvSpPr>
          <p:cNvPr id="24" name="TextBox 23"/>
          <p:cNvSpPr txBox="1"/>
          <p:nvPr/>
        </p:nvSpPr>
        <p:spPr>
          <a:xfrm>
            <a:off x="5473700" y="2260600"/>
            <a:ext cx="2413000" cy="635000"/>
          </a:xfrm>
          <a:prstGeom prst="rect">
            <a:avLst/>
          </a:prstGeom>
          <a:noFill/>
        </p:spPr>
        <p:txBody>
          <a:bodyPr wrap="square" lIns="0" rIns="0" tIns="0" bIns="0" anchor="t">
            <a:noAutofit/>
          </a:bodyPr>
          <a:lstStyle/>
          <a:p>
            <a:pPr algn="l">
              <a:lnSpc>
                <a:spcPct val="112000"/>
              </a:lnSpc>
            </a:pPr>
            <a:r>
              <a:rPr sz="1000" b="0" i="0">
                <a:solidFill>
                  <a:srgbClr val="5B6561"/>
                </a:solidFill>
                <a:latin typeface="DM Sans"/>
                <a:ea typeface="DM Sans"/>
                <a:cs typeface="DM Sans"/>
              </a:rPr>
              <a:t>The tutor works from the instructor’s</a:t>
            </a:r>
            <a:br>
              <a:rPr sz="1000"/>
            </a:br>
            <a:r>
              <a:rPr sz="1000" b="0" i="0">
                <a:solidFill>
                  <a:srgbClr val="5B6561"/>
                </a:solidFill>
                <a:latin typeface="DM Sans"/>
                <a:ea typeface="DM Sans"/>
                <a:cs typeface="DM Sans"/>
              </a:rPr>
              <a:t>lesson version, and old work keeps</a:t>
            </a:r>
            <a:br>
              <a:rPr sz="1000"/>
            </a:br>
            <a:r>
              <a:rPr sz="1000" b="0" i="0">
                <a:solidFill>
                  <a:srgbClr val="5B6561"/>
                </a:solidFill>
                <a:latin typeface="DM Sans"/>
                <a:ea typeface="DM Sans"/>
                <a:cs typeface="DM Sans"/>
              </a:rPr>
              <a:t>its original source.</a:t>
            </a:r>
          </a:p>
        </p:txBody>
      </p:sp>
      <p:sp>
        <p:nvSpPr>
          <p:cNvPr id="25" name="Panel"/>
          <p:cNvSpPr/>
          <p:nvPr/>
        </p:nvSpPr>
        <p:spPr>
          <a:xfrm>
            <a:off x="4318000" y="2984500"/>
            <a:ext cx="3556000" cy="2095500"/>
          </a:xfrm>
          <a:prstGeom prst="roundRect">
            <a:avLst>
              <a:gd name="adj" fmla="val 4848"/>
            </a:avLst>
          </a:prstGeom>
          <a:solidFill>
            <a:srgbClr val="FFFFFF"/>
          </a:solidFill>
          <a:ln>
            <a:noFill/>
          </a:ln>
        </p:spPr>
        <p:txBody>
          <a:bodyPr rtlCol="0" anchor="ctr"/>
          <a:lstStyle/>
          <a:p>
            <a:pPr algn="ctr"/>
          </a:p>
        </p:txBody>
      </p:sp>
      <p:sp>
        <p:nvSpPr>
          <p:cNvPr id="26" name="Caption"/>
          <p:cNvSpPr/>
          <p:nvPr/>
        </p:nvSpPr>
        <p:spPr>
          <a:xfrm>
            <a:off x="4318000" y="5194300"/>
            <a:ext cx="3556000" cy="609600"/>
          </a:xfrm>
          <a:prstGeom prst="roundRect">
            <a:avLst>
              <a:gd name="adj" fmla="val 16666"/>
            </a:avLst>
          </a:prstGeom>
          <a:solidFill>
            <a:srgbClr val="F5E7D0"/>
          </a:solidFill>
          <a:ln>
            <a:noFill/>
          </a:ln>
        </p:spPr>
        <p:txBody>
          <a:bodyPr rtlCol="0" anchor="ctr"/>
          <a:lstStyle/>
          <a:p>
            <a:pPr algn="ctr"/>
          </a:p>
        </p:txBody>
      </p:sp>
      <p:sp>
        <p:nvSpPr>
          <p:cNvPr id="27" name="Oval 26"/>
          <p:cNvSpPr/>
          <p:nvPr/>
        </p:nvSpPr>
        <p:spPr>
          <a:xfrm>
            <a:off x="4419600" y="5308600"/>
            <a:ext cx="381000" cy="381000"/>
          </a:xfrm>
          <a:prstGeom prst="ellipse">
            <a:avLst/>
          </a:prstGeom>
          <a:solidFill>
            <a:srgbClr val="FFFFFF"/>
          </a:solidFill>
          <a:ln>
            <a:noFill/>
          </a:ln>
        </p:spPr>
        <p:txBody>
          <a:bodyPr rtlCol="0" anchor="ctr"/>
          <a:lstStyle/>
          <a:p>
            <a:pPr algn="ctr"/>
          </a:p>
        </p:txBody>
      </p:sp>
      <p:pic>
        <p:nvPicPr>
          <p:cNvPr id="28" name="Icon LuBookOpen" descr="lu_LuBookOpen_B7792A.png"/>
          <p:cNvPicPr>
            <a:picLocks noChangeAspect="1"/>
          </p:cNvPicPr>
          <p:nvPr/>
        </p:nvPicPr>
        <p:blipFill>
          <a:blip r:embed="rId9"/>
          <a:stretch>
            <a:fillRect/>
          </a:stretch>
        </p:blipFill>
        <p:spPr>
          <a:xfrm>
            <a:off x="4514850" y="5403850"/>
            <a:ext cx="190500" cy="190500"/>
          </a:xfrm>
          <a:prstGeom prst="rect">
            <a:avLst/>
          </a:prstGeom>
        </p:spPr>
      </p:pic>
      <p:sp>
        <p:nvSpPr>
          <p:cNvPr id="29" name="TextBox 28"/>
          <p:cNvSpPr txBox="1"/>
          <p:nvPr/>
        </p:nvSpPr>
        <p:spPr>
          <a:xfrm>
            <a:off x="4902200" y="5194300"/>
            <a:ext cx="2857500" cy="6096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Keeps every explanation traceable</a:t>
            </a:r>
            <a:br>
              <a:rPr sz="1100"/>
            </a:br>
            <a:r>
              <a:rPr sz="1100" b="0" i="0">
                <a:solidFill>
                  <a:srgbClr val="15201B"/>
                </a:solidFill>
                <a:latin typeface="DM Sans"/>
                <a:ea typeface="DM Sans"/>
                <a:cs typeface="DM Sans"/>
              </a:rPr>
              <a:t>to approved course material.</a:t>
            </a:r>
          </a:p>
        </p:txBody>
      </p:sp>
      <p:sp>
        <p:nvSpPr>
          <p:cNvPr id="30" name="Column"/>
          <p:cNvSpPr/>
          <p:nvPr/>
        </p:nvSpPr>
        <p:spPr>
          <a:xfrm>
            <a:off x="8166100" y="1549400"/>
            <a:ext cx="3784600" cy="4381500"/>
          </a:xfrm>
          <a:prstGeom prst="roundRect">
            <a:avLst>
              <a:gd name="adj" fmla="val 4026"/>
            </a:avLst>
          </a:prstGeom>
          <a:solidFill>
            <a:srgbClr val="F3F6F0"/>
          </a:solidFill>
          <a:ln>
            <a:noFill/>
          </a:ln>
          <a:effectLst>
            <a:outerShdw blurRad="279400" dist="50800" dir="5400000" algn="t" rotWithShape="0">
              <a:srgbClr val="1B3A30">
                <a:alpha val="9000"/>
              </a:srgbClr>
            </a:outerShdw>
          </a:effectLst>
        </p:spPr>
        <p:txBody>
          <a:bodyPr rtlCol="0" anchor="ctr"/>
          <a:lstStyle/>
          <a:p>
            <a:pPr algn="ctr"/>
          </a:p>
        </p:txBody>
      </p:sp>
      <p:sp>
        <p:nvSpPr>
          <p:cNvPr id="31" name="Icon circle"/>
          <p:cNvSpPr/>
          <p:nvPr/>
        </p:nvSpPr>
        <p:spPr>
          <a:xfrm>
            <a:off x="8699500" y="1714500"/>
            <a:ext cx="609600" cy="609600"/>
          </a:xfrm>
          <a:prstGeom prst="ellipse">
            <a:avLst/>
          </a:prstGeom>
          <a:solidFill>
            <a:srgbClr val="D9EADF"/>
          </a:solidFill>
          <a:ln>
            <a:noFill/>
          </a:ln>
        </p:spPr>
        <p:txBody>
          <a:bodyPr rtlCol="0" anchor="ctr"/>
          <a:lstStyle/>
          <a:p>
            <a:pPr algn="ctr"/>
          </a:p>
        </p:txBody>
      </p:sp>
      <p:pic>
        <p:nvPicPr>
          <p:cNvPr id="32" name="Icon LuUsers" descr="lu_LuUsers_2E7A62.png"/>
          <p:cNvPicPr>
            <a:picLocks noChangeAspect="1"/>
          </p:cNvPicPr>
          <p:nvPr/>
        </p:nvPicPr>
        <p:blipFill>
          <a:blip r:embed="rId10"/>
          <a:stretch>
            <a:fillRect/>
          </a:stretch>
        </p:blipFill>
        <p:spPr>
          <a:xfrm>
            <a:off x="8857996" y="1872996"/>
            <a:ext cx="292608" cy="292608"/>
          </a:xfrm>
          <a:prstGeom prst="rect">
            <a:avLst/>
          </a:prstGeom>
        </p:spPr>
      </p:pic>
      <p:sp>
        <p:nvSpPr>
          <p:cNvPr id="33" name="Number"/>
          <p:cNvSpPr/>
          <p:nvPr/>
        </p:nvSpPr>
        <p:spPr>
          <a:xfrm>
            <a:off x="8280400" y="1663700"/>
            <a:ext cx="330200" cy="330200"/>
          </a:xfrm>
          <a:prstGeom prst="ellipse">
            <a:avLst/>
          </a:prstGeom>
          <a:solidFill>
            <a:srgbClr val="1F4D3E"/>
          </a:solidFill>
          <a:ln>
            <a:noFill/>
          </a:ln>
        </p:spPr>
        <p:txBody>
          <a:bodyPr rtlCol="0" anchor="ctr"/>
          <a:lstStyle/>
          <a:p>
            <a:pPr algn="ctr"/>
          </a:p>
        </p:txBody>
      </p:sp>
      <p:sp>
        <p:nvSpPr>
          <p:cNvPr id="34" name="TextBox 33"/>
          <p:cNvSpPr txBox="1"/>
          <p:nvPr/>
        </p:nvSpPr>
        <p:spPr>
          <a:xfrm>
            <a:off x="8280400" y="1663700"/>
            <a:ext cx="330200" cy="330200"/>
          </a:xfrm>
          <a:prstGeom prst="rect">
            <a:avLst/>
          </a:prstGeom>
          <a:noFill/>
        </p:spPr>
        <p:txBody>
          <a:bodyPr wrap="square" lIns="0" rIns="0" tIns="0" bIns="0" anchor="ctr">
            <a:noAutofit/>
          </a:bodyPr>
          <a:lstStyle/>
          <a:p>
            <a:pPr algn="ctr"/>
            <a:r>
              <a:rPr sz="1200" b="1" i="0">
                <a:solidFill>
                  <a:srgbClr val="FFFFFF"/>
                </a:solidFill>
                <a:latin typeface="DM Sans"/>
                <a:ea typeface="DM Sans"/>
                <a:cs typeface="DM Sans"/>
              </a:rPr>
              <a:t>3</a:t>
            </a:r>
          </a:p>
        </p:txBody>
      </p:sp>
      <p:sp>
        <p:nvSpPr>
          <p:cNvPr id="35" name="TextBox 34"/>
          <p:cNvSpPr txBox="1"/>
          <p:nvPr/>
        </p:nvSpPr>
        <p:spPr>
          <a:xfrm>
            <a:off x="9436100" y="1714500"/>
            <a:ext cx="2413000" cy="571500"/>
          </a:xfrm>
          <a:prstGeom prst="rect">
            <a:avLst/>
          </a:prstGeom>
          <a:noFill/>
        </p:spPr>
        <p:txBody>
          <a:bodyPr wrap="square" lIns="0" rIns="0" tIns="0" bIns="0" anchor="t">
            <a:noAutofit/>
          </a:bodyPr>
          <a:lstStyle/>
          <a:p>
            <a:pPr algn="l">
              <a:lnSpc>
                <a:spcPct val="100000"/>
              </a:lnSpc>
            </a:pPr>
            <a:r>
              <a:rPr sz="1600" b="0" i="0">
                <a:solidFill>
                  <a:srgbClr val="15201B"/>
                </a:solidFill>
                <a:latin typeface="Newsreader"/>
                <a:ea typeface="Newsreader"/>
                <a:cs typeface="Newsreader"/>
              </a:rPr>
              <a:t>AI closes the loop,</a:t>
            </a:r>
            <a:br>
              <a:rPr sz="1600"/>
            </a:br>
            <a:r>
              <a:rPr sz="1600" b="0" i="0">
                <a:solidFill>
                  <a:srgbClr val="15201B"/>
                </a:solidFill>
                <a:latin typeface="Newsreader"/>
                <a:ea typeface="Newsreader"/>
                <a:cs typeface="Newsreader"/>
              </a:rPr>
              <a:t>people decide</a:t>
            </a:r>
          </a:p>
        </p:txBody>
      </p:sp>
      <p:sp>
        <p:nvSpPr>
          <p:cNvPr id="36" name="TextBox 35"/>
          <p:cNvSpPr txBox="1"/>
          <p:nvPr/>
        </p:nvSpPr>
        <p:spPr>
          <a:xfrm>
            <a:off x="9436100" y="2260600"/>
            <a:ext cx="2413000" cy="635000"/>
          </a:xfrm>
          <a:prstGeom prst="rect">
            <a:avLst/>
          </a:prstGeom>
          <a:noFill/>
        </p:spPr>
        <p:txBody>
          <a:bodyPr wrap="square" lIns="0" rIns="0" tIns="0" bIns="0" anchor="t">
            <a:noAutofit/>
          </a:bodyPr>
          <a:lstStyle/>
          <a:p>
            <a:pPr algn="l">
              <a:lnSpc>
                <a:spcPct val="112000"/>
              </a:lnSpc>
            </a:pPr>
            <a:r>
              <a:rPr sz="1000" b="0" i="0">
                <a:solidFill>
                  <a:srgbClr val="5B6561"/>
                </a:solidFill>
                <a:latin typeface="DM Sans"/>
                <a:ea typeface="DM Sans"/>
                <a:cs typeface="DM Sans"/>
              </a:rPr>
              <a:t>Student work informs teaching, and</a:t>
            </a:r>
            <a:br>
              <a:rPr sz="1000"/>
            </a:br>
            <a:r>
              <a:rPr sz="1000" b="0" i="0">
                <a:solidFill>
                  <a:srgbClr val="5B6561"/>
                </a:solidFill>
                <a:latin typeface="DM Sans"/>
                <a:ea typeface="DM Sans"/>
                <a:cs typeface="DM Sans"/>
              </a:rPr>
              <a:t>instructors approve every official</a:t>
            </a:r>
            <a:br>
              <a:rPr sz="1000"/>
            </a:br>
            <a:r>
              <a:rPr sz="1000" b="0" i="0">
                <a:solidFill>
                  <a:srgbClr val="5B6561"/>
                </a:solidFill>
                <a:latin typeface="DM Sans"/>
                <a:ea typeface="DM Sans"/>
                <a:cs typeface="DM Sans"/>
              </a:rPr>
              <a:t>instructional action.</a:t>
            </a:r>
          </a:p>
        </p:txBody>
      </p:sp>
      <p:sp>
        <p:nvSpPr>
          <p:cNvPr id="37" name="Panel"/>
          <p:cNvSpPr/>
          <p:nvPr/>
        </p:nvSpPr>
        <p:spPr>
          <a:xfrm>
            <a:off x="8280400" y="2984500"/>
            <a:ext cx="3556000" cy="2095500"/>
          </a:xfrm>
          <a:prstGeom prst="roundRect">
            <a:avLst>
              <a:gd name="adj" fmla="val 4848"/>
            </a:avLst>
          </a:prstGeom>
          <a:solidFill>
            <a:srgbClr val="FFFFFF"/>
          </a:solidFill>
          <a:ln>
            <a:noFill/>
          </a:ln>
        </p:spPr>
        <p:txBody>
          <a:bodyPr rtlCol="0" anchor="ctr"/>
          <a:lstStyle/>
          <a:p>
            <a:pPr algn="ctr"/>
          </a:p>
        </p:txBody>
      </p:sp>
      <p:sp>
        <p:nvSpPr>
          <p:cNvPr id="38" name="Caption"/>
          <p:cNvSpPr/>
          <p:nvPr/>
        </p:nvSpPr>
        <p:spPr>
          <a:xfrm>
            <a:off x="8280400" y="5194300"/>
            <a:ext cx="3556000" cy="609600"/>
          </a:xfrm>
          <a:prstGeom prst="roundRect">
            <a:avLst>
              <a:gd name="adj" fmla="val 16666"/>
            </a:avLst>
          </a:prstGeom>
          <a:solidFill>
            <a:srgbClr val="DCEBE2"/>
          </a:solidFill>
          <a:ln>
            <a:noFill/>
          </a:ln>
        </p:spPr>
        <p:txBody>
          <a:bodyPr rtlCol="0" anchor="ctr"/>
          <a:lstStyle/>
          <a:p>
            <a:pPr algn="ctr"/>
          </a:p>
        </p:txBody>
      </p:sp>
      <p:sp>
        <p:nvSpPr>
          <p:cNvPr id="39" name="Oval 38"/>
          <p:cNvSpPr/>
          <p:nvPr/>
        </p:nvSpPr>
        <p:spPr>
          <a:xfrm>
            <a:off x="8382000" y="5308600"/>
            <a:ext cx="381000" cy="381000"/>
          </a:xfrm>
          <a:prstGeom prst="ellipse">
            <a:avLst/>
          </a:prstGeom>
          <a:solidFill>
            <a:srgbClr val="FFFFFF"/>
          </a:solidFill>
          <a:ln>
            <a:noFill/>
          </a:ln>
        </p:spPr>
        <p:txBody>
          <a:bodyPr rtlCol="0" anchor="ctr"/>
          <a:lstStyle/>
          <a:p>
            <a:pPr algn="ctr"/>
          </a:p>
        </p:txBody>
      </p:sp>
      <p:pic>
        <p:nvPicPr>
          <p:cNvPr id="40" name="Icon LuTarget" descr="lu_LuTarget_2E7A62.png"/>
          <p:cNvPicPr>
            <a:picLocks noChangeAspect="1"/>
          </p:cNvPicPr>
          <p:nvPr/>
        </p:nvPicPr>
        <p:blipFill>
          <a:blip r:embed="rId11"/>
          <a:stretch>
            <a:fillRect/>
          </a:stretch>
        </p:blipFill>
        <p:spPr>
          <a:xfrm>
            <a:off x="8477250" y="5403850"/>
            <a:ext cx="190500" cy="190500"/>
          </a:xfrm>
          <a:prstGeom prst="rect">
            <a:avLst/>
          </a:prstGeom>
        </p:spPr>
      </p:pic>
      <p:sp>
        <p:nvSpPr>
          <p:cNvPr id="41" name="TextBox 40"/>
          <p:cNvSpPr txBox="1"/>
          <p:nvPr/>
        </p:nvSpPr>
        <p:spPr>
          <a:xfrm>
            <a:off x="8864600" y="5194300"/>
            <a:ext cx="2857500" cy="609600"/>
          </a:xfrm>
          <a:prstGeom prst="rect">
            <a:avLst/>
          </a:prstGeom>
          <a:noFill/>
        </p:spPr>
        <p:txBody>
          <a:bodyPr wrap="square" lIns="0" rIns="0" tIns="0" bIns="0" anchor="ctr">
            <a:noAutofit/>
          </a:bodyPr>
          <a:lstStyle/>
          <a:p>
            <a:pPr algn="l">
              <a:lnSpc>
                <a:spcPct val="110000"/>
              </a:lnSpc>
            </a:pPr>
            <a:r>
              <a:rPr sz="1100" b="0" i="0">
                <a:solidFill>
                  <a:srgbClr val="15201B"/>
                </a:solidFill>
                <a:latin typeface="DM Sans"/>
                <a:ea typeface="DM Sans"/>
                <a:cs typeface="DM Sans"/>
              </a:rPr>
              <a:t>Turns individual reasoning into</a:t>
            </a:r>
            <a:br>
              <a:rPr sz="1100"/>
            </a:br>
            <a:r>
              <a:rPr sz="1100" b="0" i="0">
                <a:solidFill>
                  <a:srgbClr val="15201B"/>
                </a:solidFill>
                <a:latin typeface="DM Sans"/>
                <a:ea typeface="DM Sans"/>
                <a:cs typeface="DM Sans"/>
              </a:rPr>
              <a:t>targeted, teacher-approved practice.</a:t>
            </a:r>
          </a:p>
        </p:txBody>
      </p:sp>
      <p:pic>
        <p:nvPicPr>
          <p:cNvPr id="42" name="Student record screenshot" descr="image.png"/>
          <p:cNvPicPr>
            <a:picLocks noChangeAspect="1"/>
          </p:cNvPicPr>
          <p:nvPr/>
        </p:nvPicPr>
        <p:blipFill>
          <a:blip r:embed="rId4"/>
          <a:stretch>
            <a:fillRect/>
          </a:stretch>
        </p:blipFill>
        <p:spPr>
          <a:xfrm>
            <a:off x="853733" y="3048000"/>
            <a:ext cx="2559734" cy="1968500"/>
          </a:xfrm>
          <a:prstGeom prst="rect">
            <a:avLst/>
          </a:prstGeom>
        </p:spPr>
      </p:pic>
      <p:pic>
        <p:nvPicPr>
          <p:cNvPr id="43" name="Icon LuBookOpen" descr="lu_LuBookOpen_15201B.png"/>
          <p:cNvPicPr>
            <a:picLocks noChangeAspect="1"/>
          </p:cNvPicPr>
          <p:nvPr/>
        </p:nvPicPr>
        <p:blipFill>
          <a:blip r:embed="rId12"/>
          <a:stretch>
            <a:fillRect/>
          </a:stretch>
        </p:blipFill>
        <p:spPr>
          <a:xfrm>
            <a:off x="4445000" y="3111500"/>
            <a:ext cx="177800" cy="177800"/>
          </a:xfrm>
          <a:prstGeom prst="rect">
            <a:avLst/>
          </a:prstGeom>
        </p:spPr>
      </p:pic>
      <p:sp>
        <p:nvSpPr>
          <p:cNvPr id="44" name="TextBox 43"/>
          <p:cNvSpPr txBox="1"/>
          <p:nvPr/>
        </p:nvSpPr>
        <p:spPr>
          <a:xfrm>
            <a:off x="4686300" y="3086100"/>
            <a:ext cx="1524000" cy="228600"/>
          </a:xfrm>
          <a:prstGeom prst="rect">
            <a:avLst/>
          </a:prstGeom>
          <a:noFill/>
        </p:spPr>
        <p:txBody>
          <a:bodyPr wrap="square" lIns="0" rIns="0" tIns="0" bIns="0" anchor="ctr">
            <a:noAutofit/>
          </a:bodyPr>
          <a:lstStyle/>
          <a:p>
            <a:pPr algn="l"/>
            <a:r>
              <a:rPr sz="1100" b="1" i="0">
                <a:solidFill>
                  <a:srgbClr val="15201B"/>
                </a:solidFill>
                <a:latin typeface="DM Sans"/>
                <a:ea typeface="DM Sans"/>
                <a:cs typeface="DM Sans"/>
              </a:rPr>
              <a:t>Approved source</a:t>
            </a:r>
          </a:p>
        </p:txBody>
      </p:sp>
      <p:sp>
        <p:nvSpPr>
          <p:cNvPr id="45" name="Chip"/>
          <p:cNvSpPr/>
          <p:nvPr/>
        </p:nvSpPr>
        <p:spPr>
          <a:xfrm>
            <a:off x="6400800" y="3073400"/>
            <a:ext cx="1346200" cy="254000"/>
          </a:xfrm>
          <a:prstGeom prst="roundRect">
            <a:avLst>
              <a:gd name="adj" fmla="val 50000"/>
            </a:avLst>
          </a:prstGeom>
          <a:solidFill>
            <a:srgbClr val="E2F0E7"/>
          </a:solidFill>
          <a:ln w="9525">
            <a:solidFill>
              <a:srgbClr val="9CCBB2"/>
            </a:solidFill>
          </a:ln>
        </p:spPr>
        <p:txBody>
          <a:bodyPr rtlCol="0" anchor="ctr"/>
          <a:lstStyle/>
          <a:p>
            <a:pPr algn="ctr"/>
          </a:p>
        </p:txBody>
      </p:sp>
      <p:pic>
        <p:nvPicPr>
          <p:cNvPr id="46" name="Icon LuCircleCheck" descr="lu_LuCircleCheck_2E7A62.png"/>
          <p:cNvPicPr>
            <a:picLocks noChangeAspect="1"/>
          </p:cNvPicPr>
          <p:nvPr/>
        </p:nvPicPr>
        <p:blipFill>
          <a:blip r:embed="rId13"/>
          <a:stretch>
            <a:fillRect/>
          </a:stretch>
        </p:blipFill>
        <p:spPr>
          <a:xfrm>
            <a:off x="6477000" y="3130550"/>
            <a:ext cx="139700" cy="139700"/>
          </a:xfrm>
          <a:prstGeom prst="rect">
            <a:avLst/>
          </a:prstGeom>
        </p:spPr>
      </p:pic>
      <p:sp>
        <p:nvSpPr>
          <p:cNvPr id="47" name="TextBox 46"/>
          <p:cNvSpPr txBox="1"/>
          <p:nvPr/>
        </p:nvSpPr>
        <p:spPr>
          <a:xfrm>
            <a:off x="6654800" y="3073400"/>
            <a:ext cx="1117600" cy="254000"/>
          </a:xfrm>
          <a:prstGeom prst="rect">
            <a:avLst/>
          </a:prstGeom>
          <a:noFill/>
        </p:spPr>
        <p:txBody>
          <a:bodyPr wrap="square" lIns="0" rIns="0" tIns="0" bIns="0" anchor="ctr">
            <a:noAutofit/>
          </a:bodyPr>
          <a:lstStyle/>
          <a:p>
            <a:pPr algn="l"/>
            <a:r>
              <a:rPr sz="850" b="1" i="0">
                <a:solidFill>
                  <a:srgbClr val="2E7A62"/>
                </a:solidFill>
                <a:latin typeface="DM Sans"/>
                <a:ea typeface="DM Sans"/>
                <a:cs typeface="DM Sans"/>
              </a:rPr>
              <a:t>Teacher approved</a:t>
            </a:r>
          </a:p>
        </p:txBody>
      </p:sp>
      <p:sp>
        <p:nvSpPr>
          <p:cNvPr id="48" name="TextBox 47"/>
          <p:cNvSpPr txBox="1"/>
          <p:nvPr/>
        </p:nvSpPr>
        <p:spPr>
          <a:xfrm>
            <a:off x="4445000" y="3365500"/>
            <a:ext cx="3302000" cy="177800"/>
          </a:xfrm>
          <a:prstGeom prst="rect">
            <a:avLst/>
          </a:prstGeom>
          <a:noFill/>
        </p:spPr>
        <p:txBody>
          <a:bodyPr wrap="square" lIns="0" rIns="0" tIns="0" bIns="0" anchor="ctr">
            <a:noAutofit/>
          </a:bodyPr>
          <a:lstStyle/>
          <a:p>
            <a:pPr algn="l"/>
            <a:r>
              <a:rPr sz="850" b="0" i="0">
                <a:solidFill>
                  <a:srgbClr val="7D8783"/>
                </a:solidFill>
                <a:latin typeface="DM Sans"/>
                <a:ea typeface="DM Sans"/>
                <a:cs typeface="DM Sans"/>
              </a:rPr>
              <a:t>Peterson &amp; Davie, Computer Networks §1.5.1 · CC BY 4.0</a:t>
            </a:r>
          </a:p>
        </p:txBody>
      </p:sp>
      <p:sp>
        <p:nvSpPr>
          <p:cNvPr id="49" name="TextBox 48"/>
          <p:cNvSpPr txBox="1"/>
          <p:nvPr/>
        </p:nvSpPr>
        <p:spPr>
          <a:xfrm>
            <a:off x="4445000" y="3606800"/>
            <a:ext cx="1524000" cy="177800"/>
          </a:xfrm>
          <a:prstGeom prst="rect">
            <a:avLst/>
          </a:prstGeom>
          <a:noFill/>
        </p:spPr>
        <p:txBody>
          <a:bodyPr wrap="square" lIns="0" rIns="0" tIns="0" bIns="0" anchor="ctr">
            <a:noAutofit/>
          </a:bodyPr>
          <a:lstStyle/>
          <a:p>
            <a:pPr algn="l"/>
            <a:r>
              <a:rPr sz="900" b="1" i="0">
                <a:solidFill>
                  <a:srgbClr val="15201B"/>
                </a:solidFill>
                <a:latin typeface="DM Sans"/>
                <a:ea typeface="DM Sans"/>
                <a:cs typeface="DM Sans"/>
              </a:rPr>
              <a:t>Source passages</a:t>
            </a:r>
          </a:p>
        </p:txBody>
      </p:sp>
      <p:pic>
        <p:nvPicPr>
          <p:cNvPr id="50" name="Icon LuFileText" descr="lu_LuFileText_6E7A75.png"/>
          <p:cNvPicPr>
            <a:picLocks noChangeAspect="1"/>
          </p:cNvPicPr>
          <p:nvPr/>
        </p:nvPicPr>
        <p:blipFill>
          <a:blip r:embed="rId14"/>
          <a:stretch>
            <a:fillRect/>
          </a:stretch>
        </p:blipFill>
        <p:spPr>
          <a:xfrm>
            <a:off x="4445000" y="3898900"/>
            <a:ext cx="127000" cy="127000"/>
          </a:xfrm>
          <a:prstGeom prst="rect">
            <a:avLst/>
          </a:prstGeom>
        </p:spPr>
      </p:pic>
      <p:sp>
        <p:nvSpPr>
          <p:cNvPr id="51" name="TextBox 50"/>
          <p:cNvSpPr txBox="1"/>
          <p:nvPr/>
        </p:nvSpPr>
        <p:spPr>
          <a:xfrm>
            <a:off x="4622800" y="3835400"/>
            <a:ext cx="1358900" cy="279400"/>
          </a:xfrm>
          <a:prstGeom prst="rect">
            <a:avLst/>
          </a:prstGeom>
          <a:noFill/>
        </p:spPr>
        <p:txBody>
          <a:bodyPr wrap="square" lIns="0" rIns="0" tIns="0" bIns="0" anchor="ctr">
            <a:noAutofit/>
          </a:bodyPr>
          <a:lstStyle/>
          <a:p>
            <a:pPr algn="l">
              <a:lnSpc>
                <a:spcPct val="100000"/>
              </a:lnSpc>
            </a:pPr>
            <a:r>
              <a:rPr sz="800" b="0" i="0">
                <a:solidFill>
                  <a:srgbClr val="15201B"/>
                </a:solidFill>
                <a:latin typeface="DM Sans"/>
                <a:ea typeface="DM Sans"/>
                <a:cs typeface="DM Sans"/>
              </a:rPr>
              <a:t>P05 · Link and channel</a:t>
            </a:r>
            <a:br>
              <a:rPr sz="800"/>
            </a:br>
            <a:r>
              <a:rPr sz="800" b="0" i="0">
                <a:solidFill>
                  <a:srgbClr val="15201B"/>
                </a:solidFill>
                <a:latin typeface="DM Sans"/>
                <a:ea typeface="DM Sans"/>
                <a:cs typeface="DM Sans"/>
              </a:rPr>
              <a:t>bandwidth</a:t>
            </a:r>
          </a:p>
        </p:txBody>
      </p:sp>
      <p:pic>
        <p:nvPicPr>
          <p:cNvPr id="52" name="Icon LuFileText" descr="lu_LuFileText_6E7A75.png"/>
          <p:cNvPicPr>
            <a:picLocks noChangeAspect="1"/>
          </p:cNvPicPr>
          <p:nvPr/>
        </p:nvPicPr>
        <p:blipFill>
          <a:blip r:embed="rId14"/>
          <a:stretch>
            <a:fillRect/>
          </a:stretch>
        </p:blipFill>
        <p:spPr>
          <a:xfrm>
            <a:off x="4445000" y="4203700"/>
            <a:ext cx="127000" cy="127000"/>
          </a:xfrm>
          <a:prstGeom prst="rect">
            <a:avLst/>
          </a:prstGeom>
        </p:spPr>
      </p:pic>
      <p:sp>
        <p:nvSpPr>
          <p:cNvPr id="53" name="TextBox 52"/>
          <p:cNvSpPr txBox="1"/>
          <p:nvPr/>
        </p:nvSpPr>
        <p:spPr>
          <a:xfrm>
            <a:off x="4622800" y="4140200"/>
            <a:ext cx="1358900" cy="279400"/>
          </a:xfrm>
          <a:prstGeom prst="rect">
            <a:avLst/>
          </a:prstGeom>
          <a:noFill/>
        </p:spPr>
        <p:txBody>
          <a:bodyPr wrap="square" lIns="0" rIns="0" tIns="0" bIns="0" anchor="ctr">
            <a:noAutofit/>
          </a:bodyPr>
          <a:lstStyle/>
          <a:p>
            <a:pPr algn="l">
              <a:lnSpc>
                <a:spcPct val="100000"/>
              </a:lnSpc>
            </a:pPr>
            <a:r>
              <a:rPr sz="800" b="0" i="0">
                <a:solidFill>
                  <a:srgbClr val="15201B"/>
                </a:solidFill>
                <a:latin typeface="DM Sans"/>
                <a:ea typeface="DM Sans"/>
                <a:cs typeface="DM Sans"/>
              </a:rPr>
              <a:t>P07 · Propagation,</a:t>
            </a:r>
            <a:br>
              <a:rPr sz="800"/>
            </a:br>
            <a:r>
              <a:rPr sz="800" b="0" i="0">
                <a:solidFill>
                  <a:srgbClr val="15201B"/>
                </a:solidFill>
                <a:latin typeface="DM Sans"/>
                <a:ea typeface="DM Sans"/>
                <a:cs typeface="DM Sans"/>
              </a:rPr>
              <a:t>transmission and queuing</a:t>
            </a:r>
          </a:p>
        </p:txBody>
      </p:sp>
      <p:pic>
        <p:nvPicPr>
          <p:cNvPr id="54" name="Icon LuFileText" descr="lu_LuFileText_6E7A75.png"/>
          <p:cNvPicPr>
            <a:picLocks noChangeAspect="1"/>
          </p:cNvPicPr>
          <p:nvPr/>
        </p:nvPicPr>
        <p:blipFill>
          <a:blip r:embed="rId14"/>
          <a:stretch>
            <a:fillRect/>
          </a:stretch>
        </p:blipFill>
        <p:spPr>
          <a:xfrm>
            <a:off x="4445000" y="4508500"/>
            <a:ext cx="127000" cy="127000"/>
          </a:xfrm>
          <a:prstGeom prst="rect">
            <a:avLst/>
          </a:prstGeom>
        </p:spPr>
      </p:pic>
      <p:sp>
        <p:nvSpPr>
          <p:cNvPr id="55" name="TextBox 54"/>
          <p:cNvSpPr txBox="1"/>
          <p:nvPr/>
        </p:nvSpPr>
        <p:spPr>
          <a:xfrm>
            <a:off x="4622800" y="4445000"/>
            <a:ext cx="1358900" cy="279400"/>
          </a:xfrm>
          <a:prstGeom prst="rect">
            <a:avLst/>
          </a:prstGeom>
          <a:noFill/>
        </p:spPr>
        <p:txBody>
          <a:bodyPr wrap="square" lIns="0" rIns="0" tIns="0" bIns="0" anchor="ctr">
            <a:noAutofit/>
          </a:bodyPr>
          <a:lstStyle/>
          <a:p>
            <a:pPr algn="l">
              <a:lnSpc>
                <a:spcPct val="100000"/>
              </a:lnSpc>
            </a:pPr>
            <a:r>
              <a:rPr sz="800" b="0" i="0">
                <a:solidFill>
                  <a:srgbClr val="15201B"/>
                </a:solidFill>
                <a:latin typeface="DM Sans"/>
                <a:ea typeface="DM Sans"/>
                <a:cs typeface="DM Sans"/>
              </a:rPr>
              <a:t>P08 · Delay equations</a:t>
            </a:r>
            <a:br>
              <a:rPr sz="800"/>
            </a:br>
            <a:r>
              <a:rPr sz="800" b="0" i="0">
                <a:solidFill>
                  <a:srgbClr val="15201B"/>
                </a:solidFill>
                <a:latin typeface="DM Sans"/>
                <a:ea typeface="DM Sans"/>
                <a:cs typeface="DM Sans"/>
              </a:rPr>
              <a:t>and definitions</a:t>
            </a:r>
          </a:p>
        </p:txBody>
      </p:sp>
      <p:pic>
        <p:nvPicPr>
          <p:cNvPr id="56" name="Icon LuFileText" descr="lu_LuFileText_6E7A75.png"/>
          <p:cNvPicPr>
            <a:picLocks noChangeAspect="1"/>
          </p:cNvPicPr>
          <p:nvPr/>
        </p:nvPicPr>
        <p:blipFill>
          <a:blip r:embed="rId14"/>
          <a:stretch>
            <a:fillRect/>
          </a:stretch>
        </p:blipFill>
        <p:spPr>
          <a:xfrm>
            <a:off x="4445000" y="4813300"/>
            <a:ext cx="127000" cy="127000"/>
          </a:xfrm>
          <a:prstGeom prst="rect">
            <a:avLst/>
          </a:prstGeom>
        </p:spPr>
      </p:pic>
      <p:sp>
        <p:nvSpPr>
          <p:cNvPr id="57" name="TextBox 56"/>
          <p:cNvSpPr txBox="1"/>
          <p:nvPr/>
        </p:nvSpPr>
        <p:spPr>
          <a:xfrm>
            <a:off x="4622800" y="4749800"/>
            <a:ext cx="1358900" cy="279400"/>
          </a:xfrm>
          <a:prstGeom prst="rect">
            <a:avLst/>
          </a:prstGeom>
          <a:noFill/>
        </p:spPr>
        <p:txBody>
          <a:bodyPr wrap="square" lIns="0" rIns="0" tIns="0" bIns="0" anchor="ctr">
            <a:noAutofit/>
          </a:bodyPr>
          <a:lstStyle/>
          <a:p>
            <a:pPr algn="l">
              <a:lnSpc>
                <a:spcPct val="100000"/>
              </a:lnSpc>
            </a:pPr>
            <a:r>
              <a:rPr sz="800" b="0" i="0">
                <a:solidFill>
                  <a:srgbClr val="15201B"/>
                </a:solidFill>
                <a:latin typeface="DM Sans"/>
                <a:ea typeface="DM Sans"/>
                <a:cs typeface="DM Sans"/>
              </a:rPr>
              <a:t>P12 · Latency terminology</a:t>
            </a:r>
            <a:br>
              <a:rPr sz="800"/>
            </a:br>
            <a:r>
              <a:rPr sz="800" b="0" i="0">
                <a:solidFill>
                  <a:srgbClr val="15201B"/>
                </a:solidFill>
                <a:latin typeface="DM Sans"/>
                <a:ea typeface="DM Sans"/>
                <a:cs typeface="DM Sans"/>
              </a:rPr>
              <a:t>in context</a:t>
            </a:r>
          </a:p>
        </p:txBody>
      </p:sp>
      <p:sp>
        <p:nvSpPr>
          <p:cNvPr id="58" name="TextBox 57"/>
          <p:cNvSpPr txBox="1"/>
          <p:nvPr/>
        </p:nvSpPr>
        <p:spPr>
          <a:xfrm>
            <a:off x="6108700" y="3606800"/>
            <a:ext cx="1651000" cy="177800"/>
          </a:xfrm>
          <a:prstGeom prst="rect">
            <a:avLst/>
          </a:prstGeom>
          <a:noFill/>
        </p:spPr>
        <p:txBody>
          <a:bodyPr wrap="square" lIns="0" rIns="0" tIns="0" bIns="0" anchor="ctr">
            <a:noAutofit/>
          </a:bodyPr>
          <a:lstStyle/>
          <a:p>
            <a:pPr algn="l"/>
            <a:r>
              <a:rPr sz="900" b="1" i="0">
                <a:solidFill>
                  <a:srgbClr val="2E7A62"/>
                </a:solidFill>
                <a:latin typeface="DM Sans"/>
                <a:ea typeface="DM Sans"/>
                <a:cs typeface="DM Sans"/>
              </a:rPr>
              <a:t>P01 · source passage</a:t>
            </a:r>
          </a:p>
        </p:txBody>
      </p:sp>
      <p:sp>
        <p:nvSpPr>
          <p:cNvPr id="59" name="Passage"/>
          <p:cNvSpPr/>
          <p:nvPr/>
        </p:nvSpPr>
        <p:spPr>
          <a:xfrm>
            <a:off x="6083300" y="3822700"/>
            <a:ext cx="1689100" cy="1181100"/>
          </a:xfrm>
          <a:prstGeom prst="roundRect">
            <a:avLst>
              <a:gd name="adj" fmla="val 5376"/>
            </a:avLst>
          </a:prstGeom>
          <a:solidFill>
            <a:srgbClr val="F7F8F5"/>
          </a:solidFill>
          <a:ln>
            <a:noFill/>
          </a:ln>
        </p:spPr>
        <p:txBody>
          <a:bodyPr rtlCol="0" anchor="ctr"/>
          <a:lstStyle/>
          <a:p>
            <a:pPr algn="ctr"/>
          </a:p>
        </p:txBody>
      </p:sp>
      <p:sp>
        <p:nvSpPr>
          <p:cNvPr id="60" name="TextBox 59"/>
          <p:cNvSpPr txBox="1"/>
          <p:nvPr/>
        </p:nvSpPr>
        <p:spPr>
          <a:xfrm>
            <a:off x="6159500" y="3873500"/>
            <a:ext cx="1562100" cy="1079500"/>
          </a:xfrm>
          <a:prstGeom prst="rect">
            <a:avLst/>
          </a:prstGeom>
          <a:noFill/>
        </p:spPr>
        <p:txBody>
          <a:bodyPr wrap="square" lIns="0" rIns="0" tIns="0" bIns="0" anchor="t">
            <a:noAutofit/>
          </a:bodyPr>
          <a:lstStyle/>
          <a:p>
            <a:pPr algn="l">
              <a:lnSpc>
                <a:spcPct val="115000"/>
              </a:lnSpc>
            </a:pPr>
            <a:r>
              <a:rPr sz="850" b="0" i="0">
                <a:solidFill>
                  <a:srgbClr val="15201B"/>
                </a:solidFill>
                <a:latin typeface="Newsreader"/>
                <a:ea typeface="Newsreader"/>
                <a:cs typeface="Newsreader"/>
              </a:rPr>
              <a:t>Network performance is measured in two fundamental ways: bandwidth (also called throughput) and latency (also called delay)…</a:t>
            </a:r>
          </a:p>
        </p:txBody>
      </p:sp>
      <p:sp>
        <p:nvSpPr>
          <p:cNvPr id="61" name="TextBox 60"/>
          <p:cNvSpPr txBox="1"/>
          <p:nvPr/>
        </p:nvSpPr>
        <p:spPr>
          <a:xfrm>
            <a:off x="8407400" y="3073400"/>
            <a:ext cx="3175000" cy="215900"/>
          </a:xfrm>
          <a:prstGeom prst="rect">
            <a:avLst/>
          </a:prstGeom>
          <a:noFill/>
        </p:spPr>
        <p:txBody>
          <a:bodyPr wrap="square" lIns="0" rIns="0" tIns="0" bIns="0" anchor="ctr">
            <a:noAutofit/>
          </a:bodyPr>
          <a:lstStyle/>
          <a:p>
            <a:pPr algn="l"/>
            <a:r>
              <a:rPr sz="1100" b="1" i="0">
                <a:solidFill>
                  <a:srgbClr val="15201B"/>
                </a:solidFill>
                <a:latin typeface="DM Sans"/>
                <a:ea typeface="DM Sans"/>
                <a:cs typeface="DM Sans"/>
              </a:rPr>
              <a:t>From insights to action</a:t>
            </a:r>
          </a:p>
        </p:txBody>
      </p:sp>
      <p:sp>
        <p:nvSpPr>
          <p:cNvPr id="62" name="Icon circle"/>
          <p:cNvSpPr/>
          <p:nvPr/>
        </p:nvSpPr>
        <p:spPr>
          <a:xfrm>
            <a:off x="8407400" y="3365500"/>
            <a:ext cx="292100" cy="292100"/>
          </a:xfrm>
          <a:prstGeom prst="ellipse">
            <a:avLst/>
          </a:prstGeom>
          <a:solidFill>
            <a:srgbClr val="E3EFE8"/>
          </a:solidFill>
          <a:ln>
            <a:noFill/>
          </a:ln>
        </p:spPr>
        <p:txBody>
          <a:bodyPr rtlCol="0" anchor="ctr"/>
          <a:lstStyle/>
          <a:p>
            <a:pPr algn="ctr"/>
          </a:p>
        </p:txBody>
      </p:sp>
      <p:pic>
        <p:nvPicPr>
          <p:cNvPr id="63" name="Icon LuChartColumn" descr="lu_LuChartColumn_1B4236.png"/>
          <p:cNvPicPr>
            <a:picLocks noChangeAspect="1"/>
          </p:cNvPicPr>
          <p:nvPr/>
        </p:nvPicPr>
        <p:blipFill>
          <a:blip r:embed="rId15"/>
          <a:stretch>
            <a:fillRect/>
          </a:stretch>
        </p:blipFill>
        <p:spPr>
          <a:xfrm>
            <a:off x="8480425" y="3438525"/>
            <a:ext cx="146050" cy="146050"/>
          </a:xfrm>
          <a:prstGeom prst="rect">
            <a:avLst/>
          </a:prstGeom>
        </p:spPr>
      </p:pic>
      <p:sp>
        <p:nvSpPr>
          <p:cNvPr id="64" name="TextBox 63"/>
          <p:cNvSpPr txBox="1"/>
          <p:nvPr/>
        </p:nvSpPr>
        <p:spPr>
          <a:xfrm>
            <a:off x="8801100" y="3340100"/>
            <a:ext cx="2921000" cy="177800"/>
          </a:xfrm>
          <a:prstGeom prst="rect">
            <a:avLst/>
          </a:prstGeom>
          <a:noFill/>
        </p:spPr>
        <p:txBody>
          <a:bodyPr wrap="square" lIns="0" rIns="0" tIns="0" bIns="0" anchor="t">
            <a:noAutofit/>
          </a:bodyPr>
          <a:lstStyle/>
          <a:p>
            <a:pPr algn="l"/>
            <a:r>
              <a:rPr sz="950" b="1" i="0">
                <a:solidFill>
                  <a:srgbClr val="15201B"/>
                </a:solidFill>
                <a:latin typeface="DM Sans"/>
                <a:ea typeface="DM Sans"/>
                <a:cs typeface="DM Sans"/>
              </a:rPr>
              <a:t>Spot possible misconceptions</a:t>
            </a:r>
          </a:p>
        </p:txBody>
      </p:sp>
      <p:sp>
        <p:nvSpPr>
          <p:cNvPr id="65" name="TextBox 64"/>
          <p:cNvSpPr txBox="1"/>
          <p:nvPr/>
        </p:nvSpPr>
        <p:spPr>
          <a:xfrm>
            <a:off x="8801100" y="3505200"/>
            <a:ext cx="2921000" cy="165100"/>
          </a:xfrm>
          <a:prstGeom prst="rect">
            <a:avLst/>
          </a:prstGeom>
          <a:noFill/>
        </p:spPr>
        <p:txBody>
          <a:bodyPr wrap="square" lIns="0" rIns="0" tIns="0" bIns="0" anchor="t">
            <a:noAutofit/>
          </a:bodyPr>
          <a:lstStyle/>
          <a:p>
            <a:pPr algn="l"/>
            <a:r>
              <a:rPr sz="850" b="0" i="0">
                <a:solidFill>
                  <a:srgbClr val="5B6561"/>
                </a:solidFill>
                <a:latin typeface="DM Sans"/>
                <a:ea typeface="DM Sans"/>
                <a:cs typeface="DM Sans"/>
              </a:rPr>
              <a:t>Backed by supporting and contrary evidence</a:t>
            </a:r>
          </a:p>
        </p:txBody>
      </p:sp>
      <p:cxnSp>
        <p:nvCxnSpPr>
          <p:cNvPr id="66" name="Connector 65"/>
          <p:cNvCxnSpPr/>
          <p:nvPr/>
        </p:nvCxnSpPr>
        <p:spPr>
          <a:xfrm>
            <a:off x="8553450" y="3670300"/>
            <a:ext cx="0" cy="101600"/>
          </a:xfrm>
          <a:prstGeom prst="line">
            <a:avLst/>
          </a:prstGeom>
          <a:ln w="19050">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Icon circle"/>
          <p:cNvSpPr/>
          <p:nvPr/>
        </p:nvSpPr>
        <p:spPr>
          <a:xfrm>
            <a:off x="8407400" y="3784600"/>
            <a:ext cx="292100" cy="292100"/>
          </a:xfrm>
          <a:prstGeom prst="ellipse">
            <a:avLst/>
          </a:prstGeom>
          <a:solidFill>
            <a:srgbClr val="E3EFE8"/>
          </a:solidFill>
          <a:ln>
            <a:noFill/>
          </a:ln>
        </p:spPr>
        <p:txBody>
          <a:bodyPr rtlCol="0" anchor="ctr"/>
          <a:lstStyle/>
          <a:p>
            <a:pPr algn="ctr"/>
          </a:p>
        </p:txBody>
      </p:sp>
      <p:pic>
        <p:nvPicPr>
          <p:cNvPr id="68" name="Icon LuFileText" descr="lu_LuFileText_1B4236.png"/>
          <p:cNvPicPr>
            <a:picLocks noChangeAspect="1"/>
          </p:cNvPicPr>
          <p:nvPr/>
        </p:nvPicPr>
        <p:blipFill>
          <a:blip r:embed="rId16"/>
          <a:stretch>
            <a:fillRect/>
          </a:stretch>
        </p:blipFill>
        <p:spPr>
          <a:xfrm>
            <a:off x="8480425" y="3857625"/>
            <a:ext cx="146050" cy="146050"/>
          </a:xfrm>
          <a:prstGeom prst="rect">
            <a:avLst/>
          </a:prstGeom>
        </p:spPr>
      </p:pic>
      <p:sp>
        <p:nvSpPr>
          <p:cNvPr id="69" name="TextBox 68"/>
          <p:cNvSpPr txBox="1"/>
          <p:nvPr/>
        </p:nvSpPr>
        <p:spPr>
          <a:xfrm>
            <a:off x="8801100" y="3759200"/>
            <a:ext cx="2921000" cy="177800"/>
          </a:xfrm>
          <a:prstGeom prst="rect">
            <a:avLst/>
          </a:prstGeom>
          <a:noFill/>
        </p:spPr>
        <p:txBody>
          <a:bodyPr wrap="square" lIns="0" rIns="0" tIns="0" bIns="0" anchor="t">
            <a:noAutofit/>
          </a:bodyPr>
          <a:lstStyle/>
          <a:p>
            <a:pPr algn="l"/>
            <a:r>
              <a:rPr sz="950" b="1" i="0">
                <a:solidFill>
                  <a:srgbClr val="15201B"/>
                </a:solidFill>
                <a:latin typeface="DM Sans"/>
                <a:ea typeface="DM Sans"/>
                <a:cs typeface="DM Sans"/>
              </a:rPr>
              <a:t>Draft targeted practice</a:t>
            </a:r>
          </a:p>
        </p:txBody>
      </p:sp>
      <p:sp>
        <p:nvSpPr>
          <p:cNvPr id="70" name="TextBox 69"/>
          <p:cNvSpPr txBox="1"/>
          <p:nvPr/>
        </p:nvSpPr>
        <p:spPr>
          <a:xfrm>
            <a:off x="8801100" y="3924300"/>
            <a:ext cx="2921000" cy="165100"/>
          </a:xfrm>
          <a:prstGeom prst="rect">
            <a:avLst/>
          </a:prstGeom>
          <a:noFill/>
        </p:spPr>
        <p:txBody>
          <a:bodyPr wrap="square" lIns="0" rIns="0" tIns="0" bIns="0" anchor="t">
            <a:noAutofit/>
          </a:bodyPr>
          <a:lstStyle/>
          <a:p>
            <a:pPr algn="l"/>
            <a:r>
              <a:rPr sz="850" b="0" i="0">
                <a:solidFill>
                  <a:srgbClr val="5B6561"/>
                </a:solidFill>
                <a:latin typeface="DM Sans"/>
                <a:ea typeface="DM Sans"/>
                <a:cs typeface="DM Sans"/>
              </a:rPr>
              <a:t>AI drafts a private review activity</a:t>
            </a:r>
          </a:p>
        </p:txBody>
      </p:sp>
      <p:cxnSp>
        <p:nvCxnSpPr>
          <p:cNvPr id="71" name="Connector 70"/>
          <p:cNvCxnSpPr/>
          <p:nvPr/>
        </p:nvCxnSpPr>
        <p:spPr>
          <a:xfrm>
            <a:off x="8553450" y="4089400"/>
            <a:ext cx="0" cy="101600"/>
          </a:xfrm>
          <a:prstGeom prst="line">
            <a:avLst/>
          </a:prstGeom>
          <a:ln w="19050">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Icon circle"/>
          <p:cNvSpPr/>
          <p:nvPr/>
        </p:nvSpPr>
        <p:spPr>
          <a:xfrm>
            <a:off x="8407400" y="4203700"/>
            <a:ext cx="292100" cy="292100"/>
          </a:xfrm>
          <a:prstGeom prst="ellipse">
            <a:avLst/>
          </a:prstGeom>
          <a:solidFill>
            <a:srgbClr val="E3EFE8"/>
          </a:solidFill>
          <a:ln>
            <a:noFill/>
          </a:ln>
        </p:spPr>
        <p:txBody>
          <a:bodyPr rtlCol="0" anchor="ctr"/>
          <a:lstStyle/>
          <a:p>
            <a:pPr algn="ctr"/>
          </a:p>
        </p:txBody>
      </p:sp>
      <p:pic>
        <p:nvPicPr>
          <p:cNvPr id="73" name="Icon LuUserCheck" descr="lu_LuUserCheck_1B4236.png"/>
          <p:cNvPicPr>
            <a:picLocks noChangeAspect="1"/>
          </p:cNvPicPr>
          <p:nvPr/>
        </p:nvPicPr>
        <p:blipFill>
          <a:blip r:embed="rId17"/>
          <a:stretch>
            <a:fillRect/>
          </a:stretch>
        </p:blipFill>
        <p:spPr>
          <a:xfrm>
            <a:off x="8480425" y="4276725"/>
            <a:ext cx="146050" cy="146050"/>
          </a:xfrm>
          <a:prstGeom prst="rect">
            <a:avLst/>
          </a:prstGeom>
        </p:spPr>
      </p:pic>
      <p:sp>
        <p:nvSpPr>
          <p:cNvPr id="74" name="TextBox 73"/>
          <p:cNvSpPr txBox="1"/>
          <p:nvPr/>
        </p:nvSpPr>
        <p:spPr>
          <a:xfrm>
            <a:off x="8801100" y="4178300"/>
            <a:ext cx="2921000" cy="177800"/>
          </a:xfrm>
          <a:prstGeom prst="rect">
            <a:avLst/>
          </a:prstGeom>
          <a:noFill/>
        </p:spPr>
        <p:txBody>
          <a:bodyPr wrap="square" lIns="0" rIns="0" tIns="0" bIns="0" anchor="t">
            <a:noAutofit/>
          </a:bodyPr>
          <a:lstStyle/>
          <a:p>
            <a:pPr algn="l"/>
            <a:r>
              <a:rPr sz="950" b="1" i="0">
                <a:solidFill>
                  <a:srgbClr val="15201B"/>
                </a:solidFill>
                <a:latin typeface="DM Sans"/>
                <a:ea typeface="DM Sans"/>
                <a:cs typeface="DM Sans"/>
              </a:rPr>
              <a:t>Teacher review and approval</a:t>
            </a:r>
          </a:p>
        </p:txBody>
      </p:sp>
      <p:sp>
        <p:nvSpPr>
          <p:cNvPr id="75" name="TextBox 74"/>
          <p:cNvSpPr txBox="1"/>
          <p:nvPr/>
        </p:nvSpPr>
        <p:spPr>
          <a:xfrm>
            <a:off x="8801100" y="4343400"/>
            <a:ext cx="2921000" cy="165100"/>
          </a:xfrm>
          <a:prstGeom prst="rect">
            <a:avLst/>
          </a:prstGeom>
          <a:noFill/>
        </p:spPr>
        <p:txBody>
          <a:bodyPr wrap="square" lIns="0" rIns="0" tIns="0" bIns="0" anchor="t">
            <a:noAutofit/>
          </a:bodyPr>
          <a:lstStyle/>
          <a:p>
            <a:pPr algn="l"/>
            <a:r>
              <a:rPr sz="850" b="0" i="0">
                <a:solidFill>
                  <a:srgbClr val="5B6561"/>
                </a:solidFill>
                <a:latin typeface="DM Sans"/>
                <a:ea typeface="DM Sans"/>
                <a:cs typeface="DM Sans"/>
              </a:rPr>
              <a:t>Choose what to assign to students</a:t>
            </a:r>
          </a:p>
        </p:txBody>
      </p:sp>
      <p:cxnSp>
        <p:nvCxnSpPr>
          <p:cNvPr id="76" name="Connector 75"/>
          <p:cNvCxnSpPr/>
          <p:nvPr/>
        </p:nvCxnSpPr>
        <p:spPr>
          <a:xfrm>
            <a:off x="8553450" y="4508500"/>
            <a:ext cx="0" cy="101600"/>
          </a:xfrm>
          <a:prstGeom prst="line">
            <a:avLst/>
          </a:prstGeom>
          <a:ln w="19050">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Icon circle"/>
          <p:cNvSpPr/>
          <p:nvPr/>
        </p:nvSpPr>
        <p:spPr>
          <a:xfrm>
            <a:off x="8407400" y="4622800"/>
            <a:ext cx="292100" cy="292100"/>
          </a:xfrm>
          <a:prstGeom prst="ellipse">
            <a:avLst/>
          </a:prstGeom>
          <a:solidFill>
            <a:srgbClr val="E3EFE8"/>
          </a:solidFill>
          <a:ln>
            <a:noFill/>
          </a:ln>
        </p:spPr>
        <p:txBody>
          <a:bodyPr rtlCol="0" anchor="ctr"/>
          <a:lstStyle/>
          <a:p>
            <a:pPr algn="ctr"/>
          </a:p>
        </p:txBody>
      </p:sp>
      <p:pic>
        <p:nvPicPr>
          <p:cNvPr id="78" name="Icon LuUsers" descr="lu_LuUsers_1B4236.png"/>
          <p:cNvPicPr>
            <a:picLocks noChangeAspect="1"/>
          </p:cNvPicPr>
          <p:nvPr/>
        </p:nvPicPr>
        <p:blipFill>
          <a:blip r:embed="rId18"/>
          <a:stretch>
            <a:fillRect/>
          </a:stretch>
        </p:blipFill>
        <p:spPr>
          <a:xfrm>
            <a:off x="8480425" y="4695825"/>
            <a:ext cx="146050" cy="146050"/>
          </a:xfrm>
          <a:prstGeom prst="rect">
            <a:avLst/>
          </a:prstGeom>
        </p:spPr>
      </p:pic>
      <p:sp>
        <p:nvSpPr>
          <p:cNvPr id="79" name="TextBox 78"/>
          <p:cNvSpPr txBox="1"/>
          <p:nvPr/>
        </p:nvSpPr>
        <p:spPr>
          <a:xfrm>
            <a:off x="8801100" y="4597400"/>
            <a:ext cx="2921000" cy="177800"/>
          </a:xfrm>
          <a:prstGeom prst="rect">
            <a:avLst/>
          </a:prstGeom>
          <a:noFill/>
        </p:spPr>
        <p:txBody>
          <a:bodyPr wrap="square" lIns="0" rIns="0" tIns="0" bIns="0" anchor="t">
            <a:noAutofit/>
          </a:bodyPr>
          <a:lstStyle/>
          <a:p>
            <a:pPr algn="l"/>
            <a:r>
              <a:rPr sz="950" b="1" i="0">
                <a:solidFill>
                  <a:srgbClr val="15201B"/>
                </a:solidFill>
                <a:latin typeface="DM Sans"/>
                <a:ea typeface="DM Sans"/>
                <a:cs typeface="DM Sans"/>
              </a:rPr>
              <a:t>Deliver and read follow-ups</a:t>
            </a:r>
          </a:p>
        </p:txBody>
      </p:sp>
      <p:sp>
        <p:nvSpPr>
          <p:cNvPr id="80" name="TextBox 79"/>
          <p:cNvSpPr txBox="1"/>
          <p:nvPr/>
        </p:nvSpPr>
        <p:spPr>
          <a:xfrm>
            <a:off x="8801100" y="4762500"/>
            <a:ext cx="2921000" cy="165100"/>
          </a:xfrm>
          <a:prstGeom prst="rect">
            <a:avLst/>
          </a:prstGeom>
          <a:noFill/>
        </p:spPr>
        <p:txBody>
          <a:bodyPr wrap="square" lIns="0" rIns="0" tIns="0" bIns="0" anchor="t">
            <a:noAutofit/>
          </a:bodyPr>
          <a:lstStyle/>
          <a:p>
            <a:pPr algn="l"/>
            <a:r>
              <a:rPr sz="850" b="0" i="0">
                <a:solidFill>
                  <a:srgbClr val="5B6561"/>
                </a:solidFill>
                <a:latin typeface="DM Sans"/>
                <a:ea typeface="DM Sans"/>
                <a:cs typeface="DM Sans"/>
              </a:rPr>
              <a:t>Later work links back to the intervention</a:t>
            </a:r>
          </a:p>
        </p:txBody>
      </p:sp>
      <p:cxnSp>
        <p:nvCxnSpPr>
          <p:cNvPr id="81" name="Connector 80"/>
          <p:cNvCxnSpPr/>
          <p:nvPr/>
        </p:nvCxnSpPr>
        <p:spPr>
          <a:xfrm>
            <a:off x="3987800" y="4025900"/>
            <a:ext cx="2540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950200" y="4025900"/>
            <a:ext cx="254000" cy="0"/>
          </a:xfrm>
          <a:prstGeom prst="line">
            <a:avLst/>
          </a:prstGeom>
          <a:ln w="28575">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058400" y="5930900"/>
            <a:ext cx="0" cy="203200"/>
          </a:xfrm>
          <a:prstGeom prst="line">
            <a:avLst/>
          </a:prstGeom>
          <a:ln w="23812">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2133600" y="6134100"/>
            <a:ext cx="7924800" cy="0"/>
          </a:xfrm>
          <a:prstGeom prst="line">
            <a:avLst/>
          </a:prstGeom>
          <a:ln w="23812">
            <a:solidFill>
              <a:srgbClr val="1B423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133600" y="5930900"/>
            <a:ext cx="0" cy="203200"/>
          </a:xfrm>
          <a:prstGeom prst="line">
            <a:avLst/>
          </a:prstGeom>
          <a:ln w="23812">
            <a:solidFill>
              <a:srgbClr val="1B423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3556000" y="6197600"/>
            <a:ext cx="5080000" cy="203200"/>
          </a:xfrm>
          <a:prstGeom prst="rect">
            <a:avLst/>
          </a:prstGeom>
          <a:noFill/>
        </p:spPr>
        <p:txBody>
          <a:bodyPr wrap="square" lIns="0" rIns="0" tIns="0" bIns="0" anchor="t">
            <a:noAutofit/>
          </a:bodyPr>
          <a:lstStyle/>
          <a:p>
            <a:pPr algn="ctr"/>
            <a:r>
              <a:rPr sz="1100" b="0" i="0">
                <a:solidFill>
                  <a:srgbClr val="2E7A62"/>
                </a:solidFill>
                <a:latin typeface="DM Sans"/>
                <a:ea typeface="DM Sans"/>
                <a:cs typeface="DM Sans"/>
              </a:rPr>
              <a:t>The cycle repeats with each new round of student work.</a:t>
            </a:r>
          </a:p>
        </p:txBody>
      </p:sp>
      <p:sp>
        <p:nvSpPr>
          <p:cNvPr id="87"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10</a:t>
            </a:r>
          </a:p>
        </p:txBody>
      </p:sp>
    </p:spTree>
    <p:extLst>
      <p:ext uri="{BB962C8B-B14F-4D97-AF65-F5344CB8AC3E}">
        <p14:creationId xmlns:p14="http://schemas.microsoft.com/office/powerpoint/2010/main" val="3288989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Built for responsible and trustworthy use</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RESPONSIBLE AI</a:t>
            </a:r>
          </a:p>
        </p:txBody>
      </p:sp>
      <p:sp>
        <p:nvSpPr>
          <p:cNvPr id="5" name="Subtitle"/>
          <p:cNvSpPr txBox="1"/>
          <p:nvPr/>
        </p:nvSpPr>
        <p:spPr>
          <a:xfrm>
            <a:off x="558800" y="1219200"/>
            <a:ext cx="11049000" cy="292100"/>
          </a:xfrm>
          <a:prstGeom prst="rect">
            <a:avLst/>
          </a:prstGeom>
          <a:noFill/>
        </p:spPr>
        <p:txBody>
          <a:bodyPr wrap="square" lIns="0" rIns="0" tIns="0" bIns="0" anchor="t">
            <a:noAutofit/>
          </a:bodyPr>
          <a:lstStyle/>
          <a:p>
            <a:pPr algn="l"/>
            <a:r>
              <a:rPr sz="1500" b="0" i="0">
                <a:solidFill>
                  <a:srgbClr val="7D8783"/>
                </a:solidFill>
                <a:latin typeface="DM Sans"/>
                <a:ea typeface="DM Sans"/>
                <a:cs typeface="DM Sans"/>
              </a:rPr>
              <a:t>We design with guardrails, test our engineering, and are transparent about what’s next.</a:t>
            </a:r>
          </a:p>
        </p:txBody>
      </p:sp>
      <p:sp>
        <p:nvSpPr>
          <p:cNvPr id="6" name="Card"/>
          <p:cNvSpPr/>
          <p:nvPr/>
        </p:nvSpPr>
        <p:spPr>
          <a:xfrm>
            <a:off x="374650" y="1778000"/>
            <a:ext cx="3708400" cy="3632200"/>
          </a:xfrm>
          <a:prstGeom prst="roundRect">
            <a:avLst>
              <a:gd name="adj" fmla="val 4195"/>
            </a:avLst>
          </a:prstGeom>
          <a:solidFill>
            <a:srgbClr val="FAF8F3"/>
          </a:solidFill>
          <a:ln>
            <a:noFill/>
          </a:ln>
          <a:effectLst>
            <a:outerShdw blurRad="279400" dist="50800" dir="5400000" algn="t" rotWithShape="0">
              <a:srgbClr val="1B3A30">
                <a:alpha val="9000"/>
              </a:srgbClr>
            </a:outerShdw>
          </a:effectLst>
        </p:spPr>
        <p:txBody>
          <a:bodyPr rtlCol="0" anchor="ctr"/>
          <a:lstStyle/>
          <a:p>
            <a:pPr algn="ctr"/>
          </a:p>
        </p:txBody>
      </p:sp>
      <p:sp>
        <p:nvSpPr>
          <p:cNvPr id="7" name="Icon circle"/>
          <p:cNvSpPr/>
          <p:nvPr/>
        </p:nvSpPr>
        <p:spPr>
          <a:xfrm>
            <a:off x="603250" y="2006600"/>
            <a:ext cx="749300" cy="749300"/>
          </a:xfrm>
          <a:prstGeom prst="ellipse">
            <a:avLst/>
          </a:prstGeom>
          <a:solidFill>
            <a:srgbClr val="E1EEE6"/>
          </a:solidFill>
          <a:ln>
            <a:noFill/>
          </a:ln>
        </p:spPr>
        <p:txBody>
          <a:bodyPr rtlCol="0" anchor="ctr"/>
          <a:lstStyle/>
          <a:p>
            <a:pPr algn="ctr"/>
          </a:p>
        </p:txBody>
      </p:sp>
      <p:pic>
        <p:nvPicPr>
          <p:cNvPr id="8" name="Icon LuShieldCheck" descr="lu_LuShieldCheck_2E7A62.png"/>
          <p:cNvPicPr>
            <a:picLocks noChangeAspect="1"/>
          </p:cNvPicPr>
          <p:nvPr/>
        </p:nvPicPr>
        <p:blipFill>
          <a:blip r:embed="rId4"/>
          <a:stretch>
            <a:fillRect/>
          </a:stretch>
        </p:blipFill>
        <p:spPr>
          <a:xfrm>
            <a:off x="805561" y="2208911"/>
            <a:ext cx="344678" cy="344678"/>
          </a:xfrm>
          <a:prstGeom prst="rect">
            <a:avLst/>
          </a:prstGeom>
        </p:spPr>
      </p:pic>
      <p:sp>
        <p:nvSpPr>
          <p:cNvPr id="9" name="TextBox 8"/>
          <p:cNvSpPr txBox="1"/>
          <p:nvPr/>
        </p:nvSpPr>
        <p:spPr>
          <a:xfrm>
            <a:off x="1517650" y="2057400"/>
            <a:ext cx="2476500" cy="3175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Built-in safeguards</a:t>
            </a:r>
          </a:p>
        </p:txBody>
      </p:sp>
      <p:sp>
        <p:nvSpPr>
          <p:cNvPr id="10" name="TextBox 9"/>
          <p:cNvSpPr txBox="1"/>
          <p:nvPr/>
        </p:nvSpPr>
        <p:spPr>
          <a:xfrm>
            <a:off x="1517650" y="2374900"/>
            <a:ext cx="2476500" cy="508000"/>
          </a:xfrm>
          <a:prstGeom prst="rect">
            <a:avLst/>
          </a:prstGeom>
          <a:noFill/>
        </p:spPr>
        <p:txBody>
          <a:bodyPr wrap="square" lIns="0" rIns="0" tIns="0" bIns="0" anchor="t">
            <a:noAutofit/>
          </a:bodyPr>
          <a:lstStyle/>
          <a:p>
            <a:pPr algn="l">
              <a:lnSpc>
                <a:spcPct val="112000"/>
              </a:lnSpc>
            </a:pPr>
            <a:r>
              <a:rPr sz="1200" b="0" i="0">
                <a:solidFill>
                  <a:srgbClr val="5B6561"/>
                </a:solidFill>
                <a:latin typeface="DM Sans"/>
                <a:ea typeface="DM Sans"/>
                <a:cs typeface="DM Sans"/>
              </a:rPr>
              <a:t>The server checks every AI</a:t>
            </a:r>
            <a:br>
              <a:rPr sz="1200"/>
            </a:br>
            <a:r>
              <a:rPr sz="1200" b="0" i="0">
                <a:solidFill>
                  <a:srgbClr val="5B6561"/>
                </a:solidFill>
                <a:latin typeface="DM Sans"/>
                <a:ea typeface="DM Sans"/>
                <a:cs typeface="DM Sans"/>
              </a:rPr>
              <a:t>action before it runs.</a:t>
            </a:r>
          </a:p>
        </p:txBody>
      </p:sp>
      <p:sp>
        <p:nvSpPr>
          <p:cNvPr id="11" name="Dot"/>
          <p:cNvSpPr/>
          <p:nvPr/>
        </p:nvSpPr>
        <p:spPr>
          <a:xfrm>
            <a:off x="704850" y="3308350"/>
            <a:ext cx="114300" cy="114300"/>
          </a:xfrm>
          <a:prstGeom prst="ellipse">
            <a:avLst/>
          </a:prstGeom>
          <a:solidFill>
            <a:srgbClr val="9BCAB2"/>
          </a:solidFill>
          <a:ln>
            <a:noFill/>
          </a:ln>
        </p:spPr>
        <p:txBody>
          <a:bodyPr rtlCol="0" anchor="ctr"/>
          <a:lstStyle/>
          <a:p>
            <a:pPr algn="ctr"/>
          </a:p>
        </p:txBody>
      </p:sp>
      <p:sp>
        <p:nvSpPr>
          <p:cNvPr id="12" name="TextBox 11"/>
          <p:cNvSpPr txBox="1"/>
          <p:nvPr/>
        </p:nvSpPr>
        <p:spPr>
          <a:xfrm>
            <a:off x="971550" y="32258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Only authorized tools</a:t>
            </a:r>
            <a:r>
              <a:rPr sz="1300" b="0" i="0">
                <a:solidFill>
                  <a:srgbClr val="5B6561"/>
                </a:solidFill>
                <a:latin typeface="DM Sans"/>
                <a:ea typeface="DM Sans"/>
                <a:cs typeface="DM Sans"/>
              </a:rPr>
              <a:t> can be executed.</a:t>
            </a:r>
          </a:p>
        </p:txBody>
      </p:sp>
      <p:sp>
        <p:nvSpPr>
          <p:cNvPr id="13" name="Dot"/>
          <p:cNvSpPr/>
          <p:nvPr/>
        </p:nvSpPr>
        <p:spPr>
          <a:xfrm>
            <a:off x="704850" y="3981450"/>
            <a:ext cx="114300" cy="114300"/>
          </a:xfrm>
          <a:prstGeom prst="ellipse">
            <a:avLst/>
          </a:prstGeom>
          <a:solidFill>
            <a:srgbClr val="9BCAB2"/>
          </a:solidFill>
          <a:ln>
            <a:noFill/>
          </a:ln>
        </p:spPr>
        <p:txBody>
          <a:bodyPr rtlCol="0" anchor="ctr"/>
          <a:lstStyle/>
          <a:p>
            <a:pPr algn="ctr"/>
          </a:p>
        </p:txBody>
      </p:sp>
      <p:sp>
        <p:nvSpPr>
          <p:cNvPr id="14" name="TextBox 13"/>
          <p:cNvSpPr txBox="1"/>
          <p:nvPr/>
        </p:nvSpPr>
        <p:spPr>
          <a:xfrm>
            <a:off x="971550" y="38989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Teachers approve</a:t>
            </a:r>
            <a:r>
              <a:rPr sz="1300" b="0" i="0">
                <a:solidFill>
                  <a:srgbClr val="5B6561"/>
                </a:solidFill>
                <a:latin typeface="DM Sans"/>
                <a:ea typeface="DM Sans"/>
                <a:cs typeface="DM Sans"/>
              </a:rPr>
              <a:t> interventions before students see them.</a:t>
            </a:r>
          </a:p>
        </p:txBody>
      </p:sp>
      <p:sp>
        <p:nvSpPr>
          <p:cNvPr id="15" name="Dot"/>
          <p:cNvSpPr/>
          <p:nvPr/>
        </p:nvSpPr>
        <p:spPr>
          <a:xfrm>
            <a:off x="704850" y="4654550"/>
            <a:ext cx="114300" cy="114300"/>
          </a:xfrm>
          <a:prstGeom prst="ellipse">
            <a:avLst/>
          </a:prstGeom>
          <a:solidFill>
            <a:srgbClr val="9BCAB2"/>
          </a:solidFill>
          <a:ln>
            <a:noFill/>
          </a:ln>
        </p:spPr>
        <p:txBody>
          <a:bodyPr rtlCol="0" anchor="ctr"/>
          <a:lstStyle/>
          <a:p>
            <a:pPr algn="ctr"/>
          </a:p>
        </p:txBody>
      </p:sp>
      <p:sp>
        <p:nvSpPr>
          <p:cNvPr id="16" name="TextBox 15"/>
          <p:cNvSpPr txBox="1"/>
          <p:nvPr/>
        </p:nvSpPr>
        <p:spPr>
          <a:xfrm>
            <a:off x="971550" y="45720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Uncertain evidence</a:t>
            </a:r>
            <a:r>
              <a:rPr sz="1300" b="0" i="0">
                <a:solidFill>
                  <a:srgbClr val="5B6561"/>
                </a:solidFill>
                <a:latin typeface="DM Sans"/>
                <a:ea typeface="DM Sans"/>
                <a:cs typeface="DM Sans"/>
              </a:rPr>
              <a:t> is never scored as wrong.</a:t>
            </a:r>
          </a:p>
        </p:txBody>
      </p:sp>
      <p:sp>
        <p:nvSpPr>
          <p:cNvPr id="17" name="Card"/>
          <p:cNvSpPr/>
          <p:nvPr/>
        </p:nvSpPr>
        <p:spPr>
          <a:xfrm>
            <a:off x="4222750" y="1778000"/>
            <a:ext cx="3708400" cy="3632200"/>
          </a:xfrm>
          <a:prstGeom prst="roundRect">
            <a:avLst>
              <a:gd name="adj" fmla="val 4195"/>
            </a:avLst>
          </a:prstGeom>
          <a:solidFill>
            <a:srgbClr val="E8F1EA"/>
          </a:solidFill>
          <a:ln>
            <a:noFill/>
          </a:ln>
          <a:effectLst>
            <a:outerShdw blurRad="279400" dist="50800" dir="5400000" algn="t" rotWithShape="0">
              <a:srgbClr val="1B3A30">
                <a:alpha val="9000"/>
              </a:srgbClr>
            </a:outerShdw>
          </a:effectLst>
        </p:spPr>
        <p:txBody>
          <a:bodyPr rtlCol="0" anchor="ctr"/>
          <a:lstStyle/>
          <a:p>
            <a:pPr algn="ctr"/>
          </a:p>
        </p:txBody>
      </p:sp>
      <p:sp>
        <p:nvSpPr>
          <p:cNvPr id="18" name="Icon circle"/>
          <p:cNvSpPr/>
          <p:nvPr/>
        </p:nvSpPr>
        <p:spPr>
          <a:xfrm>
            <a:off x="4451350" y="2006600"/>
            <a:ext cx="749300" cy="749300"/>
          </a:xfrm>
          <a:prstGeom prst="ellipse">
            <a:avLst/>
          </a:prstGeom>
          <a:solidFill>
            <a:srgbClr val="D3E6DA"/>
          </a:solidFill>
          <a:ln>
            <a:noFill/>
          </a:ln>
        </p:spPr>
        <p:txBody>
          <a:bodyPr rtlCol="0" anchor="ctr"/>
          <a:lstStyle/>
          <a:p>
            <a:pPr algn="ctr"/>
          </a:p>
        </p:txBody>
      </p:sp>
      <p:pic>
        <p:nvPicPr>
          <p:cNvPr id="19" name="Icon LuClipboardList" descr="lu_LuClipboardList_2E7A62.png"/>
          <p:cNvPicPr>
            <a:picLocks noChangeAspect="1"/>
          </p:cNvPicPr>
          <p:nvPr/>
        </p:nvPicPr>
        <p:blipFill>
          <a:blip r:embed="rId5"/>
          <a:stretch>
            <a:fillRect/>
          </a:stretch>
        </p:blipFill>
        <p:spPr>
          <a:xfrm>
            <a:off x="4653661" y="2208911"/>
            <a:ext cx="344678" cy="344678"/>
          </a:xfrm>
          <a:prstGeom prst="rect">
            <a:avLst/>
          </a:prstGeom>
        </p:spPr>
      </p:pic>
      <p:sp>
        <p:nvSpPr>
          <p:cNvPr id="20" name="TextBox 19"/>
          <p:cNvSpPr txBox="1"/>
          <p:nvPr/>
        </p:nvSpPr>
        <p:spPr>
          <a:xfrm>
            <a:off x="5365750" y="2057400"/>
            <a:ext cx="2476500" cy="3175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Thoroughly tested</a:t>
            </a:r>
          </a:p>
        </p:txBody>
      </p:sp>
      <p:sp>
        <p:nvSpPr>
          <p:cNvPr id="21" name="TextBox 20"/>
          <p:cNvSpPr txBox="1"/>
          <p:nvPr/>
        </p:nvSpPr>
        <p:spPr>
          <a:xfrm>
            <a:off x="5365750" y="2374900"/>
            <a:ext cx="2476500" cy="508000"/>
          </a:xfrm>
          <a:prstGeom prst="rect">
            <a:avLst/>
          </a:prstGeom>
          <a:noFill/>
        </p:spPr>
        <p:txBody>
          <a:bodyPr wrap="square" lIns="0" rIns="0" tIns="0" bIns="0" anchor="t">
            <a:noAutofit/>
          </a:bodyPr>
          <a:lstStyle/>
          <a:p>
            <a:pPr algn="l">
              <a:lnSpc>
                <a:spcPct val="112000"/>
              </a:lnSpc>
            </a:pPr>
            <a:r>
              <a:rPr sz="1200" b="0" i="0">
                <a:solidFill>
                  <a:srgbClr val="5B6561"/>
                </a:solidFill>
                <a:latin typeface="DM Sans"/>
                <a:ea typeface="DM Sans"/>
                <a:cs typeface="DM Sans"/>
              </a:rPr>
              <a:t>Automated checks of behavior</a:t>
            </a:r>
            <a:br>
              <a:rPr sz="1200"/>
            </a:br>
            <a:r>
              <a:rPr sz="1200" b="0" i="0">
                <a:solidFill>
                  <a:srgbClr val="5B6561"/>
                </a:solidFill>
                <a:latin typeface="DM Sans"/>
                <a:ea typeface="DM Sans"/>
                <a:cs typeface="DM Sans"/>
              </a:rPr>
              <a:t>and data integrity.</a:t>
            </a:r>
          </a:p>
        </p:txBody>
      </p:sp>
      <p:sp>
        <p:nvSpPr>
          <p:cNvPr id="22" name="Dot"/>
          <p:cNvSpPr/>
          <p:nvPr/>
        </p:nvSpPr>
        <p:spPr>
          <a:xfrm>
            <a:off x="4552950" y="3308350"/>
            <a:ext cx="114300" cy="114300"/>
          </a:xfrm>
          <a:prstGeom prst="ellipse">
            <a:avLst/>
          </a:prstGeom>
          <a:solidFill>
            <a:srgbClr val="9BCAB2"/>
          </a:solidFill>
          <a:ln>
            <a:noFill/>
          </a:ln>
        </p:spPr>
        <p:txBody>
          <a:bodyPr rtlCol="0" anchor="ctr"/>
          <a:lstStyle/>
          <a:p>
            <a:pPr algn="ctr"/>
          </a:p>
        </p:txBody>
      </p:sp>
      <p:sp>
        <p:nvSpPr>
          <p:cNvPr id="23" name="TextBox 22"/>
          <p:cNvSpPr txBox="1"/>
          <p:nvPr/>
        </p:nvSpPr>
        <p:spPr>
          <a:xfrm>
            <a:off x="4819650" y="32258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Deterministic</a:t>
            </a:r>
            <a:r>
              <a:rPr sz="1300" b="0" i="0">
                <a:solidFill>
                  <a:srgbClr val="5B6561"/>
                </a:solidFill>
                <a:latin typeface="DM Sans"/>
                <a:ea typeface="DM Sans"/>
                <a:cs typeface="DM Sans"/>
              </a:rPr>
              <a:t> unit and TypeScript tests.</a:t>
            </a:r>
          </a:p>
        </p:txBody>
      </p:sp>
      <p:sp>
        <p:nvSpPr>
          <p:cNvPr id="24" name="Dot"/>
          <p:cNvSpPr/>
          <p:nvPr/>
        </p:nvSpPr>
        <p:spPr>
          <a:xfrm>
            <a:off x="4552950" y="3981450"/>
            <a:ext cx="114300" cy="114300"/>
          </a:xfrm>
          <a:prstGeom prst="ellipse">
            <a:avLst/>
          </a:prstGeom>
          <a:solidFill>
            <a:srgbClr val="9BCAB2"/>
          </a:solidFill>
          <a:ln>
            <a:noFill/>
          </a:ln>
        </p:spPr>
        <p:txBody>
          <a:bodyPr rtlCol="0" anchor="ctr"/>
          <a:lstStyle/>
          <a:p>
            <a:pPr algn="ctr"/>
          </a:p>
        </p:txBody>
      </p:sp>
      <p:sp>
        <p:nvSpPr>
          <p:cNvPr id="25" name="TextBox 24"/>
          <p:cNvSpPr txBox="1"/>
          <p:nvPr/>
        </p:nvSpPr>
        <p:spPr>
          <a:xfrm>
            <a:off x="4819650" y="38989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Signed-in browser workflows</a:t>
            </a:r>
            <a:r>
              <a:rPr sz="1300" b="0" i="0">
                <a:solidFill>
                  <a:srgbClr val="5B6561"/>
                </a:solidFill>
                <a:latin typeface="DM Sans"/>
                <a:ea typeface="DM Sans"/>
                <a:cs typeface="DM Sans"/>
              </a:rPr>
              <a:t> with fictional students.</a:t>
            </a:r>
          </a:p>
        </p:txBody>
      </p:sp>
      <p:sp>
        <p:nvSpPr>
          <p:cNvPr id="26" name="Dot"/>
          <p:cNvSpPr/>
          <p:nvPr/>
        </p:nvSpPr>
        <p:spPr>
          <a:xfrm>
            <a:off x="4552950" y="4654550"/>
            <a:ext cx="114300" cy="114300"/>
          </a:xfrm>
          <a:prstGeom prst="ellipse">
            <a:avLst/>
          </a:prstGeom>
          <a:solidFill>
            <a:srgbClr val="9BCAB2"/>
          </a:solidFill>
          <a:ln>
            <a:noFill/>
          </a:ln>
        </p:spPr>
        <p:txBody>
          <a:bodyPr rtlCol="0" anchor="ctr"/>
          <a:lstStyle/>
          <a:p>
            <a:pPr algn="ctr"/>
          </a:p>
        </p:txBody>
      </p:sp>
      <p:sp>
        <p:nvSpPr>
          <p:cNvPr id="27" name="TextBox 26"/>
          <p:cNvSpPr txBox="1"/>
          <p:nvPr/>
        </p:nvSpPr>
        <p:spPr>
          <a:xfrm>
            <a:off x="4819650" y="45720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Database persistence</a:t>
            </a:r>
            <a:r>
              <a:rPr sz="1300" b="0" i="0">
                <a:solidFill>
                  <a:srgbClr val="5B6561"/>
                </a:solidFill>
                <a:latin typeface="DM Sans"/>
                <a:ea typeface="DM Sans"/>
                <a:cs typeface="DM Sans"/>
              </a:rPr>
              <a:t> and save-recovery checks.</a:t>
            </a:r>
          </a:p>
        </p:txBody>
      </p:sp>
      <p:sp>
        <p:nvSpPr>
          <p:cNvPr id="28" name="Card"/>
          <p:cNvSpPr/>
          <p:nvPr/>
        </p:nvSpPr>
        <p:spPr>
          <a:xfrm>
            <a:off x="8070850" y="1778000"/>
            <a:ext cx="3708400" cy="3632200"/>
          </a:xfrm>
          <a:prstGeom prst="roundRect">
            <a:avLst>
              <a:gd name="adj" fmla="val 4195"/>
            </a:avLst>
          </a:prstGeom>
          <a:solidFill>
            <a:srgbClr val="F8EEE1"/>
          </a:solidFill>
          <a:ln>
            <a:noFill/>
          </a:ln>
          <a:effectLst>
            <a:outerShdw blurRad="279400" dist="50800" dir="5400000" algn="t" rotWithShape="0">
              <a:srgbClr val="1B3A30">
                <a:alpha val="9000"/>
              </a:srgbClr>
            </a:outerShdw>
          </a:effectLst>
        </p:spPr>
        <p:txBody>
          <a:bodyPr rtlCol="0" anchor="ctr"/>
          <a:lstStyle/>
          <a:p>
            <a:pPr algn="ctr"/>
          </a:p>
        </p:txBody>
      </p:sp>
      <p:sp>
        <p:nvSpPr>
          <p:cNvPr id="29" name="Icon circle"/>
          <p:cNvSpPr/>
          <p:nvPr/>
        </p:nvSpPr>
        <p:spPr>
          <a:xfrm>
            <a:off x="8299450" y="2006600"/>
            <a:ext cx="749300" cy="749300"/>
          </a:xfrm>
          <a:prstGeom prst="ellipse">
            <a:avLst/>
          </a:prstGeom>
          <a:solidFill>
            <a:srgbClr val="F2DFC3"/>
          </a:solidFill>
          <a:ln>
            <a:noFill/>
          </a:ln>
        </p:spPr>
        <p:txBody>
          <a:bodyPr rtlCol="0" anchor="ctr"/>
          <a:lstStyle/>
          <a:p>
            <a:pPr algn="ctr"/>
          </a:p>
        </p:txBody>
      </p:sp>
      <p:pic>
        <p:nvPicPr>
          <p:cNvPr id="30" name="Icon LuChartColumnIncreasing" descr="lu_LuChartColumnIncreasing_B7792A.png"/>
          <p:cNvPicPr>
            <a:picLocks noChangeAspect="1"/>
          </p:cNvPicPr>
          <p:nvPr/>
        </p:nvPicPr>
        <p:blipFill>
          <a:blip r:embed="rId6"/>
          <a:stretch>
            <a:fillRect/>
          </a:stretch>
        </p:blipFill>
        <p:spPr>
          <a:xfrm>
            <a:off x="8501761" y="2208911"/>
            <a:ext cx="344678" cy="344678"/>
          </a:xfrm>
          <a:prstGeom prst="rect">
            <a:avLst/>
          </a:prstGeom>
        </p:spPr>
      </p:pic>
      <p:sp>
        <p:nvSpPr>
          <p:cNvPr id="31" name="TextBox 30"/>
          <p:cNvSpPr txBox="1"/>
          <p:nvPr/>
        </p:nvSpPr>
        <p:spPr>
          <a:xfrm>
            <a:off x="9213850" y="2057400"/>
            <a:ext cx="2476500" cy="317500"/>
          </a:xfrm>
          <a:prstGeom prst="rect">
            <a:avLst/>
          </a:prstGeom>
          <a:noFill/>
        </p:spPr>
        <p:txBody>
          <a:bodyPr wrap="square" lIns="0" rIns="0" tIns="0" bIns="0" anchor="t">
            <a:noAutofit/>
          </a:bodyPr>
          <a:lstStyle/>
          <a:p>
            <a:pPr algn="l"/>
            <a:r>
              <a:rPr sz="1700" b="0" i="0">
                <a:solidFill>
                  <a:srgbClr val="15201B"/>
                </a:solidFill>
                <a:latin typeface="Newsreader"/>
                <a:ea typeface="Newsreader"/>
                <a:cs typeface="Newsreader"/>
              </a:rPr>
              <a:t>Transparent about limits</a:t>
            </a:r>
          </a:p>
        </p:txBody>
      </p:sp>
      <p:sp>
        <p:nvSpPr>
          <p:cNvPr id="32" name="TextBox 31"/>
          <p:cNvSpPr txBox="1"/>
          <p:nvPr/>
        </p:nvSpPr>
        <p:spPr>
          <a:xfrm>
            <a:off x="9213850" y="2374900"/>
            <a:ext cx="2476500" cy="508000"/>
          </a:xfrm>
          <a:prstGeom prst="rect">
            <a:avLst/>
          </a:prstGeom>
          <a:noFill/>
        </p:spPr>
        <p:txBody>
          <a:bodyPr wrap="square" lIns="0" rIns="0" tIns="0" bIns="0" anchor="t">
            <a:noAutofit/>
          </a:bodyPr>
          <a:lstStyle/>
          <a:p>
            <a:pPr algn="l">
              <a:lnSpc>
                <a:spcPct val="112000"/>
              </a:lnSpc>
            </a:pPr>
            <a:r>
              <a:rPr sz="1200" b="0" i="0">
                <a:solidFill>
                  <a:srgbClr val="5B6561"/>
                </a:solidFill>
                <a:latin typeface="DM Sans"/>
                <a:ea typeface="DM Sans"/>
                <a:cs typeface="DM Sans"/>
              </a:rPr>
              <a:t>We are honest about what</a:t>
            </a:r>
            <a:br>
              <a:rPr sz="1200"/>
            </a:br>
            <a:r>
              <a:rPr sz="1200" b="0" i="0">
                <a:solidFill>
                  <a:srgbClr val="5B6561"/>
                </a:solidFill>
                <a:latin typeface="DM Sans"/>
                <a:ea typeface="DM Sans"/>
                <a:cs typeface="DM Sans"/>
              </a:rPr>
              <a:t>isn’t yet shown.</a:t>
            </a:r>
          </a:p>
        </p:txBody>
      </p:sp>
      <p:sp>
        <p:nvSpPr>
          <p:cNvPr id="33" name="Dot"/>
          <p:cNvSpPr/>
          <p:nvPr/>
        </p:nvSpPr>
        <p:spPr>
          <a:xfrm>
            <a:off x="8401050" y="3308350"/>
            <a:ext cx="114300" cy="114300"/>
          </a:xfrm>
          <a:prstGeom prst="ellipse">
            <a:avLst/>
          </a:prstGeom>
          <a:solidFill>
            <a:srgbClr val="E4BD78"/>
          </a:solidFill>
          <a:ln>
            <a:noFill/>
          </a:ln>
        </p:spPr>
        <p:txBody>
          <a:bodyPr rtlCol="0" anchor="ctr"/>
          <a:lstStyle/>
          <a:p>
            <a:pPr algn="ctr"/>
          </a:p>
        </p:txBody>
      </p:sp>
      <p:sp>
        <p:nvSpPr>
          <p:cNvPr id="34" name="TextBox 33"/>
          <p:cNvSpPr txBox="1"/>
          <p:nvPr/>
        </p:nvSpPr>
        <p:spPr>
          <a:xfrm>
            <a:off x="8667750" y="32258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Measured improvement</a:t>
            </a:r>
            <a:r>
              <a:rPr sz="1300" b="0" i="0">
                <a:solidFill>
                  <a:srgbClr val="5B6561"/>
                </a:solidFill>
                <a:latin typeface="DM Sans"/>
                <a:ea typeface="DM Sans"/>
                <a:cs typeface="DM Sans"/>
              </a:rPr>
              <a:t> in learning outcomes.</a:t>
            </a:r>
          </a:p>
        </p:txBody>
      </p:sp>
      <p:sp>
        <p:nvSpPr>
          <p:cNvPr id="35" name="Dot"/>
          <p:cNvSpPr/>
          <p:nvPr/>
        </p:nvSpPr>
        <p:spPr>
          <a:xfrm>
            <a:off x="8401050" y="3981450"/>
            <a:ext cx="114300" cy="114300"/>
          </a:xfrm>
          <a:prstGeom prst="ellipse">
            <a:avLst/>
          </a:prstGeom>
          <a:solidFill>
            <a:srgbClr val="E4BD78"/>
          </a:solidFill>
          <a:ln>
            <a:noFill/>
          </a:ln>
        </p:spPr>
        <p:txBody>
          <a:bodyPr rtlCol="0" anchor="ctr"/>
          <a:lstStyle/>
          <a:p>
            <a:pPr algn="ctr"/>
          </a:p>
        </p:txBody>
      </p:sp>
      <p:sp>
        <p:nvSpPr>
          <p:cNvPr id="36" name="TextBox 35"/>
          <p:cNvSpPr txBox="1"/>
          <p:nvPr/>
        </p:nvSpPr>
        <p:spPr>
          <a:xfrm>
            <a:off x="8667750" y="38989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A production deployment</a:t>
            </a:r>
            <a:r>
              <a:rPr sz="1300" b="0" i="0">
                <a:solidFill>
                  <a:srgbClr val="5B6561"/>
                </a:solidFill>
                <a:latin typeface="DM Sans"/>
                <a:ea typeface="DM Sans"/>
                <a:cs typeface="DM Sans"/>
              </a:rPr>
              <a:t> and compliance review.</a:t>
            </a:r>
          </a:p>
        </p:txBody>
      </p:sp>
      <p:sp>
        <p:nvSpPr>
          <p:cNvPr id="37" name="Dot"/>
          <p:cNvSpPr/>
          <p:nvPr/>
        </p:nvSpPr>
        <p:spPr>
          <a:xfrm>
            <a:off x="8401050" y="4654550"/>
            <a:ext cx="114300" cy="114300"/>
          </a:xfrm>
          <a:prstGeom prst="ellipse">
            <a:avLst/>
          </a:prstGeom>
          <a:solidFill>
            <a:srgbClr val="E4BD78"/>
          </a:solidFill>
          <a:ln>
            <a:noFill/>
          </a:ln>
        </p:spPr>
        <p:txBody>
          <a:bodyPr rtlCol="0" anchor="ctr"/>
          <a:lstStyle/>
          <a:p>
            <a:pPr algn="ctr"/>
          </a:p>
        </p:txBody>
      </p:sp>
      <p:sp>
        <p:nvSpPr>
          <p:cNvPr id="38" name="TextBox 37"/>
          <p:cNvSpPr txBox="1"/>
          <p:nvPr/>
        </p:nvSpPr>
        <p:spPr>
          <a:xfrm>
            <a:off x="8667750" y="4572000"/>
            <a:ext cx="2921000" cy="571500"/>
          </a:xfrm>
          <a:prstGeom prst="rect">
            <a:avLst/>
          </a:prstGeom>
          <a:noFill/>
        </p:spPr>
        <p:txBody>
          <a:bodyPr wrap="square" lIns="0" rIns="0" tIns="0" bIns="0" anchor="t">
            <a:noAutofit/>
          </a:bodyPr>
          <a:lstStyle/>
          <a:p>
            <a:pPr algn="l">
              <a:lnSpc>
                <a:spcPct val="115000"/>
              </a:lnSpc>
            </a:pPr>
            <a:r>
              <a:rPr sz="1300" b="1" i="0">
                <a:solidFill>
                  <a:srgbClr val="15201B"/>
                </a:solidFill>
                <a:latin typeface="DM Sans"/>
                <a:ea typeface="DM Sans"/>
                <a:cs typeface="DM Sans"/>
              </a:rPr>
              <a:t>Full accessibility</a:t>
            </a:r>
            <a:r>
              <a:rPr sz="1300" b="0" i="0">
                <a:solidFill>
                  <a:srgbClr val="5B6561"/>
                </a:solidFill>
                <a:latin typeface="DM Sans"/>
                <a:ea typeface="DM Sans"/>
                <a:cs typeface="DM Sans"/>
              </a:rPr>
              <a:t> and device testing.</a:t>
            </a:r>
          </a:p>
        </p:txBody>
      </p:sp>
      <p:sp>
        <p:nvSpPr>
          <p:cNvPr id="39" name="Principle band"/>
          <p:cNvSpPr/>
          <p:nvPr/>
        </p:nvSpPr>
        <p:spPr>
          <a:xfrm>
            <a:off x="476250" y="5613400"/>
            <a:ext cx="11277600" cy="660400"/>
          </a:xfrm>
          <a:prstGeom prst="roundRect">
            <a:avLst>
              <a:gd name="adj" fmla="val 50000"/>
            </a:avLst>
          </a:prstGeom>
          <a:solidFill>
            <a:srgbClr val="E8EEE6"/>
          </a:solidFill>
          <a:ln>
            <a:noFill/>
          </a:ln>
        </p:spPr>
        <p:txBody>
          <a:bodyPr rtlCol="0" anchor="ctr"/>
          <a:lstStyle/>
          <a:p>
            <a:pPr algn="ctr"/>
          </a:p>
        </p:txBody>
      </p:sp>
      <p:sp>
        <p:nvSpPr>
          <p:cNvPr id="40" name="Icon circle"/>
          <p:cNvSpPr/>
          <p:nvPr/>
        </p:nvSpPr>
        <p:spPr>
          <a:xfrm>
            <a:off x="685800" y="5689600"/>
            <a:ext cx="508000" cy="508000"/>
          </a:xfrm>
          <a:prstGeom prst="ellipse">
            <a:avLst/>
          </a:prstGeom>
          <a:solidFill>
            <a:srgbClr val="D3E6DA"/>
          </a:solidFill>
          <a:ln>
            <a:noFill/>
          </a:ln>
        </p:spPr>
        <p:txBody>
          <a:bodyPr rtlCol="0" anchor="ctr"/>
          <a:lstStyle/>
          <a:p>
            <a:pPr algn="ctr"/>
          </a:p>
        </p:txBody>
      </p:sp>
      <p:pic>
        <p:nvPicPr>
          <p:cNvPr id="41" name="Icon LuScale" descr="lu_LuScale_1B4236.png"/>
          <p:cNvPicPr>
            <a:picLocks noChangeAspect="1"/>
          </p:cNvPicPr>
          <p:nvPr/>
        </p:nvPicPr>
        <p:blipFill>
          <a:blip r:embed="rId7"/>
          <a:stretch>
            <a:fillRect/>
          </a:stretch>
        </p:blipFill>
        <p:spPr>
          <a:xfrm>
            <a:off x="812800" y="5816600"/>
            <a:ext cx="254000" cy="254000"/>
          </a:xfrm>
          <a:prstGeom prst="rect">
            <a:avLst/>
          </a:prstGeom>
        </p:spPr>
      </p:pic>
      <p:sp>
        <p:nvSpPr>
          <p:cNvPr id="42" name="TextBox 41"/>
          <p:cNvSpPr txBox="1"/>
          <p:nvPr/>
        </p:nvSpPr>
        <p:spPr>
          <a:xfrm>
            <a:off x="1460500" y="5613400"/>
            <a:ext cx="10033000" cy="660400"/>
          </a:xfrm>
          <a:prstGeom prst="rect">
            <a:avLst/>
          </a:prstGeom>
          <a:noFill/>
        </p:spPr>
        <p:txBody>
          <a:bodyPr wrap="square" lIns="0" rIns="0" tIns="0" bIns="0" anchor="ctr">
            <a:noAutofit/>
          </a:bodyPr>
          <a:lstStyle/>
          <a:p>
            <a:pPr algn="l"/>
            <a:r>
              <a:rPr sz="2000" b="0" i="1">
                <a:solidFill>
                  <a:srgbClr val="1F5A47"/>
                </a:solidFill>
                <a:latin typeface="Newsreader"/>
                <a:ea typeface="Newsreader"/>
                <a:cs typeface="Newsreader"/>
              </a:rPr>
              <a:t>AI supports instructional decisions. It doesn’t replace educator judgment.</a:t>
            </a:r>
          </a:p>
        </p:txBody>
      </p:sp>
      <p:sp>
        <p:nvSpPr>
          <p:cNvPr id="43"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558800" y="622300"/>
            <a:ext cx="11049000" cy="584200"/>
          </a:xfrm>
          <a:prstGeom prst="rect">
            <a:avLst/>
          </a:prstGeom>
          <a:noFill/>
          <a:ln/>
        </p:spPr>
        <p:txBody>
          <a:bodyPr wrap="square" lIns="0" tIns="0" rIns="0" bIns="0" rtlCol="0" anchor="t">
            <a:noAutofit/>
          </a:bodyPr>
          <a:lstStyle/>
          <a:p>
            <a:pPr marL="0" indent="0" algn="l">
              <a:lnSpc>
                <a:spcPts val="3520"/>
              </a:lnSpc>
              <a:buNone/>
            </a:pPr>
            <a:r>
              <a:rPr sz="3400" b="0" i="0">
                <a:solidFill>
                  <a:srgbClr val="15201B"/>
                </a:solidFill>
                <a:latin typeface="Newsreader"/>
                <a:ea typeface="Newsreader"/>
                <a:cs typeface="Newsreader"/>
              </a:rPr>
              <a:t>From one lesson to a whole course</a:t>
            </a:r>
            <a:endParaRPr lang="en-US" sz="3200" dirty="0"/>
          </a:p>
        </p:txBody>
      </p:sp>
      <p:sp>
        <p:nvSpPr>
          <p:cNvPr id="4" name="Eyebrow"/>
          <p:cNvSpPr txBox="1"/>
          <p:nvPr/>
        </p:nvSpPr>
        <p:spPr>
          <a:xfrm>
            <a:off x="558800" y="419100"/>
            <a:ext cx="8890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FUTURE VISION</a:t>
            </a:r>
          </a:p>
        </p:txBody>
      </p:sp>
      <p:sp>
        <p:nvSpPr>
          <p:cNvPr id="5" name="Card"/>
          <p:cNvSpPr/>
          <p:nvPr/>
        </p:nvSpPr>
        <p:spPr>
          <a:xfrm>
            <a:off x="565150" y="1816100"/>
            <a:ext cx="3429000" cy="3594100"/>
          </a:xfrm>
          <a:prstGeom prst="roundRect">
            <a:avLst>
              <a:gd name="adj" fmla="val 4814"/>
            </a:avLst>
          </a:prstGeom>
          <a:solidFill>
            <a:srgbClr val="F9F7F2"/>
          </a:solidFill>
          <a:ln>
            <a:noFill/>
          </a:ln>
          <a:effectLst>
            <a:outerShdw blurRad="279400" dist="50800" dir="5400000" algn="t" rotWithShape="0">
              <a:srgbClr val="1B3A30">
                <a:alpha val="9000"/>
              </a:srgbClr>
            </a:outerShdw>
          </a:effectLst>
        </p:spPr>
        <p:txBody>
          <a:bodyPr rtlCol="0" anchor="ctr"/>
          <a:lstStyle/>
          <a:p>
            <a:pPr algn="ctr"/>
          </a:p>
        </p:txBody>
      </p:sp>
      <p:sp>
        <p:nvSpPr>
          <p:cNvPr id="6" name="Icon circle"/>
          <p:cNvSpPr/>
          <p:nvPr/>
        </p:nvSpPr>
        <p:spPr>
          <a:xfrm>
            <a:off x="844550" y="2070100"/>
            <a:ext cx="787400" cy="787400"/>
          </a:xfrm>
          <a:prstGeom prst="ellipse">
            <a:avLst/>
          </a:prstGeom>
          <a:solidFill>
            <a:srgbClr val="DCEBE1"/>
          </a:solidFill>
          <a:ln>
            <a:noFill/>
          </a:ln>
        </p:spPr>
        <p:txBody>
          <a:bodyPr rtlCol="0" anchor="ctr"/>
          <a:lstStyle/>
          <a:p>
            <a:pPr algn="ctr"/>
          </a:p>
        </p:txBody>
      </p:sp>
      <p:pic>
        <p:nvPicPr>
          <p:cNvPr id="7" name="Icon LuPresentation" descr="lu_LuPresentation_2E7A62.png"/>
          <p:cNvPicPr>
            <a:picLocks noChangeAspect="1"/>
          </p:cNvPicPr>
          <p:nvPr/>
        </p:nvPicPr>
        <p:blipFill>
          <a:blip r:embed="rId5"/>
          <a:stretch>
            <a:fillRect/>
          </a:stretch>
        </p:blipFill>
        <p:spPr>
          <a:xfrm>
            <a:off x="1049274" y="2274824"/>
            <a:ext cx="377952" cy="377952"/>
          </a:xfrm>
          <a:prstGeom prst="rect">
            <a:avLst/>
          </a:prstGeom>
        </p:spPr>
      </p:pic>
      <p:sp>
        <p:nvSpPr>
          <p:cNvPr id="8" name="Eyebrow"/>
          <p:cNvSpPr txBox="1"/>
          <p:nvPr/>
        </p:nvSpPr>
        <p:spPr>
          <a:xfrm>
            <a:off x="869950" y="3060700"/>
            <a:ext cx="2794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NEAR TERM</a:t>
            </a:r>
          </a:p>
        </p:txBody>
      </p:sp>
      <p:sp>
        <p:nvSpPr>
          <p:cNvPr id="9" name="TextBox 8"/>
          <p:cNvSpPr txBox="1"/>
          <p:nvPr/>
        </p:nvSpPr>
        <p:spPr>
          <a:xfrm>
            <a:off x="869950" y="3302000"/>
            <a:ext cx="2921000" cy="698500"/>
          </a:xfrm>
          <a:prstGeom prst="rect">
            <a:avLst/>
          </a:prstGeom>
          <a:noFill/>
        </p:spPr>
        <p:txBody>
          <a:bodyPr wrap="square" lIns="0" rIns="0" tIns="0" bIns="0" anchor="t">
            <a:noAutofit/>
          </a:bodyPr>
          <a:lstStyle/>
          <a:p>
            <a:pPr algn="l">
              <a:lnSpc>
                <a:spcPct val="102000"/>
              </a:lnSpc>
            </a:pPr>
            <a:r>
              <a:rPr sz="2100" b="0" i="0">
                <a:solidFill>
                  <a:srgbClr val="15201B"/>
                </a:solidFill>
                <a:latin typeface="Newsreader"/>
                <a:ea typeface="Newsreader"/>
                <a:cs typeface="Newsreader"/>
              </a:rPr>
              <a:t>Prove it in classrooms</a:t>
            </a:r>
          </a:p>
        </p:txBody>
      </p:sp>
      <p:sp>
        <p:nvSpPr>
          <p:cNvPr id="10" name="TextBox 9"/>
          <p:cNvSpPr txBox="1"/>
          <p:nvPr/>
        </p:nvSpPr>
        <p:spPr>
          <a:xfrm>
            <a:off x="869950" y="3721100"/>
            <a:ext cx="2921000" cy="1270000"/>
          </a:xfrm>
          <a:prstGeom prst="rect">
            <a:avLst/>
          </a:prstGeom>
          <a:noFill/>
        </p:spPr>
        <p:txBody>
          <a:bodyPr wrap="square" lIns="0" rIns="0" tIns="0" bIns="0" anchor="t">
            <a:noAutofit/>
          </a:bodyPr>
          <a:lstStyle/>
          <a:p>
            <a:pPr algn="l">
              <a:lnSpc>
                <a:spcPct val="115000"/>
              </a:lnSpc>
            </a:pPr>
            <a:r>
              <a:rPr sz="1450" b="0" i="0">
                <a:solidFill>
                  <a:srgbClr val="5B6561"/>
                </a:solidFill>
                <a:latin typeface="DM Sans"/>
                <a:ea typeface="DM Sans"/>
                <a:cs typeface="DM Sans"/>
              </a:rPr>
              <a:t>Finish cross-role testing,</a:t>
            </a:r>
            <a:br>
              <a:rPr sz="1450"/>
            </a:br>
            <a:r>
              <a:rPr sz="1450" b="0" i="0">
                <a:solidFill>
                  <a:srgbClr val="5B6561"/>
                </a:solidFill>
                <a:latin typeface="DM Sans"/>
                <a:ea typeface="DM Sans"/>
                <a:cs typeface="DM Sans"/>
              </a:rPr>
              <a:t>validate the tutor with real</a:t>
            </a:r>
            <a:br>
              <a:rPr sz="1450"/>
            </a:br>
            <a:r>
              <a:rPr sz="1450" b="0" i="0">
                <a:solidFill>
                  <a:srgbClr val="5B6561"/>
                </a:solidFill>
                <a:latin typeface="DM Sans"/>
                <a:ea typeface="DM Sans"/>
                <a:cs typeface="DM Sans"/>
              </a:rPr>
              <a:t>models and pilot with</a:t>
            </a:r>
            <a:br>
              <a:rPr sz="1450"/>
            </a:br>
            <a:r>
              <a:rPr sz="1450" b="0" i="0">
                <a:solidFill>
                  <a:srgbClr val="5B6561"/>
                </a:solidFill>
                <a:latin typeface="DM Sans"/>
                <a:ea typeface="DM Sans"/>
                <a:cs typeface="DM Sans"/>
              </a:rPr>
              <a:t>instructors and students.</a:t>
            </a:r>
          </a:p>
        </p:txBody>
      </p:sp>
      <p:sp>
        <p:nvSpPr>
          <p:cNvPr id="11" name="Card"/>
          <p:cNvSpPr/>
          <p:nvPr/>
        </p:nvSpPr>
        <p:spPr>
          <a:xfrm>
            <a:off x="4514850" y="1816100"/>
            <a:ext cx="3429000" cy="3594100"/>
          </a:xfrm>
          <a:prstGeom prst="roundRect">
            <a:avLst>
              <a:gd name="adj" fmla="val 4814"/>
            </a:avLst>
          </a:prstGeom>
          <a:solidFill>
            <a:srgbClr val="E3EFE7"/>
          </a:solidFill>
          <a:ln>
            <a:noFill/>
          </a:ln>
          <a:effectLst>
            <a:outerShdw blurRad="279400" dist="50800" dir="5400000" algn="t" rotWithShape="0">
              <a:srgbClr val="1B3A30">
                <a:alpha val="9000"/>
              </a:srgbClr>
            </a:outerShdw>
          </a:effectLst>
        </p:spPr>
        <p:txBody>
          <a:bodyPr rtlCol="0" anchor="ctr"/>
          <a:lstStyle/>
          <a:p>
            <a:pPr algn="ctr"/>
          </a:p>
        </p:txBody>
      </p:sp>
      <p:sp>
        <p:nvSpPr>
          <p:cNvPr id="12" name="Icon circle"/>
          <p:cNvSpPr/>
          <p:nvPr/>
        </p:nvSpPr>
        <p:spPr>
          <a:xfrm>
            <a:off x="4794250" y="2070100"/>
            <a:ext cx="787400" cy="787400"/>
          </a:xfrm>
          <a:prstGeom prst="ellipse">
            <a:avLst/>
          </a:prstGeom>
          <a:solidFill>
            <a:srgbClr val="CFE5D8"/>
          </a:solidFill>
          <a:ln>
            <a:noFill/>
          </a:ln>
        </p:spPr>
        <p:txBody>
          <a:bodyPr rtlCol="0" anchor="ctr"/>
          <a:lstStyle/>
          <a:p>
            <a:pPr algn="ctr"/>
          </a:p>
        </p:txBody>
      </p:sp>
      <p:pic>
        <p:nvPicPr>
          <p:cNvPr id="13" name="Icon LuBookOpen" descr="lu_LuBookOpen_2E7A62.png"/>
          <p:cNvPicPr>
            <a:picLocks noChangeAspect="1"/>
          </p:cNvPicPr>
          <p:nvPr/>
        </p:nvPicPr>
        <p:blipFill>
          <a:blip r:embed="rId6"/>
          <a:stretch>
            <a:fillRect/>
          </a:stretch>
        </p:blipFill>
        <p:spPr>
          <a:xfrm>
            <a:off x="4998974" y="2274824"/>
            <a:ext cx="377952" cy="377952"/>
          </a:xfrm>
          <a:prstGeom prst="rect">
            <a:avLst/>
          </a:prstGeom>
        </p:spPr>
      </p:pic>
      <p:sp>
        <p:nvSpPr>
          <p:cNvPr id="14" name="Eyebrow"/>
          <p:cNvSpPr txBox="1"/>
          <p:nvPr/>
        </p:nvSpPr>
        <p:spPr>
          <a:xfrm>
            <a:off x="4819650" y="3060700"/>
            <a:ext cx="2794000" cy="215900"/>
          </a:xfrm>
          <a:prstGeom prst="rect">
            <a:avLst/>
          </a:prstGeom>
          <a:noFill/>
        </p:spPr>
        <p:txBody>
          <a:bodyPr wrap="square" lIns="0" rIns="0" tIns="0" bIns="0" anchor="t">
            <a:noAutofit/>
          </a:bodyPr>
          <a:lstStyle/>
          <a:p>
            <a:pPr algn="l"/>
            <a:r>
              <a:rPr sz="1200" b="1" i="0" spc="220">
                <a:solidFill>
                  <a:srgbClr val="2E7A62"/>
                </a:solidFill>
                <a:latin typeface="DM Sans"/>
                <a:ea typeface="DM Sans"/>
                <a:cs typeface="DM Sans"/>
              </a:rPr>
              <a:t>MEDIUM TERM</a:t>
            </a:r>
          </a:p>
        </p:txBody>
      </p:sp>
      <p:sp>
        <p:nvSpPr>
          <p:cNvPr id="15" name="TextBox 14"/>
          <p:cNvSpPr txBox="1"/>
          <p:nvPr/>
        </p:nvSpPr>
        <p:spPr>
          <a:xfrm>
            <a:off x="4819650" y="3302000"/>
            <a:ext cx="2921000" cy="698500"/>
          </a:xfrm>
          <a:prstGeom prst="rect">
            <a:avLst/>
          </a:prstGeom>
          <a:noFill/>
        </p:spPr>
        <p:txBody>
          <a:bodyPr wrap="square" lIns="0" rIns="0" tIns="0" bIns="0" anchor="t">
            <a:noAutofit/>
          </a:bodyPr>
          <a:lstStyle/>
          <a:p>
            <a:pPr algn="l">
              <a:lnSpc>
                <a:spcPct val="102000"/>
              </a:lnSpc>
            </a:pPr>
            <a:r>
              <a:rPr sz="2100" b="0" i="0">
                <a:solidFill>
                  <a:srgbClr val="15201B"/>
                </a:solidFill>
                <a:latin typeface="Newsreader"/>
                <a:ea typeface="Newsreader"/>
                <a:cs typeface="Newsreader"/>
              </a:rPr>
              <a:t>Broaden and connect</a:t>
            </a:r>
          </a:p>
        </p:txBody>
      </p:sp>
      <p:sp>
        <p:nvSpPr>
          <p:cNvPr id="16" name="TextBox 15"/>
          <p:cNvSpPr txBox="1"/>
          <p:nvPr/>
        </p:nvSpPr>
        <p:spPr>
          <a:xfrm>
            <a:off x="4819650" y="3721100"/>
            <a:ext cx="2921000" cy="1270000"/>
          </a:xfrm>
          <a:prstGeom prst="rect">
            <a:avLst/>
          </a:prstGeom>
          <a:noFill/>
        </p:spPr>
        <p:txBody>
          <a:bodyPr wrap="square" lIns="0" rIns="0" tIns="0" bIns="0" anchor="t">
            <a:noAutofit/>
          </a:bodyPr>
          <a:lstStyle/>
          <a:p>
            <a:pPr algn="l">
              <a:lnSpc>
                <a:spcPct val="115000"/>
              </a:lnSpc>
            </a:pPr>
            <a:r>
              <a:rPr sz="1450" b="0" i="0">
                <a:solidFill>
                  <a:srgbClr val="5B6561"/>
                </a:solidFill>
                <a:latin typeface="DM Sans"/>
                <a:ea typeface="DM Sans"/>
                <a:cs typeface="DM Sans"/>
              </a:rPr>
              <a:t>More subjects, richer</a:t>
            </a:r>
            <a:br>
              <a:rPr sz="1450"/>
            </a:br>
            <a:r>
              <a:rPr sz="1450" b="0" i="0">
                <a:solidFill>
                  <a:srgbClr val="5B6561"/>
                </a:solidFill>
                <a:latin typeface="DM Sans"/>
                <a:ea typeface="DM Sans"/>
                <a:cs typeface="DM Sans"/>
              </a:rPr>
              <a:t>learning histories, visual</a:t>
            </a:r>
            <a:br>
              <a:rPr sz="1450"/>
            </a:br>
            <a:r>
              <a:rPr sz="1450" b="0" i="0">
                <a:solidFill>
                  <a:srgbClr val="5B6561"/>
                </a:solidFill>
                <a:latin typeface="DM Sans"/>
                <a:ea typeface="DM Sans"/>
                <a:cs typeface="DM Sans"/>
              </a:rPr>
              <a:t>explanations and Canvas</a:t>
            </a:r>
            <a:br>
              <a:rPr sz="1450"/>
            </a:br>
            <a:r>
              <a:rPr sz="1450" b="0" i="0">
                <a:solidFill>
                  <a:srgbClr val="5B6561"/>
                </a:solidFill>
                <a:latin typeface="DM Sans"/>
                <a:ea typeface="DM Sans"/>
                <a:cs typeface="DM Sans"/>
              </a:rPr>
              <a:t>integration.</a:t>
            </a:r>
          </a:p>
        </p:txBody>
      </p:sp>
      <p:sp>
        <p:nvSpPr>
          <p:cNvPr id="17" name="Card"/>
          <p:cNvSpPr/>
          <p:nvPr/>
        </p:nvSpPr>
        <p:spPr>
          <a:xfrm>
            <a:off x="8464550" y="1816100"/>
            <a:ext cx="3429000" cy="3594100"/>
          </a:xfrm>
          <a:prstGeom prst="roundRect">
            <a:avLst>
              <a:gd name="adj" fmla="val 4814"/>
            </a:avLst>
          </a:prstGeom>
          <a:solidFill>
            <a:srgbClr val="1E4A3D"/>
          </a:solidFill>
          <a:ln>
            <a:noFill/>
          </a:ln>
          <a:effectLst>
            <a:outerShdw blurRad="279400" dist="50800" dir="5400000" algn="t" rotWithShape="0">
              <a:srgbClr val="1B3A30">
                <a:alpha val="9000"/>
              </a:srgbClr>
            </a:outerShdw>
          </a:effectLst>
        </p:spPr>
        <p:txBody>
          <a:bodyPr rtlCol="0" anchor="ctr"/>
          <a:lstStyle/>
          <a:p>
            <a:pPr algn="ctr"/>
          </a:p>
        </p:txBody>
      </p:sp>
      <p:sp>
        <p:nvSpPr>
          <p:cNvPr id="18" name="Icon circle"/>
          <p:cNvSpPr/>
          <p:nvPr/>
        </p:nvSpPr>
        <p:spPr>
          <a:xfrm>
            <a:off x="8743950" y="2070100"/>
            <a:ext cx="787400" cy="787400"/>
          </a:xfrm>
          <a:prstGeom prst="ellipse">
            <a:avLst/>
          </a:prstGeom>
          <a:solidFill>
            <a:srgbClr val="E1EEE7"/>
          </a:solidFill>
          <a:ln>
            <a:noFill/>
          </a:ln>
        </p:spPr>
        <p:txBody>
          <a:bodyPr rtlCol="0" anchor="ctr"/>
          <a:lstStyle/>
          <a:p>
            <a:pPr algn="ctr"/>
          </a:p>
        </p:txBody>
      </p:sp>
      <p:pic>
        <p:nvPicPr>
          <p:cNvPr id="19" name="Icon LuLightbulb" descr="lu_LuLightbulb_1B4236.png"/>
          <p:cNvPicPr>
            <a:picLocks noChangeAspect="1"/>
          </p:cNvPicPr>
          <p:nvPr/>
        </p:nvPicPr>
        <p:blipFill>
          <a:blip r:embed="rId7"/>
          <a:stretch>
            <a:fillRect/>
          </a:stretch>
        </p:blipFill>
        <p:spPr>
          <a:xfrm>
            <a:off x="8948674" y="2274824"/>
            <a:ext cx="377952" cy="377952"/>
          </a:xfrm>
          <a:prstGeom prst="rect">
            <a:avLst/>
          </a:prstGeom>
        </p:spPr>
      </p:pic>
      <p:sp>
        <p:nvSpPr>
          <p:cNvPr id="20" name="Eyebrow"/>
          <p:cNvSpPr txBox="1"/>
          <p:nvPr/>
        </p:nvSpPr>
        <p:spPr>
          <a:xfrm>
            <a:off x="8769350" y="3060700"/>
            <a:ext cx="2794000" cy="215900"/>
          </a:xfrm>
          <a:prstGeom prst="rect">
            <a:avLst/>
          </a:prstGeom>
          <a:noFill/>
        </p:spPr>
        <p:txBody>
          <a:bodyPr wrap="square" lIns="0" rIns="0" tIns="0" bIns="0" anchor="t">
            <a:noAutofit/>
          </a:bodyPr>
          <a:lstStyle/>
          <a:p>
            <a:pPr algn="l"/>
            <a:r>
              <a:rPr sz="1200" b="1" i="0" spc="220">
                <a:solidFill>
                  <a:srgbClr val="A9D9C4"/>
                </a:solidFill>
                <a:latin typeface="DM Sans"/>
                <a:ea typeface="DM Sans"/>
                <a:cs typeface="DM Sans"/>
              </a:rPr>
              <a:t>LONG TERM</a:t>
            </a:r>
          </a:p>
        </p:txBody>
      </p:sp>
      <p:sp>
        <p:nvSpPr>
          <p:cNvPr id="21" name="TextBox 20"/>
          <p:cNvSpPr txBox="1"/>
          <p:nvPr/>
        </p:nvSpPr>
        <p:spPr>
          <a:xfrm>
            <a:off x="8769350" y="3302000"/>
            <a:ext cx="2921000" cy="698500"/>
          </a:xfrm>
          <a:prstGeom prst="rect">
            <a:avLst/>
          </a:prstGeom>
          <a:noFill/>
        </p:spPr>
        <p:txBody>
          <a:bodyPr wrap="square" lIns="0" rIns="0" tIns="0" bIns="0" anchor="t">
            <a:noAutofit/>
          </a:bodyPr>
          <a:lstStyle/>
          <a:p>
            <a:pPr algn="l">
              <a:lnSpc>
                <a:spcPct val="102000"/>
              </a:lnSpc>
            </a:pPr>
            <a:r>
              <a:rPr sz="2100" b="0" i="0">
                <a:solidFill>
                  <a:srgbClr val="F5F2EA"/>
                </a:solidFill>
                <a:latin typeface="Newsreader"/>
                <a:ea typeface="Newsreader"/>
                <a:cs typeface="Newsreader"/>
              </a:rPr>
              <a:t>A learning</a:t>
            </a:r>
            <a:br>
              <a:rPr sz="2100"/>
            </a:br>
            <a:r>
              <a:rPr sz="2100" b="0" i="0">
                <a:solidFill>
                  <a:srgbClr val="F5F2EA"/>
                </a:solidFill>
                <a:latin typeface="Newsreader"/>
                <a:ea typeface="Newsreader"/>
                <a:cs typeface="Newsreader"/>
              </a:rPr>
              <a:t>intelligence layer</a:t>
            </a:r>
          </a:p>
        </p:txBody>
      </p:sp>
      <p:sp>
        <p:nvSpPr>
          <p:cNvPr id="22" name="TextBox 21"/>
          <p:cNvSpPr txBox="1"/>
          <p:nvPr/>
        </p:nvSpPr>
        <p:spPr>
          <a:xfrm>
            <a:off x="8769350" y="4025900"/>
            <a:ext cx="2921000" cy="1270000"/>
          </a:xfrm>
          <a:prstGeom prst="rect">
            <a:avLst/>
          </a:prstGeom>
          <a:noFill/>
        </p:spPr>
        <p:txBody>
          <a:bodyPr wrap="square" lIns="0" rIns="0" tIns="0" bIns="0" anchor="t">
            <a:noAutofit/>
          </a:bodyPr>
          <a:lstStyle/>
          <a:p>
            <a:pPr algn="l">
              <a:lnSpc>
                <a:spcPct val="115000"/>
              </a:lnSpc>
            </a:pPr>
            <a:r>
              <a:rPr sz="1450" b="0" i="0">
                <a:solidFill>
                  <a:srgbClr val="CFE1D8"/>
                </a:solidFill>
                <a:latin typeface="DM Sans"/>
                <a:ea typeface="DM Sans"/>
                <a:cs typeface="DM Sans"/>
              </a:rPr>
              <a:t>Help educators understand</a:t>
            </a:r>
            <a:br>
              <a:rPr sz="1450"/>
            </a:br>
            <a:r>
              <a:rPr sz="1450" b="0" i="0">
                <a:solidFill>
                  <a:srgbClr val="CFE1D8"/>
                </a:solidFill>
                <a:latin typeface="DM Sans"/>
                <a:ea typeface="DM Sans"/>
                <a:cs typeface="DM Sans"/>
              </a:rPr>
              <a:t>how students reason across</a:t>
            </a:r>
            <a:br>
              <a:rPr sz="1450"/>
            </a:br>
            <a:r>
              <a:rPr sz="1450" b="0" i="0">
                <a:solidFill>
                  <a:srgbClr val="CFE1D8"/>
                </a:solidFill>
                <a:latin typeface="DM Sans"/>
                <a:ea typeface="DM Sans"/>
                <a:cs typeface="DM Sans"/>
              </a:rPr>
              <a:t>an entire course.</a:t>
            </a:r>
          </a:p>
        </p:txBody>
      </p:sp>
      <p:sp>
        <p:nvSpPr>
          <p:cNvPr id="23" name="Arrow"/>
          <p:cNvSpPr/>
          <p:nvPr/>
        </p:nvSpPr>
        <p:spPr>
          <a:xfrm>
            <a:off x="4140200" y="3556000"/>
            <a:ext cx="254000" cy="127000"/>
          </a:xfrm>
          <a:prstGeom prst="rightArrow">
            <a:avLst/>
          </a:prstGeom>
          <a:solidFill>
            <a:srgbClr val="2E7A62"/>
          </a:solidFill>
          <a:ln>
            <a:noFill/>
          </a:ln>
        </p:spPr>
        <p:txBody>
          <a:bodyPr rtlCol="0" anchor="ctr"/>
          <a:lstStyle/>
          <a:p>
            <a:pPr algn="ctr"/>
          </a:p>
        </p:txBody>
      </p:sp>
      <p:sp>
        <p:nvSpPr>
          <p:cNvPr id="24" name="Arrow"/>
          <p:cNvSpPr/>
          <p:nvPr/>
        </p:nvSpPr>
        <p:spPr>
          <a:xfrm>
            <a:off x="8089900" y="3556000"/>
            <a:ext cx="254000" cy="127000"/>
          </a:xfrm>
          <a:prstGeom prst="rightArrow">
            <a:avLst/>
          </a:prstGeom>
          <a:solidFill>
            <a:srgbClr val="2E7A62"/>
          </a:solidFill>
          <a:ln>
            <a:noFill/>
          </a:ln>
        </p:spPr>
        <p:txBody>
          <a:bodyPr rtlCol="0" anchor="ctr"/>
          <a:lstStyle/>
          <a:p>
            <a:pPr algn="ctr"/>
          </a:p>
        </p:txBody>
      </p:sp>
      <p:sp>
        <p:nvSpPr>
          <p:cNvPr id="25" name="Page number"/>
          <p:cNvSpPr txBox="1"/>
          <p:nvPr/>
        </p:nvSpPr>
        <p:spPr>
          <a:xfrm>
            <a:off x="10795000" y="6375400"/>
            <a:ext cx="812800" cy="215900"/>
          </a:xfrm>
          <a:prstGeom prst="rect">
            <a:avLst/>
          </a:prstGeom>
          <a:noFill/>
        </p:spPr>
        <p:txBody>
          <a:bodyPr wrap="square" lIns="0" rIns="0" tIns="0" bIns="0" anchor="t">
            <a:noAutofit/>
          </a:bodyPr>
          <a:lstStyle/>
          <a:p>
            <a:pPr algn="r"/>
            <a:r>
              <a:rPr sz="1200" b="0" i="0">
                <a:solidFill>
                  <a:srgbClr val="7D8783"/>
                </a:solidFill>
                <a:latin typeface="DM Sans"/>
                <a:ea typeface="DM Sans"/>
                <a:cs typeface="DM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3B31"/>
        </a:solidFill>
        <a:effectLst/>
      </p:bgPr>
    </p:bg>
    <p:spTree>
      <p:nvGrpSpPr>
        <p:cNvPr id="1" name=""/>
        <p:cNvGrpSpPr/>
        <p:nvPr/>
      </p:nvGrpSpPr>
      <p:grpSpPr>
        <a:xfrm>
          <a:off x="0" y="0"/>
          <a:ext cx="0" cy="0"/>
          <a:chOff x="0" y="0"/>
          <a:chExt cx="0" cy="0"/>
        </a:xfrm>
      </p:grpSpPr>
      <p:pic>
        <p:nvPicPr>
          <p:cNvPr id="2" name="Image 0" descr="Learning Pulse logo"/>
          <p:cNvPicPr>
            <a:picLocks noChangeAspect="1"/>
          </p:cNvPicPr>
          <p:nvPr/>
        </p:nvPicPr>
        <p:blipFill>
          <a:blip r:embed="rId3"/>
          <a:srcRect/>
          <a:stretch/>
        </p:blipFill>
        <p:spPr>
          <a:xfrm>
            <a:off x="4365513" y="1524397"/>
            <a:ext cx="478118" cy="478118"/>
          </a:xfrm>
          <a:prstGeom prst="rect">
            <a:avLst/>
          </a:prstGeom>
        </p:spPr>
      </p:pic>
      <p:sp>
        <p:nvSpPr>
          <p:cNvPr id="3" name="Text 0"/>
          <p:cNvSpPr/>
          <p:nvPr/>
        </p:nvSpPr>
        <p:spPr>
          <a:xfrm>
            <a:off x="4281842" y="3756848"/>
            <a:ext cx="3576918" cy="666974"/>
          </a:xfrm>
          <a:prstGeom prst="rect">
            <a:avLst/>
          </a:prstGeom>
          <a:noFill/>
          <a:ln/>
        </p:spPr>
        <p:txBody>
          <a:bodyPr wrap="square" lIns="0" tIns="0" rIns="0" bIns="0" rtlCol="0" anchor="t">
            <a:noAutofit/>
          </a:bodyPr>
          <a:lstStyle/>
          <a:p>
            <a:pPr marL="0" indent="0" algn="l">
              <a:lnSpc>
                <a:spcPts val="1680"/>
              </a:lnSpc>
              <a:buNone/>
            </a:pPr>
            <a:r>
              <a:rPr lang="en-US" sz="4000" b="1" kern="0" spc="150" dirty="0">
                <a:solidFill>
                  <a:srgbClr val="9ED8BF"/>
                </a:solidFill>
                <a:latin typeface="DM Sans" pitchFamily="34" charset="0"/>
                <a:ea typeface="DM Sans" pitchFamily="34" charset="-122"/>
                <a:cs typeface="DM Sans" pitchFamily="34" charset="-120"/>
              </a:rPr>
              <a:t>THANK YOU</a:t>
            </a:r>
            <a:r>
              <a:rPr lang="zh-CN" altLang="en-US" sz="4000" b="1" kern="0" spc="150" dirty="0">
                <a:solidFill>
                  <a:srgbClr val="9ED8BF"/>
                </a:solidFill>
                <a:latin typeface="DM Sans" pitchFamily="34" charset="0"/>
                <a:ea typeface="DM Sans" pitchFamily="34" charset="-122"/>
                <a:cs typeface="DM Sans" pitchFamily="34" charset="-120"/>
              </a:rPr>
              <a:t>！</a:t>
            </a:r>
            <a:endParaRPr lang="en-US" sz="4000" dirty="0"/>
          </a:p>
        </p:txBody>
      </p:sp>
      <p:sp>
        <p:nvSpPr>
          <p:cNvPr id="4" name="Text 1"/>
          <p:cNvSpPr>
            <a:spLocks noGrp="1"/>
          </p:cNvSpPr>
          <p:nvPr>
            <p:ph type="title"/>
          </p:nvPr>
        </p:nvSpPr>
        <p:spPr>
          <a:xfrm>
            <a:off x="1103258" y="1522495"/>
            <a:ext cx="10515002" cy="960041"/>
          </a:xfrm>
          <a:prstGeom prst="rect">
            <a:avLst/>
          </a:prstGeom>
          <a:noFill/>
          <a:ln/>
        </p:spPr>
        <p:txBody>
          <a:bodyPr wrap="square" lIns="0" tIns="0" rIns="0" bIns="0" rtlCol="0" anchor="t">
            <a:normAutofit fontScale="90000"/>
          </a:bodyPr>
          <a:lstStyle/>
          <a:p>
            <a:r>
              <a:rPr lang="en-US" sz="4000" b="1" i="0" kern="0" spc="-25" dirty="0">
                <a:solidFill>
                  <a:srgbClr val="F5F2EA"/>
                </a:solidFill>
                <a:latin typeface="Newsreader" pitchFamily="18" charset="0"/>
                <a:ea typeface="Newsreader" pitchFamily="18" charset="-122"/>
                <a:cs typeface="Newsreader" pitchFamily="18" charset="-120"/>
              </a:rPr>
              <a:t>Learning Pulse</a:t>
            </a:r>
            <a:r>
              <a:rPr lang="zh-CN" altLang="en-US" sz="4000" b="1" i="0" kern="0" spc="-25" dirty="0">
                <a:solidFill>
                  <a:srgbClr val="F5F2EA"/>
                </a:solidFill>
                <a:latin typeface="Newsreader" pitchFamily="18" charset="0"/>
                <a:ea typeface="Newsreader" pitchFamily="18" charset="-122"/>
                <a:cs typeface="Newsreader" pitchFamily="18" charset="-120"/>
              </a:rPr>
              <a:t> </a:t>
            </a:r>
            <a:br>
              <a:rPr lang="en-US" altLang="zh-CN" sz="3200" b="0" i="0" kern="0" spc="-25" dirty="0">
                <a:solidFill>
                  <a:srgbClr val="F5F2EA"/>
                </a:solidFill>
                <a:latin typeface="Newsreader" pitchFamily="18" charset="0"/>
                <a:ea typeface="Newsreader" pitchFamily="18" charset="-122"/>
                <a:cs typeface="Newsreader" pitchFamily="18" charset="-120"/>
              </a:rPr>
            </a:br>
            <a:r>
              <a:rPr lang="zh-CN" altLang="en-US" kern="0" spc="-25" dirty="0">
                <a:solidFill>
                  <a:srgbClr val="F5F2EA"/>
                </a:solidFill>
                <a:latin typeface="Newsreader" pitchFamily="18" charset="0"/>
                <a:ea typeface="Newsreader" pitchFamily="18" charset="-122"/>
                <a:cs typeface="Newsreader" pitchFamily="18" charset="-120"/>
              </a:rPr>
              <a:t>  </a:t>
            </a:r>
            <a:r>
              <a:rPr lang="en-US" altLang="zh-CN" sz="3200" b="0" i="0" kern="0" spc="-25" dirty="0">
                <a:solidFill>
                  <a:srgbClr val="F5F2EA"/>
                </a:solidFill>
                <a:latin typeface="Newsreader" pitchFamily="18" charset="0"/>
                <a:ea typeface="Newsreader" pitchFamily="18" charset="-122"/>
                <a:cs typeface="Newsreader" pitchFamily="18" charset="-120"/>
              </a:rPr>
              <a:t>——</a:t>
            </a:r>
            <a:r>
              <a:rPr lang="zh-CN" altLang="en-US" sz="3200" b="0" i="0" kern="0" spc="-25" dirty="0">
                <a:solidFill>
                  <a:srgbClr val="F5F2EA"/>
                </a:solidFill>
                <a:latin typeface="Newsreader" pitchFamily="18" charset="0"/>
                <a:ea typeface="Newsreader" pitchFamily="18" charset="-122"/>
                <a:cs typeface="Newsreader" pitchFamily="18" charset="-120"/>
              </a:rPr>
              <a:t> </a:t>
            </a:r>
            <a:r>
              <a:rPr lang="en-US" dirty="0">
                <a:solidFill>
                  <a:srgbClr val="F9FEFF"/>
                </a:solidFill>
              </a:rPr>
              <a:t>Every learning insight drives a better teaching decision.</a:t>
            </a:r>
            <a:endParaRPr lang="en-US" sz="3200" dirty="0">
              <a:solidFill>
                <a:srgbClr val="F9FEFF"/>
              </a:solidFill>
            </a:endParaRPr>
          </a:p>
        </p:txBody>
      </p:sp>
      <p:sp>
        <p:nvSpPr>
          <p:cNvPr id="5" name="Text 2"/>
          <p:cNvSpPr/>
          <p:nvPr/>
        </p:nvSpPr>
        <p:spPr>
          <a:xfrm>
            <a:off x="5491181" y="4656227"/>
            <a:ext cx="1209638" cy="330200"/>
          </a:xfrm>
          <a:prstGeom prst="rect">
            <a:avLst/>
          </a:prstGeom>
          <a:noFill/>
          <a:ln/>
        </p:spPr>
        <p:txBody>
          <a:bodyPr wrap="square" lIns="0" tIns="0" rIns="0" bIns="0" rtlCol="0" anchor="t">
            <a:normAutofit fontScale="92500"/>
          </a:bodyPr>
          <a:lstStyle/>
          <a:p>
            <a:pPr marL="0" indent="0" algn="l">
              <a:lnSpc>
                <a:spcPts val="2400"/>
              </a:lnSpc>
              <a:buNone/>
            </a:pPr>
            <a:r>
              <a:rPr lang="en-US" sz="2800" i="1" dirty="0">
                <a:solidFill>
                  <a:srgbClr val="9ED8BF"/>
                </a:solidFill>
                <a:latin typeface="Newsreader" pitchFamily="18" charset="0"/>
                <a:ea typeface="Newsreader" pitchFamily="18" charset="-122"/>
                <a:cs typeface="Newsreader" pitchFamily="18" charset="-120"/>
              </a:rPr>
              <a:t>Q &amp; A</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APPENDIX</a:t>
            </a:r>
            <a:endParaRPr lang="en-US" sz="1200" dirty="0"/>
          </a:p>
        </p:txBody>
      </p:sp>
      <p:sp>
        <p:nvSpPr>
          <p:cNvPr id="3" name="Text 1"/>
          <p:cNvSpPr>
            <a:spLocks noGrp="1"/>
          </p:cNvSpPr>
          <p:nvPr>
            <p:ph type="title"/>
          </p:nvPr>
        </p:nvSpPr>
        <p:spPr>
          <a:xfrm>
            <a:off x="812800" y="10261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0" i="0" kern="0" spc="-25" dirty="0">
                <a:solidFill>
                  <a:srgbClr val="1B2420"/>
                </a:solidFill>
                <a:latin typeface="Newsreader" pitchFamily="18" charset="0"/>
                <a:ea typeface="Newsreader" pitchFamily="18" charset="-122"/>
                <a:cs typeface="Newsreader" pitchFamily="18" charset="-120"/>
              </a:rPr>
              <a:t>References</a:t>
            </a:r>
            <a:endParaRPr lang="en-US" sz="3200" dirty="0"/>
          </a:p>
        </p:txBody>
      </p:sp>
      <p:sp>
        <p:nvSpPr>
          <p:cNvPr id="4" name="Text 2"/>
          <p:cNvSpPr/>
          <p:nvPr/>
        </p:nvSpPr>
        <p:spPr>
          <a:xfrm>
            <a:off x="812800" y="1777901"/>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Learning Pulse repository</a:t>
            </a:r>
            <a:endParaRPr lang="en-US" sz="1200" dirty="0"/>
          </a:p>
        </p:txBody>
      </p:sp>
      <p:sp>
        <p:nvSpPr>
          <p:cNvPr id="5" name="Text 3"/>
          <p:cNvSpPr/>
          <p:nvPr/>
        </p:nvSpPr>
        <p:spPr>
          <a:xfrm>
            <a:off x="812800" y="2003921"/>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3">
                  <a:extLst>
                    <a:ext uri="{A12FA001-AC4F-418D-AE19-62706E023703}">
                      <ahyp:hlinkClr xmlns:ahyp="http://schemas.microsoft.com/office/drawing/2018/hyperlinkcolor" val="tx"/>
                    </a:ext>
                  </a:extLst>
                </a:hlinkClick>
              </a:rPr>
              <a:t>github.com/peterbucci/ai-teaching-platform</a:t>
            </a:r>
            <a:endParaRPr lang="en-US" sz="1200" dirty="0"/>
          </a:p>
        </p:txBody>
      </p:sp>
      <p:sp>
        <p:nvSpPr>
          <p:cNvPr id="6" name="Text 4"/>
          <p:cNvSpPr/>
          <p:nvPr/>
        </p:nvSpPr>
        <p:spPr>
          <a:xfrm>
            <a:off x="812800" y="2356941"/>
            <a:ext cx="65405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National Student Clearinghouse Research Center, Final Fall Enrollment Trends (January 2026)</a:t>
            </a:r>
            <a:endParaRPr lang="en-US" sz="1200" dirty="0"/>
          </a:p>
        </p:txBody>
      </p:sp>
      <p:sp>
        <p:nvSpPr>
          <p:cNvPr id="7" name="Text 5"/>
          <p:cNvSpPr/>
          <p:nvPr/>
        </p:nvSpPr>
        <p:spPr>
          <a:xfrm>
            <a:off x="812800" y="2584675"/>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4">
                  <a:extLst>
                    <a:ext uri="{A12FA001-AC4F-418D-AE19-62706E023703}">
                      <ahyp:hlinkClr xmlns:ahyp="http://schemas.microsoft.com/office/drawing/2018/hyperlinkcolor" val="tx"/>
                    </a:ext>
                  </a:extLst>
                </a:hlinkClick>
              </a:rPr>
              <a:t>nscresearchcenter.org/final-fall-enrollment-trends</a:t>
            </a:r>
            <a:endParaRPr lang="en-US" sz="1200" dirty="0"/>
          </a:p>
        </p:txBody>
      </p:sp>
      <p:sp>
        <p:nvSpPr>
          <p:cNvPr id="8" name="Text 6"/>
          <p:cNvSpPr/>
          <p:nvPr/>
        </p:nvSpPr>
        <p:spPr>
          <a:xfrm>
            <a:off x="812800" y="2910582"/>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Canvas by Instructure</a:t>
            </a:r>
            <a:endParaRPr lang="en-US" sz="1200" dirty="0"/>
          </a:p>
        </p:txBody>
      </p:sp>
      <p:sp>
        <p:nvSpPr>
          <p:cNvPr id="9" name="Text 7"/>
          <p:cNvSpPr/>
          <p:nvPr/>
        </p:nvSpPr>
        <p:spPr>
          <a:xfrm>
            <a:off x="812800" y="3136603"/>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5">
                  <a:extLst>
                    <a:ext uri="{A12FA001-AC4F-418D-AE19-62706E023703}">
                      <ahyp:hlinkClr xmlns:ahyp="http://schemas.microsoft.com/office/drawing/2018/hyperlinkcolor" val="tx"/>
                    </a:ext>
                  </a:extLst>
                </a:hlinkClick>
              </a:rPr>
              <a:t>instructure.com/canvas</a:t>
            </a:r>
            <a:endParaRPr lang="en-US" sz="1200" dirty="0"/>
          </a:p>
        </p:txBody>
      </p:sp>
      <p:sp>
        <p:nvSpPr>
          <p:cNvPr id="10" name="Text 8"/>
          <p:cNvSpPr/>
          <p:nvPr/>
        </p:nvSpPr>
        <p:spPr>
          <a:xfrm>
            <a:off x="812800" y="3489623"/>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Khanmigo, Khan Academy</a:t>
            </a:r>
            <a:endParaRPr lang="en-US" sz="1200" dirty="0"/>
          </a:p>
        </p:txBody>
      </p:sp>
      <p:sp>
        <p:nvSpPr>
          <p:cNvPr id="11" name="Text 9"/>
          <p:cNvSpPr/>
          <p:nvPr/>
        </p:nvSpPr>
        <p:spPr>
          <a:xfrm>
            <a:off x="812800" y="3715643"/>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6">
                  <a:extLst>
                    <a:ext uri="{A12FA001-AC4F-418D-AE19-62706E023703}">
                      <ahyp:hlinkClr xmlns:ahyp="http://schemas.microsoft.com/office/drawing/2018/hyperlinkcolor" val="tx"/>
                    </a:ext>
                  </a:extLst>
                </a:hlinkClick>
              </a:rPr>
              <a:t>khanmigo.ai</a:t>
            </a:r>
            <a:endParaRPr lang="en-US" sz="1200" dirty="0"/>
          </a:p>
        </p:txBody>
      </p:sp>
      <p:sp>
        <p:nvSpPr>
          <p:cNvPr id="12" name="Text 10"/>
          <p:cNvSpPr/>
          <p:nvPr/>
        </p:nvSpPr>
        <p:spPr>
          <a:xfrm>
            <a:off x="812800" y="4068664"/>
            <a:ext cx="65405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Wayground, Reports on Wayground</a:t>
            </a:r>
            <a:endParaRPr lang="en-US" sz="1200" dirty="0"/>
          </a:p>
        </p:txBody>
      </p:sp>
      <p:sp>
        <p:nvSpPr>
          <p:cNvPr id="13" name="Text 11"/>
          <p:cNvSpPr/>
          <p:nvPr/>
        </p:nvSpPr>
        <p:spPr>
          <a:xfrm>
            <a:off x="812800" y="4294684"/>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7">
                  <a:extLst>
                    <a:ext uri="{A12FA001-AC4F-418D-AE19-62706E023703}">
                      <ahyp:hlinkClr xmlns:ahyp="http://schemas.microsoft.com/office/drawing/2018/hyperlinkcolor" val="tx"/>
                    </a:ext>
                  </a:extLst>
                </a:hlinkClick>
              </a:rPr>
              <a:t>help.wayground.com/support/solutions/articles/158000404058</a:t>
            </a:r>
            <a:endParaRPr lang="en-US" sz="1200" dirty="0"/>
          </a:p>
        </p:txBody>
      </p:sp>
      <p:sp>
        <p:nvSpPr>
          <p:cNvPr id="14" name="Text 12"/>
          <p:cNvSpPr/>
          <p:nvPr/>
        </p:nvSpPr>
        <p:spPr>
          <a:xfrm>
            <a:off x="812800" y="4647704"/>
            <a:ext cx="6540500"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Peterson and Davie, Computer Networks: A Systems Approach, §1.5.1 “Bandwidth and Latency,” CC BY 4.0</a:t>
            </a:r>
            <a:endParaRPr lang="en-US" sz="1200" dirty="0"/>
          </a:p>
        </p:txBody>
      </p:sp>
      <p:sp>
        <p:nvSpPr>
          <p:cNvPr id="15" name="Text 13"/>
          <p:cNvSpPr/>
          <p:nvPr/>
        </p:nvSpPr>
        <p:spPr>
          <a:xfrm>
            <a:off x="812800" y="5087045"/>
            <a:ext cx="6540500" cy="238720"/>
          </a:xfrm>
          <a:prstGeom prst="rect">
            <a:avLst/>
          </a:prstGeom>
          <a:noFill/>
          <a:ln/>
        </p:spPr>
        <p:txBody>
          <a:bodyPr wrap="square" lIns="0" tIns="0" rIns="0" bIns="0" rtlCol="0" anchor="t">
            <a:normAutofit/>
          </a:bodyPr>
          <a:lstStyle/>
          <a:p>
            <a:pPr marL="0" indent="0" algn="l">
              <a:lnSpc>
                <a:spcPts val="1680"/>
              </a:lnSpc>
              <a:buNone/>
            </a:pPr>
            <a:r>
              <a:rPr lang="en-US" sz="1200" u="sng" dirty="0">
                <a:solidFill>
                  <a:srgbClr val="23705C"/>
                </a:solidFill>
                <a:latin typeface="DM Sans" pitchFamily="34" charset="0"/>
                <a:ea typeface="DM Sans" pitchFamily="34" charset="-122"/>
                <a:cs typeface="DM Sans" pitchFamily="34" charset="-120"/>
                <a:hlinkClick r:id="rId8">
                  <a:extLst>
                    <a:ext uri="{A12FA001-AC4F-418D-AE19-62706E023703}">
                      <ahyp:hlinkClr xmlns:ahyp="http://schemas.microsoft.com/office/drawing/2018/hyperlinkcolor" val="tx"/>
                    </a:ext>
                  </a:extLst>
                </a:hlinkClick>
              </a:rPr>
              <a:t>github.com/SystemsApproach/book</a:t>
            </a:r>
            <a:r>
              <a:rPr lang="en-US" sz="1200" dirty="0">
                <a:solidFill>
                  <a:srgbClr val="23705C"/>
                </a:solidFill>
                <a:latin typeface="DM Sans" pitchFamily="34" charset="0"/>
                <a:ea typeface="DM Sans" pitchFamily="34" charset="-122"/>
                <a:cs typeface="DM Sans" pitchFamily="34" charset="-120"/>
              </a:rPr>
              <a:t> · </a:t>
            </a:r>
            <a:r>
              <a:rPr lang="en-US" sz="1200" u="sng" dirty="0">
                <a:solidFill>
                  <a:srgbClr val="23705C"/>
                </a:solidFill>
                <a:latin typeface="DM Sans" pitchFamily="34" charset="0"/>
                <a:ea typeface="DM Sans" pitchFamily="34" charset="-122"/>
                <a:cs typeface="DM Sans" pitchFamily="34" charset="-120"/>
                <a:hlinkClick r:id="rId9">
                  <a:extLst>
                    <a:ext uri="{A12FA001-AC4F-418D-AE19-62706E023703}">
                      <ahyp:hlinkClr xmlns:ahyp="http://schemas.microsoft.com/office/drawing/2018/hyperlinkcolor" val="tx"/>
                    </a:ext>
                  </a:extLst>
                </a:hlinkClick>
              </a:rPr>
              <a:t>creativecommons.org/licenses/by/4.0</a:t>
            </a:r>
            <a:endParaRPr lang="en-US" sz="1200" dirty="0"/>
          </a:p>
        </p:txBody>
      </p:sp>
      <p:sp>
        <p:nvSpPr>
          <p:cNvPr id="16" name="Shape 14"/>
          <p:cNvSpPr/>
          <p:nvPr/>
        </p:nvSpPr>
        <p:spPr>
          <a:xfrm>
            <a:off x="7569200" y="1777901"/>
            <a:ext cx="3810000" cy="4064099"/>
          </a:xfrm>
          <a:prstGeom prst="roundRect">
            <a:avLst>
              <a:gd name="adj" fmla="val 4000"/>
            </a:avLst>
          </a:prstGeom>
          <a:solidFill>
            <a:srgbClr val="DCEDE3"/>
          </a:solidFill>
          <a:ln/>
        </p:spPr>
        <p:txBody>
          <a:bodyPr/>
          <a:lstStyle/>
          <a:p>
            <a:endParaRPr lang="en-US"/>
          </a:p>
        </p:txBody>
      </p:sp>
      <p:sp>
        <p:nvSpPr>
          <p:cNvPr id="17" name="Text 15"/>
          <p:cNvSpPr/>
          <p:nvPr/>
        </p:nvSpPr>
        <p:spPr>
          <a:xfrm>
            <a:off x="7848600" y="2057301"/>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3705C"/>
                </a:solidFill>
                <a:latin typeface="DM Sans" pitchFamily="34" charset="0"/>
                <a:ea typeface="DM Sans" pitchFamily="34" charset="-122"/>
                <a:cs typeface="DM Sans" pitchFamily="34" charset="-120"/>
              </a:rPr>
              <a:t>BUILT WITH</a:t>
            </a:r>
            <a:endParaRPr lang="en-US" sz="1200" dirty="0"/>
          </a:p>
        </p:txBody>
      </p:sp>
      <p:sp>
        <p:nvSpPr>
          <p:cNvPr id="18" name="Text 16"/>
          <p:cNvSpPr/>
          <p:nvPr/>
        </p:nvSpPr>
        <p:spPr>
          <a:xfrm>
            <a:off x="7848600" y="2410321"/>
            <a:ext cx="3348736"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Frontend</a:t>
            </a:r>
            <a:r>
              <a:rPr lang="en-US" sz="1200" dirty="0">
                <a:solidFill>
                  <a:srgbClr val="1B2420"/>
                </a:solidFill>
                <a:latin typeface="DM Sans" pitchFamily="34" charset="0"/>
                <a:ea typeface="DM Sans" pitchFamily="34" charset="-122"/>
                <a:cs typeface="DM Sans" pitchFamily="34" charset="-120"/>
              </a:rPr>
              <a:t> · Next.js, React, TypeScript, Tailwind CSS</a:t>
            </a:r>
            <a:endParaRPr lang="en-US" sz="1200" dirty="0"/>
          </a:p>
        </p:txBody>
      </p:sp>
      <p:sp>
        <p:nvSpPr>
          <p:cNvPr id="19" name="Text 17"/>
          <p:cNvSpPr/>
          <p:nvPr/>
        </p:nvSpPr>
        <p:spPr>
          <a:xfrm>
            <a:off x="7848600" y="2976662"/>
            <a:ext cx="3348736"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Backend and data</a:t>
            </a:r>
            <a:r>
              <a:rPr lang="en-US" sz="1200" dirty="0">
                <a:solidFill>
                  <a:srgbClr val="1B2420"/>
                </a:solidFill>
                <a:latin typeface="DM Sans" pitchFamily="34" charset="0"/>
                <a:ea typeface="DM Sans" pitchFamily="34" charset="-122"/>
                <a:cs typeface="DM Sans" pitchFamily="34" charset="-120"/>
              </a:rPr>
              <a:t> · Next.js server endpoints, Node.js, PostgreSQL, Docker Compose, Better Auth</a:t>
            </a:r>
            <a:endParaRPr lang="en-US" sz="1200" dirty="0"/>
          </a:p>
        </p:txBody>
      </p:sp>
      <p:sp>
        <p:nvSpPr>
          <p:cNvPr id="20" name="Text 18"/>
          <p:cNvSpPr/>
          <p:nvPr/>
        </p:nvSpPr>
        <p:spPr>
          <a:xfrm>
            <a:off x="7848600" y="3756323"/>
            <a:ext cx="3348736"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AI and evaluation</a:t>
            </a:r>
            <a:r>
              <a:rPr lang="en-US" sz="1200" dirty="0">
                <a:solidFill>
                  <a:srgbClr val="1B2420"/>
                </a:solidFill>
                <a:latin typeface="DM Sans" pitchFamily="34" charset="0"/>
                <a:ea typeface="DM Sans" pitchFamily="34" charset="-122"/>
                <a:cs typeface="DM Sans" pitchFamily="34" charset="-120"/>
              </a:rPr>
              <a:t> · OpenAI API, structured outputs, source-grounded retrieval, server-side action validation, Zod schemas</a:t>
            </a:r>
            <a:endParaRPr lang="en-US" sz="1200" dirty="0"/>
          </a:p>
        </p:txBody>
      </p:sp>
      <p:sp>
        <p:nvSpPr>
          <p:cNvPr id="21" name="Text 19"/>
          <p:cNvSpPr/>
          <p:nvPr/>
        </p:nvSpPr>
        <p:spPr>
          <a:xfrm>
            <a:off x="7848600" y="4535984"/>
            <a:ext cx="3348736" cy="87868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B2420"/>
                </a:solidFill>
                <a:latin typeface="DM Sans" pitchFamily="34" charset="0"/>
                <a:ea typeface="DM Sans" pitchFamily="34" charset="-122"/>
                <a:cs typeface="DM Sans" pitchFamily="34" charset="-120"/>
              </a:rPr>
              <a:t>Quality</a:t>
            </a:r>
            <a:r>
              <a:rPr lang="en-US" sz="1200" dirty="0">
                <a:solidFill>
                  <a:srgbClr val="1B2420"/>
                </a:solidFill>
                <a:latin typeface="DM Sans" pitchFamily="34" charset="0"/>
                <a:ea typeface="DM Sans" pitchFamily="34" charset="-122"/>
                <a:cs typeface="DM Sans" pitchFamily="34" charset="-120"/>
              </a:rPr>
              <a:t> · GitHub Actions, TypeScript and deterministic tests, browser integration tests, authentication, data-integrity and recovery tests</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65"/>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theme/theme1.xml><?xml version="1.0" encoding="utf-8"?>
<a:theme xmlns:a="http://schemas.openxmlformats.org/drawingml/2006/main" name="Learning Pulse — 7-minute pitch">
  <a:themeElements>
    <a:clrScheme name="Learning Pulse — 7-minute pitch">
      <a:dk1>
        <a:srgbClr val="1B2420"/>
      </a:dk1>
      <a:lt1>
        <a:srgbClr val="F5F2EA"/>
      </a:lt1>
      <a:dk2>
        <a:srgbClr val="525853"/>
      </a:dk2>
      <a:lt2>
        <a:srgbClr val="DFDDD6"/>
      </a:lt2>
      <a:accent1>
        <a:srgbClr val="23705C"/>
      </a:accent1>
      <a:accent2>
        <a:srgbClr val="9ED8BF"/>
      </a:accent2>
      <a:accent3>
        <a:srgbClr val="1E4A3E"/>
      </a:accent3>
      <a:accent4>
        <a:srgbClr val="F3E3C3"/>
      </a:accent4>
      <a:accent5>
        <a:srgbClr val="8A5A0B"/>
      </a:accent5>
      <a:accent6>
        <a:srgbClr val="4B5853"/>
      </a:accent6>
      <a:hlink>
        <a:srgbClr val="0563C1"/>
      </a:hlink>
      <a:folHlink>
        <a:srgbClr val="954F72"/>
      </a:folHlink>
    </a:clrScheme>
    <a:fontScheme name="Learning Pulse — 7-minute pitch">
      <a:majorFont>
        <a:latin typeface="Newsread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TotalTime>
  <Words>2351</Words>
  <Application>Microsoft Macintosh PowerPoint</Application>
  <PresentationFormat>Widescreen</PresentationFormat>
  <Paragraphs>240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Newsreader</vt:lpstr>
      <vt:lpstr>DM Sans</vt:lpstr>
      <vt:lpstr>Arial</vt:lpstr>
      <vt:lpstr>Learning Pulse — 7-minute pitch</vt:lpstr>
      <vt:lpstr>Learning Pulse An AI-Agent-Driven Adaptive Teaching and Learning System</vt:lpstr>
      <vt:lpstr>Sam’s confusion stays hidden until the exam：</vt:lpstr>
      <vt:lpstr>Today’s tools each see part of the picture</vt:lpstr>
      <vt:lpstr>Empowering Educators and Students at Scale</vt:lpstr>
      <vt:lpstr>Empowering Educators and Students at Scale</vt:lpstr>
      <vt:lpstr>The teacher sets the source of truth</vt:lpstr>
      <vt:lpstr>Sam works through the question with a tutor</vt:lpstr>
      <vt:lpstr>Inside the tutor: propose, check, act, record</vt:lpstr>
      <vt:lpstr>The professor sees how students reasoned</vt:lpstr>
      <vt:lpstr>The professor sees how students reasoned</vt:lpstr>
      <vt:lpstr>Responsible by design, honest about limits</vt:lpstr>
      <vt:lpstr>From one lesson to a whole course</vt:lpstr>
      <vt:lpstr>Learning Pulse    —— Every learning insight drives a better teaching decision.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Pulse — 7-minute pitch</dc:title>
  <dc:subject/>
  <dc:creator>Peter Bucci</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dc:description>
  <cp:lastModifiedBy>Shen, Xuyang</cp:lastModifiedBy>
  <cp:revision>7</cp:revision>
  <dcterms:created xsi:type="dcterms:W3CDTF">2026-10-25T22:17:13Z</dcterms:created>
  <dcterms:modified xsi:type="dcterms:W3CDTF">2026-10-26T03:15:33Z</dcterms:modified>
</cp:coreProperties>
</file>